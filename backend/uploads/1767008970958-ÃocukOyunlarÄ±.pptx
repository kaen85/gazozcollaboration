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89" d="100"/>
          <a:sy n="89" d="100"/>
        </p:scale>
        <p:origin x="37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113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966331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220737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9CEFD2B2-D63C-4665-8699-F0F6D7AD8F92}" type="datetimeFigureOut">
              <a:rPr lang="tr-TR" smtClean="0"/>
              <a:t>16.12.2025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2004070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9CEFD2B2-D63C-4665-8699-F0F6D7AD8F92}" type="datetimeFigureOut">
              <a:rPr lang="tr-TR" smtClean="0"/>
              <a:t>16.12.2025</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1825306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9CEFD2B2-D63C-4665-8699-F0F6D7AD8F92}" type="datetimeFigureOut">
              <a:rPr lang="tr-TR" smtClean="0"/>
              <a:t>16.12.2025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40278129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EFD2B2-D63C-4665-8699-F0F6D7AD8F92}" type="datetimeFigureOut">
              <a:rPr lang="tr-TR" smtClean="0"/>
              <a:t>16.12.2025</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4228667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CEFD2B2-D63C-4665-8699-F0F6D7AD8F92}" type="datetimeFigureOut">
              <a:rPr lang="tr-TR" smtClean="0"/>
              <a:t>16.12.2025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38349420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9CEFD2B2-D63C-4665-8699-F0F6D7AD8F92}" type="datetimeFigureOut">
              <a:rPr lang="tr-TR" smtClean="0"/>
              <a:t>16.12.2025</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27489888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9CEFD2B2-D63C-4665-8699-F0F6D7AD8F92}" type="datetimeFigureOut">
              <a:rPr lang="tr-TR" smtClean="0"/>
              <a:t>16.12.2025</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293868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39846359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41800146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3235451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2157752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3048095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23233025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9CEFD2B2-D63C-4665-8699-F0F6D7AD8F92}" type="datetimeFigureOut">
              <a:rPr lang="tr-TR" smtClean="0"/>
              <a:t>16.12.2025</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633CC9D-6AFE-43FD-A277-3AF7ADD4DC28}" type="slidenum">
              <a:rPr lang="tr-TR" smtClean="0"/>
              <a:t>‹#›</a:t>
            </a:fld>
            <a:endParaRPr lang="tr-TR"/>
          </a:p>
        </p:txBody>
      </p:sp>
    </p:spTree>
    <p:extLst>
      <p:ext uri="{BB962C8B-B14F-4D97-AF65-F5344CB8AC3E}">
        <p14:creationId xmlns:p14="http://schemas.microsoft.com/office/powerpoint/2010/main" val="13167270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CEFD2B2-D63C-4665-8699-F0F6D7AD8F92}" type="datetimeFigureOut">
              <a:rPr lang="tr-TR" smtClean="0"/>
              <a:t>16.12.2025</a:t>
            </a:fld>
            <a:endParaRPr lang="tr-TR"/>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tr-TR"/>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633CC9D-6AFE-43FD-A277-3AF7ADD4DC28}" type="slidenum">
              <a:rPr lang="tr-TR" smtClean="0"/>
              <a:t>‹#›</a:t>
            </a:fld>
            <a:endParaRPr lang="tr-TR"/>
          </a:p>
        </p:txBody>
      </p:sp>
    </p:spTree>
    <p:extLst>
      <p:ext uri="{BB962C8B-B14F-4D97-AF65-F5344CB8AC3E}">
        <p14:creationId xmlns:p14="http://schemas.microsoft.com/office/powerpoint/2010/main" val="1290678777"/>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7.svg"/><Relationship Id="rId7" Type="http://schemas.openxmlformats.org/officeDocument/2006/relationships/image" Target="../media/image11.svg"/><Relationship Id="rId12"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svg"/></Relationships>
</file>

<file path=ppt/slides/_rels/slide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AD030-87CE-ECA6-5BE5-DEB55335F298}"/>
              </a:ext>
            </a:extLst>
          </p:cNvPr>
          <p:cNvSpPr>
            <a:spLocks noGrp="1"/>
          </p:cNvSpPr>
          <p:nvPr>
            <p:ph type="ctrTitle"/>
          </p:nvPr>
        </p:nvSpPr>
        <p:spPr/>
        <p:txBody>
          <a:bodyPr/>
          <a:lstStyle/>
          <a:p>
            <a:endParaRPr lang="tr-TR" dirty="0"/>
          </a:p>
        </p:txBody>
      </p:sp>
      <p:sp>
        <p:nvSpPr>
          <p:cNvPr id="3" name="Subtitle 2">
            <a:extLst>
              <a:ext uri="{FF2B5EF4-FFF2-40B4-BE49-F238E27FC236}">
                <a16:creationId xmlns:a16="http://schemas.microsoft.com/office/drawing/2014/main" id="{AC376D9E-5D09-6521-9F39-D33F59D350EB}"/>
              </a:ext>
            </a:extLst>
          </p:cNvPr>
          <p:cNvSpPr>
            <a:spLocks noGrp="1"/>
          </p:cNvSpPr>
          <p:nvPr>
            <p:ph type="subTitle" idx="1"/>
          </p:nvPr>
        </p:nvSpPr>
        <p:spPr/>
        <p:txBody>
          <a:bodyPr/>
          <a:lstStyle/>
          <a:p>
            <a:endParaRPr lang="tr-TR"/>
          </a:p>
        </p:txBody>
      </p:sp>
    </p:spTree>
    <p:extLst>
      <p:ext uri="{BB962C8B-B14F-4D97-AF65-F5344CB8AC3E}">
        <p14:creationId xmlns:p14="http://schemas.microsoft.com/office/powerpoint/2010/main" val="903362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F014D-3CE3-9069-B971-64CED648D694}"/>
              </a:ext>
            </a:extLst>
          </p:cNvPr>
          <p:cNvSpPr>
            <a:spLocks noGrp="1"/>
          </p:cNvSpPr>
          <p:nvPr>
            <p:ph type="ctrTitle"/>
          </p:nvPr>
        </p:nvSpPr>
        <p:spPr/>
        <p:txBody>
          <a:bodyPr/>
          <a:lstStyle/>
          <a:p>
            <a:r>
              <a:rPr lang="tr-TR" dirty="0"/>
              <a:t>Nesillerdir Oynanan Oyun</a:t>
            </a:r>
          </a:p>
        </p:txBody>
      </p:sp>
      <p:sp>
        <p:nvSpPr>
          <p:cNvPr id="3" name="Subtitle 2">
            <a:extLst>
              <a:ext uri="{FF2B5EF4-FFF2-40B4-BE49-F238E27FC236}">
                <a16:creationId xmlns:a16="http://schemas.microsoft.com/office/drawing/2014/main" id="{370F17F0-99F2-82CE-8D73-828E4DE956F5}"/>
              </a:ext>
            </a:extLst>
          </p:cNvPr>
          <p:cNvSpPr>
            <a:spLocks noGrp="1"/>
          </p:cNvSpPr>
          <p:nvPr>
            <p:ph type="subTitle" idx="1"/>
          </p:nvPr>
        </p:nvSpPr>
        <p:spPr/>
        <p:txBody>
          <a:bodyPr/>
          <a:lstStyle/>
          <a:p>
            <a:r>
              <a:rPr lang="tr-TR" dirty="0"/>
              <a:t>Aşık Oyunu</a:t>
            </a:r>
          </a:p>
        </p:txBody>
      </p:sp>
    </p:spTree>
    <p:extLst>
      <p:ext uri="{BB962C8B-B14F-4D97-AF65-F5344CB8AC3E}">
        <p14:creationId xmlns:p14="http://schemas.microsoft.com/office/powerpoint/2010/main" val="12712786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9742B-9616-CC5F-210E-7FB7371A3B44}"/>
              </a:ext>
            </a:extLst>
          </p:cNvPr>
          <p:cNvSpPr>
            <a:spLocks noGrp="1"/>
          </p:cNvSpPr>
          <p:nvPr>
            <p:ph type="title"/>
          </p:nvPr>
        </p:nvSpPr>
        <p:spPr>
          <a:xfrm>
            <a:off x="923203" y="595013"/>
            <a:ext cx="8534400" cy="1507067"/>
          </a:xfrm>
        </p:spPr>
        <p:txBody>
          <a:bodyPr/>
          <a:lstStyle/>
          <a:p>
            <a:r>
              <a:rPr lang="tr-TR" dirty="0"/>
              <a:t>Aşık Oyunu</a:t>
            </a:r>
          </a:p>
        </p:txBody>
      </p:sp>
      <p:sp>
        <p:nvSpPr>
          <p:cNvPr id="3" name="Content Placeholder 2">
            <a:extLst>
              <a:ext uri="{FF2B5EF4-FFF2-40B4-BE49-F238E27FC236}">
                <a16:creationId xmlns:a16="http://schemas.microsoft.com/office/drawing/2014/main" id="{5546EF70-EDEE-85EE-6C80-966A657D3A0C}"/>
              </a:ext>
            </a:extLst>
          </p:cNvPr>
          <p:cNvSpPr>
            <a:spLocks noGrp="1"/>
          </p:cNvSpPr>
          <p:nvPr>
            <p:ph idx="1"/>
          </p:nvPr>
        </p:nvSpPr>
        <p:spPr>
          <a:xfrm>
            <a:off x="838200" y="2202391"/>
            <a:ext cx="10515600" cy="901672"/>
          </a:xfrm>
        </p:spPr>
        <p:txBody>
          <a:bodyPr/>
          <a:lstStyle/>
          <a:p>
            <a:r>
              <a:rPr lang="tr-TR" dirty="0"/>
              <a:t>Büyüklerimle konuştuğumda en ilgimi çeken oyun aşık oyunu oldu. Bu oyunun nasıl oynandığından bahsedeceğim.</a:t>
            </a:r>
          </a:p>
          <a:p>
            <a:endParaRPr lang="tr-TR" dirty="0"/>
          </a:p>
        </p:txBody>
      </p:sp>
      <p:sp>
        <p:nvSpPr>
          <p:cNvPr id="4" name="TextBox 3">
            <a:extLst>
              <a:ext uri="{FF2B5EF4-FFF2-40B4-BE49-F238E27FC236}">
                <a16:creationId xmlns:a16="http://schemas.microsoft.com/office/drawing/2014/main" id="{7DC8186B-52D1-F0EC-8DED-758B6542CDC7}"/>
              </a:ext>
            </a:extLst>
          </p:cNvPr>
          <p:cNvSpPr txBox="1"/>
          <p:nvPr/>
        </p:nvSpPr>
        <p:spPr>
          <a:xfrm>
            <a:off x="838200" y="3204375"/>
            <a:ext cx="10515600" cy="2585323"/>
          </a:xfrm>
          <a:prstGeom prst="rect">
            <a:avLst/>
          </a:prstGeom>
          <a:noFill/>
        </p:spPr>
        <p:txBody>
          <a:bodyPr wrap="square" rtlCol="0">
            <a:spAutoFit/>
          </a:bodyPr>
          <a:lstStyle/>
          <a:p>
            <a:r>
              <a:rPr lang="tr-TR" dirty="0"/>
              <a:t>Kaç Kişiyle Oynanır?</a:t>
            </a:r>
          </a:p>
          <a:p>
            <a:pPr marL="285750" indent="-285750">
              <a:buFont typeface="Arial" panose="020B0604020202020204" pitchFamily="34" charset="0"/>
              <a:buChar char="•"/>
            </a:pPr>
            <a:r>
              <a:rPr lang="tr-TR" dirty="0"/>
              <a:t>En az 2 kişiyle genellikle de 6 kişiyle oynanır.</a:t>
            </a:r>
          </a:p>
          <a:p>
            <a:endParaRPr lang="tr-TR" dirty="0"/>
          </a:p>
          <a:p>
            <a:r>
              <a:rPr lang="tr-TR" dirty="0"/>
              <a:t>Nasıl Oynanır?</a:t>
            </a:r>
          </a:p>
          <a:p>
            <a:pPr marL="285750" indent="-285750">
              <a:buFont typeface="Arial" panose="020B0604020202020204" pitchFamily="34" charset="0"/>
              <a:buChar char="•"/>
            </a:pPr>
            <a:r>
              <a:rPr lang="tr-TR" dirty="0"/>
              <a:t>Koyunların ve keçilerin arka bacaklarında bulunan dört yüzlü kemikle oynan bir oyun. Yöreden yöreye oynanış biçimi değişebilir. Ben bugün en çok oynanan oynanış biçimlerini anlatacağım. Her oyuncunun birer aşık kemiği bulunur.  Kemiğin dört yüzü vardır: Düz(Tok), Çukur, Yan(Yassı), Dik. Oyuncular sırayla aşıklarını yere atarlar. Aşığın düştüğü yüz, oyuncun hamle hakkını ve gücünü belirler.</a:t>
            </a:r>
          </a:p>
          <a:p>
            <a:endParaRPr lang="tr-TR" dirty="0"/>
          </a:p>
        </p:txBody>
      </p:sp>
    </p:spTree>
    <p:extLst>
      <p:ext uri="{BB962C8B-B14F-4D97-AF65-F5344CB8AC3E}">
        <p14:creationId xmlns:p14="http://schemas.microsoft.com/office/powerpoint/2010/main" val="14687214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C872DDD-E129-8FCE-B4C0-C415696C1095}"/>
              </a:ext>
            </a:extLst>
          </p:cNvPr>
          <p:cNvSpPr txBox="1"/>
          <p:nvPr/>
        </p:nvSpPr>
        <p:spPr>
          <a:xfrm>
            <a:off x="4390445" y="3136612"/>
            <a:ext cx="3411110" cy="584775"/>
          </a:xfrm>
          <a:prstGeom prst="rect">
            <a:avLst/>
          </a:prstGeom>
          <a:noFill/>
        </p:spPr>
        <p:txBody>
          <a:bodyPr wrap="square" rtlCol="0">
            <a:spAutoFit/>
          </a:bodyPr>
          <a:lstStyle/>
          <a:p>
            <a:pPr algn="ctr"/>
            <a:r>
              <a:rPr lang="tr-TR" sz="3200" dirty="0"/>
              <a:t>Aşık Oyunu</a:t>
            </a:r>
          </a:p>
        </p:txBody>
      </p:sp>
      <p:cxnSp>
        <p:nvCxnSpPr>
          <p:cNvPr id="4" name="Straight Arrow Connector 3">
            <a:extLst>
              <a:ext uri="{FF2B5EF4-FFF2-40B4-BE49-F238E27FC236}">
                <a16:creationId xmlns:a16="http://schemas.microsoft.com/office/drawing/2014/main" id="{8CD81A85-12AC-03EA-658E-162E751348E9}"/>
              </a:ext>
            </a:extLst>
          </p:cNvPr>
          <p:cNvCxnSpPr>
            <a:cxnSpLocks/>
          </p:cNvCxnSpPr>
          <p:nvPr/>
        </p:nvCxnSpPr>
        <p:spPr>
          <a:xfrm flipH="1" flipV="1">
            <a:off x="2573116" y="2169410"/>
            <a:ext cx="1817329" cy="9672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8" name="Picture 7">
            <a:extLst>
              <a:ext uri="{FF2B5EF4-FFF2-40B4-BE49-F238E27FC236}">
                <a16:creationId xmlns:a16="http://schemas.microsoft.com/office/drawing/2014/main" id="{7E9D5C1C-E056-E3B3-F384-35D5CD40E628}"/>
              </a:ext>
            </a:extLst>
          </p:cNvPr>
          <p:cNvPicPr>
            <a:picLocks noChangeAspect="1"/>
          </p:cNvPicPr>
          <p:nvPr/>
        </p:nvPicPr>
        <p:blipFill rotWithShape="1">
          <a:blip r:embed="rId2">
            <a:extLst>
              <a:ext uri="{28A0092B-C50C-407E-A947-70E740481C1C}">
                <a14:useLocalDpi xmlns:a14="http://schemas.microsoft.com/office/drawing/2010/main" val="0"/>
              </a:ext>
            </a:extLst>
          </a:blip>
          <a:srcRect l="7845" r="7845"/>
          <a:stretch/>
        </p:blipFill>
        <p:spPr>
          <a:xfrm>
            <a:off x="329738" y="10101"/>
            <a:ext cx="2535382" cy="2169410"/>
          </a:xfrm>
          <a:prstGeom prst="ellipse">
            <a:avLst/>
          </a:prstGeom>
          <a:ln>
            <a:noFill/>
          </a:ln>
          <a:effectLst>
            <a:softEdge rad="112500"/>
          </a:effectLst>
        </p:spPr>
      </p:pic>
      <p:pic>
        <p:nvPicPr>
          <p:cNvPr id="12" name="Picture 11">
            <a:extLst>
              <a:ext uri="{FF2B5EF4-FFF2-40B4-BE49-F238E27FC236}">
                <a16:creationId xmlns:a16="http://schemas.microsoft.com/office/drawing/2014/main" id="{5BEC0DBA-AA3D-A666-0CBE-CA6CE3415D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70619" y="10101"/>
            <a:ext cx="2801972" cy="2169410"/>
          </a:xfrm>
          <a:prstGeom prst="ellipse">
            <a:avLst/>
          </a:prstGeom>
          <a:ln>
            <a:noFill/>
          </a:ln>
          <a:effectLst>
            <a:softEdge rad="112500"/>
          </a:effectLst>
        </p:spPr>
      </p:pic>
      <p:pic>
        <p:nvPicPr>
          <p:cNvPr id="14" name="Picture 13" descr="A bone with text on it&#10;&#10;AI-generated content may be incorrect.">
            <a:extLst>
              <a:ext uri="{FF2B5EF4-FFF2-40B4-BE49-F238E27FC236}">
                <a16:creationId xmlns:a16="http://schemas.microsoft.com/office/drawing/2014/main" id="{7ED8ADE4-0CBF-1EED-5501-E2A73A3C28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326880" y="4278773"/>
            <a:ext cx="2834120" cy="2265624"/>
          </a:xfrm>
          <a:prstGeom prst="ellipse">
            <a:avLst/>
          </a:prstGeom>
          <a:ln>
            <a:noFill/>
          </a:ln>
          <a:effectLst>
            <a:softEdge rad="112500"/>
          </a:effectLst>
        </p:spPr>
      </p:pic>
      <p:pic>
        <p:nvPicPr>
          <p:cNvPr id="16" name="Picture 15">
            <a:extLst>
              <a:ext uri="{FF2B5EF4-FFF2-40B4-BE49-F238E27FC236}">
                <a16:creationId xmlns:a16="http://schemas.microsoft.com/office/drawing/2014/main" id="{5532478E-7E99-C12C-4FA8-1F9A3DA05E2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4855" y="4021013"/>
            <a:ext cx="2618509" cy="2275779"/>
          </a:xfrm>
          <a:prstGeom prst="ellipse">
            <a:avLst/>
          </a:prstGeom>
          <a:ln>
            <a:noFill/>
          </a:ln>
          <a:effectLst>
            <a:softEdge rad="112500"/>
          </a:effectLst>
        </p:spPr>
      </p:pic>
      <p:cxnSp>
        <p:nvCxnSpPr>
          <p:cNvPr id="18" name="Straight Arrow Connector 17">
            <a:extLst>
              <a:ext uri="{FF2B5EF4-FFF2-40B4-BE49-F238E27FC236}">
                <a16:creationId xmlns:a16="http://schemas.microsoft.com/office/drawing/2014/main" id="{FF8E3ECD-4D3D-5DCC-90F0-C5F9F4BF54A4}"/>
              </a:ext>
            </a:extLst>
          </p:cNvPr>
          <p:cNvCxnSpPr>
            <a:cxnSpLocks/>
          </p:cNvCxnSpPr>
          <p:nvPr/>
        </p:nvCxnSpPr>
        <p:spPr>
          <a:xfrm flipH="1">
            <a:off x="2926728" y="3721387"/>
            <a:ext cx="1463717" cy="111477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E83A5F02-F5D1-AAC0-D3C2-5D1D0D53AF5E}"/>
              </a:ext>
            </a:extLst>
          </p:cNvPr>
          <p:cNvCxnSpPr/>
          <p:nvPr/>
        </p:nvCxnSpPr>
        <p:spPr>
          <a:xfrm flipV="1">
            <a:off x="7305040" y="1849120"/>
            <a:ext cx="2021840" cy="101067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03DED5B6-F9DA-8103-D7FD-23AB8A8D5BDE}"/>
              </a:ext>
            </a:extLst>
          </p:cNvPr>
          <p:cNvCxnSpPr>
            <a:cxnSpLocks/>
          </p:cNvCxnSpPr>
          <p:nvPr/>
        </p:nvCxnSpPr>
        <p:spPr>
          <a:xfrm>
            <a:off x="7509551" y="4018530"/>
            <a:ext cx="1613667" cy="105223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Metin kutusu 5">
            <a:extLst>
              <a:ext uri="{FF2B5EF4-FFF2-40B4-BE49-F238E27FC236}">
                <a16:creationId xmlns:a16="http://schemas.microsoft.com/office/drawing/2014/main" id="{A30910AF-12A5-172A-0929-982391A22B86}"/>
              </a:ext>
            </a:extLst>
          </p:cNvPr>
          <p:cNvSpPr txBox="1"/>
          <p:nvPr/>
        </p:nvSpPr>
        <p:spPr>
          <a:xfrm>
            <a:off x="820882" y="2169410"/>
            <a:ext cx="1537854" cy="369332"/>
          </a:xfrm>
          <a:prstGeom prst="rect">
            <a:avLst/>
          </a:prstGeom>
          <a:noFill/>
        </p:spPr>
        <p:txBody>
          <a:bodyPr wrap="square" rtlCol="0">
            <a:spAutoFit/>
          </a:bodyPr>
          <a:lstStyle/>
          <a:p>
            <a:r>
              <a:rPr lang="tr-TR" dirty="0"/>
              <a:t>4 Puan</a:t>
            </a:r>
          </a:p>
        </p:txBody>
      </p:sp>
      <p:sp>
        <p:nvSpPr>
          <p:cNvPr id="7" name="Metin kutusu 6">
            <a:extLst>
              <a:ext uri="{FF2B5EF4-FFF2-40B4-BE49-F238E27FC236}">
                <a16:creationId xmlns:a16="http://schemas.microsoft.com/office/drawing/2014/main" id="{67A6E761-187C-5501-116C-7D81E65B88BF}"/>
              </a:ext>
            </a:extLst>
          </p:cNvPr>
          <p:cNvSpPr txBox="1"/>
          <p:nvPr/>
        </p:nvSpPr>
        <p:spPr>
          <a:xfrm>
            <a:off x="9985664" y="1995055"/>
            <a:ext cx="1735281" cy="646331"/>
          </a:xfrm>
          <a:prstGeom prst="rect">
            <a:avLst/>
          </a:prstGeom>
          <a:noFill/>
        </p:spPr>
        <p:txBody>
          <a:bodyPr wrap="square" rtlCol="0">
            <a:spAutoFit/>
          </a:bodyPr>
          <a:lstStyle/>
          <a:p>
            <a:r>
              <a:rPr lang="tr-TR" dirty="0"/>
              <a:t>3 Puan</a:t>
            </a:r>
          </a:p>
          <a:p>
            <a:endParaRPr lang="tr-TR" dirty="0"/>
          </a:p>
        </p:txBody>
      </p:sp>
      <p:sp>
        <p:nvSpPr>
          <p:cNvPr id="9" name="Metin kutusu 8">
            <a:extLst>
              <a:ext uri="{FF2B5EF4-FFF2-40B4-BE49-F238E27FC236}">
                <a16:creationId xmlns:a16="http://schemas.microsoft.com/office/drawing/2014/main" id="{1C478680-5731-4400-279A-A275AB167F37}"/>
              </a:ext>
            </a:extLst>
          </p:cNvPr>
          <p:cNvSpPr txBox="1"/>
          <p:nvPr/>
        </p:nvSpPr>
        <p:spPr>
          <a:xfrm>
            <a:off x="9985664" y="6213764"/>
            <a:ext cx="1413163" cy="369332"/>
          </a:xfrm>
          <a:prstGeom prst="rect">
            <a:avLst/>
          </a:prstGeom>
          <a:noFill/>
        </p:spPr>
        <p:txBody>
          <a:bodyPr wrap="square" rtlCol="0">
            <a:spAutoFit/>
          </a:bodyPr>
          <a:lstStyle/>
          <a:p>
            <a:r>
              <a:rPr lang="tr-TR" dirty="0"/>
              <a:t>2 Puan</a:t>
            </a:r>
          </a:p>
        </p:txBody>
      </p:sp>
      <p:sp>
        <p:nvSpPr>
          <p:cNvPr id="10" name="Metin kutusu 9">
            <a:extLst>
              <a:ext uri="{FF2B5EF4-FFF2-40B4-BE49-F238E27FC236}">
                <a16:creationId xmlns:a16="http://schemas.microsoft.com/office/drawing/2014/main" id="{B0DF5DD4-605E-9FF2-4181-3F3EEE9515B3}"/>
              </a:ext>
            </a:extLst>
          </p:cNvPr>
          <p:cNvSpPr txBox="1"/>
          <p:nvPr/>
        </p:nvSpPr>
        <p:spPr>
          <a:xfrm>
            <a:off x="820882" y="5985164"/>
            <a:ext cx="1752234" cy="646331"/>
          </a:xfrm>
          <a:prstGeom prst="rect">
            <a:avLst/>
          </a:prstGeom>
          <a:noFill/>
        </p:spPr>
        <p:txBody>
          <a:bodyPr wrap="square" rtlCol="0">
            <a:spAutoFit/>
          </a:bodyPr>
          <a:lstStyle/>
          <a:p>
            <a:r>
              <a:rPr lang="tr-TR" dirty="0"/>
              <a:t>1 Puan</a:t>
            </a:r>
          </a:p>
          <a:p>
            <a:endParaRPr lang="tr-TR" dirty="0"/>
          </a:p>
        </p:txBody>
      </p:sp>
    </p:spTree>
    <p:extLst>
      <p:ext uri="{BB962C8B-B14F-4D97-AF65-F5344CB8AC3E}">
        <p14:creationId xmlns:p14="http://schemas.microsoft.com/office/powerpoint/2010/main" val="12992878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Resim Yer Tutucusu 5" descr="gökyüzü, kişi, şahıs, giyim, yer içeren bir resim&#10;&#10;Yapay zeka tarafından oluşturulan içerik yanlış olabilir.">
            <a:extLst>
              <a:ext uri="{FF2B5EF4-FFF2-40B4-BE49-F238E27FC236}">
                <a16:creationId xmlns:a16="http://schemas.microsoft.com/office/drawing/2014/main" id="{AD63F8EB-D4E4-8AAD-077D-AF372C97650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5426" r="25426"/>
          <a:stretch>
            <a:fillRect/>
          </a:stretch>
        </p:blipFill>
        <p:spPr/>
      </p:pic>
      <p:sp>
        <p:nvSpPr>
          <p:cNvPr id="4" name="Metin Yer Tutucusu 3">
            <a:extLst>
              <a:ext uri="{FF2B5EF4-FFF2-40B4-BE49-F238E27FC236}">
                <a16:creationId xmlns:a16="http://schemas.microsoft.com/office/drawing/2014/main" id="{85EE139D-D20A-192F-72D4-4F34241741D9}"/>
              </a:ext>
            </a:extLst>
          </p:cNvPr>
          <p:cNvSpPr>
            <a:spLocks noGrp="1"/>
          </p:cNvSpPr>
          <p:nvPr>
            <p:ph type="body" sz="half" idx="2"/>
          </p:nvPr>
        </p:nvSpPr>
        <p:spPr>
          <a:xfrm>
            <a:off x="4733203" y="2175933"/>
            <a:ext cx="6021388" cy="2048933"/>
          </a:xfrm>
        </p:spPr>
        <p:txBody>
          <a:bodyPr/>
          <a:lstStyle/>
          <a:p>
            <a:r>
              <a:rPr lang="tr-TR" dirty="0"/>
              <a:t>En bilinen versiyonuyla yere dizilmiş ya da ortaya konmuş aşıklar vardır. Oyuncu, kendi aşığı ile diğer aşıkları vurmaya çalışır. Vurup çizgi dışına çıkarabildiği her aşık onun olur. Oyun sonunda en son aşık toplayan kazanır.</a:t>
            </a:r>
          </a:p>
        </p:txBody>
      </p:sp>
    </p:spTree>
    <p:extLst>
      <p:ext uri="{BB962C8B-B14F-4D97-AF65-F5344CB8AC3E}">
        <p14:creationId xmlns:p14="http://schemas.microsoft.com/office/powerpoint/2010/main" val="4590407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A80CE65B-CCCB-9B47-D041-7F1936E08218}"/>
              </a:ext>
            </a:extLst>
          </p:cNvPr>
          <p:cNvSpPr>
            <a:spLocks noGrp="1"/>
          </p:cNvSpPr>
          <p:nvPr>
            <p:ph type="ctrTitle"/>
          </p:nvPr>
        </p:nvSpPr>
        <p:spPr/>
        <p:txBody>
          <a:bodyPr/>
          <a:lstStyle/>
          <a:p>
            <a:r>
              <a:rPr lang="tr-TR" dirty="0"/>
              <a:t>Farklı kültürden Geleneksel bir oyun</a:t>
            </a:r>
          </a:p>
        </p:txBody>
      </p:sp>
      <p:sp>
        <p:nvSpPr>
          <p:cNvPr id="6" name="Alt Başlık 5">
            <a:extLst>
              <a:ext uri="{FF2B5EF4-FFF2-40B4-BE49-F238E27FC236}">
                <a16:creationId xmlns:a16="http://schemas.microsoft.com/office/drawing/2014/main" id="{A6646856-21EC-6059-53A6-E597DF46B48B}"/>
              </a:ext>
            </a:extLst>
          </p:cNvPr>
          <p:cNvSpPr>
            <a:spLocks noGrp="1"/>
          </p:cNvSpPr>
          <p:nvPr>
            <p:ph type="subTitle" idx="1"/>
          </p:nvPr>
        </p:nvSpPr>
        <p:spPr/>
        <p:txBody>
          <a:bodyPr/>
          <a:lstStyle/>
          <a:p>
            <a:r>
              <a:rPr lang="tr-TR" dirty="0"/>
              <a:t>Letonya’dan « Adamam </a:t>
            </a:r>
            <a:r>
              <a:rPr lang="tr-TR" dirty="0" err="1"/>
              <a:t>Bija</a:t>
            </a:r>
            <a:r>
              <a:rPr lang="tr-TR" dirty="0"/>
              <a:t> </a:t>
            </a:r>
            <a:r>
              <a:rPr lang="tr-TR" dirty="0" err="1"/>
              <a:t>Septini</a:t>
            </a:r>
            <a:r>
              <a:rPr lang="tr-TR" dirty="0"/>
              <a:t> Deli » yani Adam’ın 7 oğlu vardı</a:t>
            </a:r>
          </a:p>
        </p:txBody>
      </p:sp>
    </p:spTree>
    <p:extLst>
      <p:ext uri="{BB962C8B-B14F-4D97-AF65-F5344CB8AC3E}">
        <p14:creationId xmlns:p14="http://schemas.microsoft.com/office/powerpoint/2010/main" val="275991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80F6F49-2ED9-F623-7584-43E14F1DEE78}"/>
              </a:ext>
            </a:extLst>
          </p:cNvPr>
          <p:cNvSpPr>
            <a:spLocks noGrp="1"/>
          </p:cNvSpPr>
          <p:nvPr>
            <p:ph idx="1"/>
          </p:nvPr>
        </p:nvSpPr>
        <p:spPr/>
        <p:txBody>
          <a:bodyPr/>
          <a:lstStyle/>
          <a:p>
            <a:r>
              <a:rPr lang="tr-TR" dirty="0"/>
              <a:t>Nasıl oynanır?</a:t>
            </a:r>
          </a:p>
          <a:p>
            <a:r>
              <a:rPr lang="tr-TR" dirty="0"/>
              <a:t>Bu oyun için en az 10 oyuncuya ihtiyaç vardır. 10 kişinin el ele tutuşup bir yuvarlak oluşturmaları gerekir. İçlerinden bir kişi seçilir ve bu yuvarlaktan dışarı çıkar. Diğer bütün oyuncular dönerek şu şarkıyı söylerler:  «Adamın ne şarkı söylemeyi, ne yemek yemeyi ne de bir şey yapmayı bilen yedi oğlu vardı». Şarkının sonunda dışarıdaki kişi çemberin içine birisini iter. İtilen kişinin yaptığı hareketleri diğer kişiler de taklit etmek zorundadırlar.</a:t>
            </a:r>
          </a:p>
        </p:txBody>
      </p:sp>
      <p:sp>
        <p:nvSpPr>
          <p:cNvPr id="4" name="Metin kutusu 3">
            <a:extLst>
              <a:ext uri="{FF2B5EF4-FFF2-40B4-BE49-F238E27FC236}">
                <a16:creationId xmlns:a16="http://schemas.microsoft.com/office/drawing/2014/main" id="{15565AEB-0DB0-7D5F-4738-6C5F0F24022B}"/>
              </a:ext>
            </a:extLst>
          </p:cNvPr>
          <p:cNvSpPr txBox="1"/>
          <p:nvPr/>
        </p:nvSpPr>
        <p:spPr>
          <a:xfrm>
            <a:off x="1111827" y="4540827"/>
            <a:ext cx="7710055" cy="1477328"/>
          </a:xfrm>
          <a:prstGeom prst="rect">
            <a:avLst/>
          </a:prstGeom>
          <a:noFill/>
        </p:spPr>
        <p:txBody>
          <a:bodyPr wrap="square" rtlCol="0">
            <a:spAutoFit/>
          </a:bodyPr>
          <a:lstStyle/>
          <a:p>
            <a:pPr marL="285750" indent="-285750">
              <a:buFont typeface="Wingdings" panose="05000000000000000000" pitchFamily="2" charset="2"/>
              <a:buChar char="§"/>
            </a:pPr>
            <a:r>
              <a:rPr lang="tr-TR" dirty="0">
                <a:solidFill>
                  <a:schemeClr val="bg1"/>
                </a:solidFill>
              </a:rPr>
              <a:t>Adamam </a:t>
            </a:r>
            <a:r>
              <a:rPr lang="tr-TR" dirty="0" err="1">
                <a:solidFill>
                  <a:schemeClr val="bg1"/>
                </a:solidFill>
              </a:rPr>
              <a:t>bija</a:t>
            </a:r>
            <a:r>
              <a:rPr lang="tr-TR" dirty="0">
                <a:solidFill>
                  <a:schemeClr val="bg1"/>
                </a:solidFill>
              </a:rPr>
              <a:t> </a:t>
            </a:r>
            <a:r>
              <a:rPr lang="tr-TR" dirty="0" err="1">
                <a:solidFill>
                  <a:schemeClr val="bg1"/>
                </a:solidFill>
              </a:rPr>
              <a:t>septini</a:t>
            </a:r>
            <a:r>
              <a:rPr lang="tr-TR" dirty="0">
                <a:solidFill>
                  <a:schemeClr val="bg1"/>
                </a:solidFill>
              </a:rPr>
              <a:t> deli, </a:t>
            </a:r>
            <a:r>
              <a:rPr lang="tr-TR" dirty="0" err="1">
                <a:solidFill>
                  <a:schemeClr val="bg1"/>
                </a:solidFill>
              </a:rPr>
              <a:t>septini</a:t>
            </a:r>
            <a:r>
              <a:rPr lang="tr-TR" dirty="0">
                <a:solidFill>
                  <a:schemeClr val="bg1"/>
                </a:solidFill>
              </a:rPr>
              <a:t> deli ne </a:t>
            </a:r>
            <a:r>
              <a:rPr lang="tr-TR" dirty="0" err="1">
                <a:solidFill>
                  <a:schemeClr val="bg1"/>
                </a:solidFill>
              </a:rPr>
              <a:t>tieeda</a:t>
            </a:r>
            <a:r>
              <a:rPr lang="tr-TR" dirty="0">
                <a:solidFill>
                  <a:schemeClr val="bg1"/>
                </a:solidFill>
              </a:rPr>
              <a:t>, ne </a:t>
            </a:r>
            <a:r>
              <a:rPr lang="tr-TR" dirty="0" err="1">
                <a:solidFill>
                  <a:schemeClr val="bg1"/>
                </a:solidFill>
              </a:rPr>
              <a:t>tie</a:t>
            </a:r>
            <a:r>
              <a:rPr lang="tr-TR" dirty="0">
                <a:solidFill>
                  <a:schemeClr val="bg1"/>
                </a:solidFill>
              </a:rPr>
              <a:t> </a:t>
            </a:r>
            <a:r>
              <a:rPr lang="tr-TR" dirty="0" err="1">
                <a:solidFill>
                  <a:schemeClr val="bg1"/>
                </a:solidFill>
              </a:rPr>
              <a:t>dzera</a:t>
            </a:r>
            <a:r>
              <a:rPr lang="tr-TR" dirty="0">
                <a:solidFill>
                  <a:schemeClr val="bg1"/>
                </a:solidFill>
              </a:rPr>
              <a:t>, ne </a:t>
            </a:r>
            <a:r>
              <a:rPr lang="tr-TR" dirty="0" err="1">
                <a:solidFill>
                  <a:schemeClr val="bg1"/>
                </a:solidFill>
              </a:rPr>
              <a:t>tie</a:t>
            </a:r>
            <a:r>
              <a:rPr lang="tr-TR" dirty="0">
                <a:solidFill>
                  <a:schemeClr val="bg1"/>
                </a:solidFill>
              </a:rPr>
              <a:t> </a:t>
            </a:r>
            <a:r>
              <a:rPr lang="tr-TR" dirty="0" err="1">
                <a:solidFill>
                  <a:schemeClr val="bg1"/>
                </a:solidFill>
              </a:rPr>
              <a:t>zin</a:t>
            </a:r>
            <a:r>
              <a:rPr lang="tr-TR" dirty="0">
                <a:solidFill>
                  <a:schemeClr val="bg1"/>
                </a:solidFill>
              </a:rPr>
              <a:t> kas </a:t>
            </a:r>
            <a:r>
              <a:rPr lang="tr-TR" dirty="0" err="1">
                <a:solidFill>
                  <a:schemeClr val="bg1"/>
                </a:solidFill>
              </a:rPr>
              <a:t>jadara</a:t>
            </a:r>
            <a:r>
              <a:rPr lang="tr-TR" dirty="0">
                <a:solidFill>
                  <a:schemeClr val="bg1"/>
                </a:solidFill>
              </a:rPr>
              <a:t>, </a:t>
            </a:r>
            <a:r>
              <a:rPr lang="tr-TR" dirty="0" err="1">
                <a:solidFill>
                  <a:schemeClr val="bg1"/>
                </a:solidFill>
              </a:rPr>
              <a:t>visi</a:t>
            </a:r>
            <a:r>
              <a:rPr lang="tr-TR" dirty="0">
                <a:solidFill>
                  <a:schemeClr val="bg1"/>
                </a:solidFill>
              </a:rPr>
              <a:t> dara ta)</a:t>
            </a:r>
          </a:p>
          <a:p>
            <a:pPr marL="285750" indent="-285750">
              <a:buFont typeface="Wingdings" panose="05000000000000000000" pitchFamily="2" charset="2"/>
              <a:buChar char="§"/>
            </a:pPr>
            <a:endParaRPr lang="tr-TR" dirty="0">
              <a:solidFill>
                <a:schemeClr val="bg1"/>
              </a:solidFill>
            </a:endParaRPr>
          </a:p>
          <a:p>
            <a:pPr marL="285750" indent="-285750">
              <a:buFont typeface="Wingdings" panose="05000000000000000000" pitchFamily="2" charset="2"/>
              <a:buChar char="§"/>
            </a:pPr>
            <a:r>
              <a:rPr lang="tr-TR" dirty="0">
                <a:solidFill>
                  <a:schemeClr val="bg1"/>
                </a:solidFill>
              </a:rPr>
              <a:t>Adamın ne şarkı söylemeyi, ne yemek yemeyi ne de bir şey yapmayı bilen yedi oğlu vardı».</a:t>
            </a:r>
          </a:p>
        </p:txBody>
      </p:sp>
      <p:pic>
        <p:nvPicPr>
          <p:cNvPr id="8" name="Grafik 7" descr="Müzik notaları düz dolguyla">
            <a:extLst>
              <a:ext uri="{FF2B5EF4-FFF2-40B4-BE49-F238E27FC236}">
                <a16:creationId xmlns:a16="http://schemas.microsoft.com/office/drawing/2014/main" id="{47579C34-2F62-11AF-C609-9DF42FC9B0F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96400" y="4427436"/>
            <a:ext cx="914400" cy="914400"/>
          </a:xfrm>
          <a:prstGeom prst="rect">
            <a:avLst/>
          </a:prstGeom>
        </p:spPr>
      </p:pic>
      <p:pic>
        <p:nvPicPr>
          <p:cNvPr id="10" name="Grafik 9" descr="Dans düz dolguyla">
            <a:extLst>
              <a:ext uri="{FF2B5EF4-FFF2-40B4-BE49-F238E27FC236}">
                <a16:creationId xmlns:a16="http://schemas.microsoft.com/office/drawing/2014/main" id="{D39255A4-47C9-0BAA-E2E7-01F09ABD3BE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925989" y="3626427"/>
            <a:ext cx="914400" cy="914400"/>
          </a:xfrm>
          <a:prstGeom prst="rect">
            <a:avLst/>
          </a:prstGeom>
        </p:spPr>
      </p:pic>
      <p:pic>
        <p:nvPicPr>
          <p:cNvPr id="12" name="Grafik 11" descr="Müzik düz dolguyla">
            <a:extLst>
              <a:ext uri="{FF2B5EF4-FFF2-40B4-BE49-F238E27FC236}">
                <a16:creationId xmlns:a16="http://schemas.microsoft.com/office/drawing/2014/main" id="{5B101451-6996-8B1F-E1B2-33A73443631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70026" y="950100"/>
            <a:ext cx="914400" cy="914400"/>
          </a:xfrm>
          <a:prstGeom prst="rect">
            <a:avLst/>
          </a:prstGeom>
        </p:spPr>
      </p:pic>
      <p:pic>
        <p:nvPicPr>
          <p:cNvPr id="14" name="Grafik 13" descr="Müzik notası  düz dolguyla">
            <a:extLst>
              <a:ext uri="{FF2B5EF4-FFF2-40B4-BE49-F238E27FC236}">
                <a16:creationId xmlns:a16="http://schemas.microsoft.com/office/drawing/2014/main" id="{2F459C02-AFF3-AB9B-ED88-663DCEBC96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7012" y="382645"/>
            <a:ext cx="914400" cy="914400"/>
          </a:xfrm>
          <a:prstGeom prst="rect">
            <a:avLst/>
          </a:prstGeom>
        </p:spPr>
      </p:pic>
      <p:pic>
        <p:nvPicPr>
          <p:cNvPr id="16" name="Grafik 15" descr="Müzik notaları düz dolguyla">
            <a:extLst>
              <a:ext uri="{FF2B5EF4-FFF2-40B4-BE49-F238E27FC236}">
                <a16:creationId xmlns:a16="http://schemas.microsoft.com/office/drawing/2014/main" id="{60DF6B88-CBAD-E13B-71BE-48DD5C7F6D1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016581" y="2537235"/>
            <a:ext cx="914400" cy="914400"/>
          </a:xfrm>
          <a:prstGeom prst="rect">
            <a:avLst/>
          </a:prstGeom>
        </p:spPr>
      </p:pic>
      <p:pic>
        <p:nvPicPr>
          <p:cNvPr id="18" name="Grafik 17" descr="Sol anahtarı düz dolguyla">
            <a:extLst>
              <a:ext uri="{FF2B5EF4-FFF2-40B4-BE49-F238E27FC236}">
                <a16:creationId xmlns:a16="http://schemas.microsoft.com/office/drawing/2014/main" id="{00E24E8A-4A72-B28A-21A3-C4E051AB88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91599" y="5452554"/>
            <a:ext cx="914400" cy="914400"/>
          </a:xfrm>
          <a:prstGeom prst="rect">
            <a:avLst/>
          </a:prstGeom>
        </p:spPr>
      </p:pic>
    </p:spTree>
    <p:extLst>
      <p:ext uri="{BB962C8B-B14F-4D97-AF65-F5344CB8AC3E}">
        <p14:creationId xmlns:p14="http://schemas.microsoft.com/office/powerpoint/2010/main" val="133761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Resim Yer Tutucusu 7">
            <a:extLst>
              <a:ext uri="{FF2B5EF4-FFF2-40B4-BE49-F238E27FC236}">
                <a16:creationId xmlns:a16="http://schemas.microsoft.com/office/drawing/2014/main" id="{60925D6B-81F1-ABF8-D497-8E5E8905678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213" y="1667921"/>
            <a:ext cx="5943600" cy="3344358"/>
          </a:xfrm>
        </p:spPr>
      </p:pic>
    </p:spTree>
    <p:extLst>
      <p:ext uri="{BB962C8B-B14F-4D97-AF65-F5344CB8AC3E}">
        <p14:creationId xmlns:p14="http://schemas.microsoft.com/office/powerpoint/2010/main" val="6375625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EB659BC9-3D80-9DC5-FAA2-3FA1E7A8EB33}"/>
              </a:ext>
            </a:extLst>
          </p:cNvPr>
          <p:cNvSpPr>
            <a:spLocks noGrp="1"/>
          </p:cNvSpPr>
          <p:nvPr>
            <p:ph type="ctrTitle"/>
          </p:nvPr>
        </p:nvSpPr>
        <p:spPr/>
        <p:txBody>
          <a:bodyPr/>
          <a:lstStyle/>
          <a:p>
            <a:r>
              <a:rPr lang="tr-TR" dirty="0"/>
              <a:t>Ülkemizden Geleneksel Çocuk Oyunu</a:t>
            </a:r>
          </a:p>
        </p:txBody>
      </p:sp>
      <p:sp>
        <p:nvSpPr>
          <p:cNvPr id="6" name="Alt Başlık 5">
            <a:extLst>
              <a:ext uri="{FF2B5EF4-FFF2-40B4-BE49-F238E27FC236}">
                <a16:creationId xmlns:a16="http://schemas.microsoft.com/office/drawing/2014/main" id="{27D66521-FBA0-F830-C62E-F241C6A1696A}"/>
              </a:ext>
            </a:extLst>
          </p:cNvPr>
          <p:cNvSpPr>
            <a:spLocks noGrp="1"/>
          </p:cNvSpPr>
          <p:nvPr>
            <p:ph type="subTitle" idx="1"/>
          </p:nvPr>
        </p:nvSpPr>
        <p:spPr/>
        <p:txBody>
          <a:bodyPr/>
          <a:lstStyle/>
          <a:p>
            <a:r>
              <a:rPr lang="tr-TR" dirty="0"/>
              <a:t>Farfara Filli</a:t>
            </a:r>
          </a:p>
        </p:txBody>
      </p:sp>
    </p:spTree>
    <p:extLst>
      <p:ext uri="{BB962C8B-B14F-4D97-AF65-F5344CB8AC3E}">
        <p14:creationId xmlns:p14="http://schemas.microsoft.com/office/powerpoint/2010/main" val="1906803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Başlık 8">
            <a:extLst>
              <a:ext uri="{FF2B5EF4-FFF2-40B4-BE49-F238E27FC236}">
                <a16:creationId xmlns:a16="http://schemas.microsoft.com/office/drawing/2014/main" id="{1C3CF9F0-871D-8D09-EC48-C907EFC98F96}"/>
              </a:ext>
            </a:extLst>
          </p:cNvPr>
          <p:cNvSpPr>
            <a:spLocks noGrp="1"/>
          </p:cNvSpPr>
          <p:nvPr>
            <p:ph type="title"/>
          </p:nvPr>
        </p:nvSpPr>
        <p:spPr/>
        <p:txBody>
          <a:bodyPr/>
          <a:lstStyle/>
          <a:p>
            <a:r>
              <a:rPr lang="tr-TR" dirty="0"/>
              <a:t>Nasıl oynanır?</a:t>
            </a:r>
          </a:p>
        </p:txBody>
      </p:sp>
      <p:pic>
        <p:nvPicPr>
          <p:cNvPr id="13" name="İçerik Yer Tutucusu 12" descr="kişi, şahıs, çocukların yaptığı resimler, çizim, Çizgi film içeren bir resim&#10;&#10;Yapay zeka tarafından oluşturulan içerik yanlış olabilir.">
            <a:extLst>
              <a:ext uri="{FF2B5EF4-FFF2-40B4-BE49-F238E27FC236}">
                <a16:creationId xmlns:a16="http://schemas.microsoft.com/office/drawing/2014/main" id="{9031453B-6453-8009-08A0-9F1C31427A8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820" r="2019" b="2247"/>
          <a:stretch/>
        </p:blipFill>
        <p:spPr>
          <a:xfrm>
            <a:off x="684213" y="1420238"/>
            <a:ext cx="5823591" cy="3784060"/>
          </a:xfrm>
        </p:spPr>
      </p:pic>
      <p:sp>
        <p:nvSpPr>
          <p:cNvPr id="11" name="Metin Yer Tutucusu 10">
            <a:extLst>
              <a:ext uri="{FF2B5EF4-FFF2-40B4-BE49-F238E27FC236}">
                <a16:creationId xmlns:a16="http://schemas.microsoft.com/office/drawing/2014/main" id="{8B968DCC-B5D2-0275-ACDB-1548475D5767}"/>
              </a:ext>
            </a:extLst>
          </p:cNvPr>
          <p:cNvSpPr>
            <a:spLocks noGrp="1"/>
          </p:cNvSpPr>
          <p:nvPr>
            <p:ph type="body" sz="half" idx="2"/>
          </p:nvPr>
        </p:nvSpPr>
        <p:spPr/>
        <p:txBody>
          <a:bodyPr>
            <a:normAutofit lnSpcReduction="10000"/>
          </a:bodyPr>
          <a:lstStyle/>
          <a:p>
            <a:r>
              <a:rPr lang="tr-TR" dirty="0"/>
              <a:t>Bu şaşırtmaca ve taklit oyunu adını oyuna başlarken söylenen sözlerden alır. Grup halinde oynanan ve dikkat gerektiren oyundur. Önce oyuncular arasından bir ebe seçilir. Ebe, oyuncuları göremeyeceği ve duyamayacağı bir şekilde gruptan uzaklaşır</a:t>
            </a:r>
          </a:p>
        </p:txBody>
      </p:sp>
    </p:spTree>
    <p:extLst>
      <p:ext uri="{BB962C8B-B14F-4D97-AF65-F5344CB8AC3E}">
        <p14:creationId xmlns:p14="http://schemas.microsoft.com/office/powerpoint/2010/main" val="672974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çerik Yer Tutucusu 5" descr="giyim, kişi, şahıs, iç mekan, kız içeren bir resim">
            <a:extLst>
              <a:ext uri="{FF2B5EF4-FFF2-40B4-BE49-F238E27FC236}">
                <a16:creationId xmlns:a16="http://schemas.microsoft.com/office/drawing/2014/main" id="{18388F90-1020-1E15-9F23-4F1795F233A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093631" y="685800"/>
            <a:ext cx="5354363" cy="5308600"/>
          </a:xfrm>
        </p:spPr>
      </p:pic>
      <p:sp>
        <p:nvSpPr>
          <p:cNvPr id="4" name="Metin Yer Tutucusu 3">
            <a:extLst>
              <a:ext uri="{FF2B5EF4-FFF2-40B4-BE49-F238E27FC236}">
                <a16:creationId xmlns:a16="http://schemas.microsoft.com/office/drawing/2014/main" id="{C4EF53A5-5961-64B6-5C5F-7EC8573C170A}"/>
              </a:ext>
            </a:extLst>
          </p:cNvPr>
          <p:cNvSpPr>
            <a:spLocks noGrp="1"/>
          </p:cNvSpPr>
          <p:nvPr>
            <p:ph type="body" sz="half" idx="2"/>
          </p:nvPr>
        </p:nvSpPr>
        <p:spPr>
          <a:xfrm>
            <a:off x="907948" y="2209799"/>
            <a:ext cx="3657600" cy="3784601"/>
          </a:xfrm>
        </p:spPr>
        <p:txBody>
          <a:bodyPr/>
          <a:lstStyle/>
          <a:p>
            <a:r>
              <a:rPr lang="tr-TR" dirty="0"/>
              <a:t>Bu sırada oyuncular arasından bir lider seçilir. Ebe, liderin kim olduğunu bilmemelidir. Oyuncular bir daire oluşturacak şeklinde yerlerini alırlar. Ebe de dairenin ortasına geçer. Oyuncuların hep bir ağızdan «Farfara filli ya filli» demesiyle oyun başlar. Lider, mümkün olduğunca garip ve komik hareketler yapar. Diğer oyuncular da onu taklit ederler. Ebe oyuncuları izler ve liderin kim olduğunu bilmeye çalışır.</a:t>
            </a:r>
          </a:p>
        </p:txBody>
      </p:sp>
    </p:spTree>
    <p:extLst>
      <p:ext uri="{BB962C8B-B14F-4D97-AF65-F5344CB8AC3E}">
        <p14:creationId xmlns:p14="http://schemas.microsoft.com/office/powerpoint/2010/main" val="5818933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4A9D71-A88B-44C1-F73F-A51FF8B981AD}"/>
              </a:ext>
            </a:extLst>
          </p:cNvPr>
          <p:cNvSpPr>
            <a:spLocks noGrp="1"/>
          </p:cNvSpPr>
          <p:nvPr>
            <p:ph type="title"/>
          </p:nvPr>
        </p:nvSpPr>
        <p:spPr/>
        <p:txBody>
          <a:bodyPr/>
          <a:lstStyle/>
          <a:p>
            <a:endParaRPr lang="tr-TR"/>
          </a:p>
        </p:txBody>
      </p:sp>
      <p:pic>
        <p:nvPicPr>
          <p:cNvPr id="6" name="İçerik Yer Tutucusu 5" descr="kişi, şahıs, giyim, çim, grup içeren bir resim&#10;&#10;Yapay zeka tarafından oluşturulan içerik yanlış olabilir.">
            <a:extLst>
              <a:ext uri="{FF2B5EF4-FFF2-40B4-BE49-F238E27FC236}">
                <a16:creationId xmlns:a16="http://schemas.microsoft.com/office/drawing/2014/main" id="{C6E51586-B6DF-7698-858B-0B2963F20E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4213" y="1668462"/>
            <a:ext cx="5943600" cy="3343275"/>
          </a:xfrm>
        </p:spPr>
      </p:pic>
      <p:sp>
        <p:nvSpPr>
          <p:cNvPr id="4" name="Metin Yer Tutucusu 3">
            <a:extLst>
              <a:ext uri="{FF2B5EF4-FFF2-40B4-BE49-F238E27FC236}">
                <a16:creationId xmlns:a16="http://schemas.microsoft.com/office/drawing/2014/main" id="{EB32199C-45E7-46C5-8CF2-32BBFFF19971}"/>
              </a:ext>
            </a:extLst>
          </p:cNvPr>
          <p:cNvSpPr>
            <a:spLocks noGrp="1"/>
          </p:cNvSpPr>
          <p:nvPr>
            <p:ph type="body" sz="half" idx="2"/>
          </p:nvPr>
        </p:nvSpPr>
        <p:spPr/>
        <p:txBody>
          <a:bodyPr/>
          <a:lstStyle/>
          <a:p>
            <a:r>
              <a:rPr lang="tr-TR" dirty="0"/>
              <a:t>Oyuncular, ebenin işini zorlaştırmak için hareketleri taklit ederken hızlı olmalıdırlar. Ebe liderin kim olduğunu bilirse yeni ebe o olur oyuncular kendi arasında yeni bir lider seçerler ve oyuna devam ederler.</a:t>
            </a:r>
          </a:p>
        </p:txBody>
      </p:sp>
    </p:spTree>
    <p:extLst>
      <p:ext uri="{BB962C8B-B14F-4D97-AF65-F5344CB8AC3E}">
        <p14:creationId xmlns:p14="http://schemas.microsoft.com/office/powerpoint/2010/main" val="3124864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Başlık 4">
            <a:extLst>
              <a:ext uri="{FF2B5EF4-FFF2-40B4-BE49-F238E27FC236}">
                <a16:creationId xmlns:a16="http://schemas.microsoft.com/office/drawing/2014/main" id="{6029247F-2211-62C5-5260-39D0E3498009}"/>
              </a:ext>
            </a:extLst>
          </p:cNvPr>
          <p:cNvSpPr>
            <a:spLocks noGrp="1"/>
          </p:cNvSpPr>
          <p:nvPr>
            <p:ph type="ctrTitle"/>
          </p:nvPr>
        </p:nvSpPr>
        <p:spPr/>
        <p:txBody>
          <a:bodyPr/>
          <a:lstStyle/>
          <a:p>
            <a:r>
              <a:rPr lang="en-US" dirty="0" err="1"/>
              <a:t>Sosyal</a:t>
            </a:r>
            <a:r>
              <a:rPr lang="en-US" dirty="0"/>
              <a:t> </a:t>
            </a:r>
            <a:r>
              <a:rPr lang="en-US" dirty="0" err="1"/>
              <a:t>uyum</a:t>
            </a:r>
            <a:r>
              <a:rPr lang="en-US" dirty="0"/>
              <a:t> </a:t>
            </a:r>
            <a:r>
              <a:rPr lang="en-US" dirty="0" err="1"/>
              <a:t>projes</a:t>
            </a:r>
            <a:r>
              <a:rPr lang="tr-TR" dirty="0"/>
              <a:t>i</a:t>
            </a:r>
          </a:p>
        </p:txBody>
      </p:sp>
      <p:sp>
        <p:nvSpPr>
          <p:cNvPr id="6" name="Alt Başlık 5">
            <a:extLst>
              <a:ext uri="{FF2B5EF4-FFF2-40B4-BE49-F238E27FC236}">
                <a16:creationId xmlns:a16="http://schemas.microsoft.com/office/drawing/2014/main" id="{1B02D77A-C5CA-5E09-D97B-29E3117A4C72}"/>
              </a:ext>
            </a:extLst>
          </p:cNvPr>
          <p:cNvSpPr>
            <a:spLocks noGrp="1"/>
          </p:cNvSpPr>
          <p:nvPr>
            <p:ph type="subTitle" idx="1"/>
          </p:nvPr>
        </p:nvSpPr>
        <p:spPr/>
        <p:txBody>
          <a:bodyPr>
            <a:noAutofit/>
          </a:bodyPr>
          <a:lstStyle/>
          <a:p>
            <a:r>
              <a:rPr lang="tr-TR" dirty="0"/>
              <a:t>Dijital çağda olduğumuzdan ve çocukların dijitale ilgisi daha yoğun olduğundan dolayı farklı ülkelerde ve farklı jenerasyonların oynadığı geleneksel çocuk oyunlarının birbirlerine öğretilmesini sağlayan bir internet sitesi tasarlanması görüşündeyim</a:t>
            </a:r>
          </a:p>
        </p:txBody>
      </p:sp>
    </p:spTree>
    <p:extLst>
      <p:ext uri="{BB962C8B-B14F-4D97-AF65-F5344CB8AC3E}">
        <p14:creationId xmlns:p14="http://schemas.microsoft.com/office/powerpoint/2010/main" val="49305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aşlık 3">
            <a:extLst>
              <a:ext uri="{FF2B5EF4-FFF2-40B4-BE49-F238E27FC236}">
                <a16:creationId xmlns:a16="http://schemas.microsoft.com/office/drawing/2014/main" id="{E0742ECE-96C7-FEA0-BAFE-AA4E5BA80421}"/>
              </a:ext>
            </a:extLst>
          </p:cNvPr>
          <p:cNvSpPr>
            <a:spLocks noGrp="1"/>
          </p:cNvSpPr>
          <p:nvPr>
            <p:ph type="title"/>
          </p:nvPr>
        </p:nvSpPr>
        <p:spPr/>
        <p:txBody>
          <a:bodyPr/>
          <a:lstStyle/>
          <a:p>
            <a:endParaRPr lang="tr-TR"/>
          </a:p>
        </p:txBody>
      </p:sp>
      <p:sp>
        <p:nvSpPr>
          <p:cNvPr id="5" name="Resim Yer Tutucusu 4">
            <a:extLst>
              <a:ext uri="{FF2B5EF4-FFF2-40B4-BE49-F238E27FC236}">
                <a16:creationId xmlns:a16="http://schemas.microsoft.com/office/drawing/2014/main" id="{C66147C5-2EC6-DE81-FF89-9BAF72F82AE5}"/>
              </a:ext>
            </a:extLst>
          </p:cNvPr>
          <p:cNvSpPr>
            <a:spLocks noGrp="1"/>
          </p:cNvSpPr>
          <p:nvPr>
            <p:ph type="pic" idx="1"/>
          </p:nvPr>
        </p:nvSpPr>
        <p:spPr/>
      </p:sp>
      <p:sp>
        <p:nvSpPr>
          <p:cNvPr id="6" name="Metin Yer Tutucusu 5">
            <a:extLst>
              <a:ext uri="{FF2B5EF4-FFF2-40B4-BE49-F238E27FC236}">
                <a16:creationId xmlns:a16="http://schemas.microsoft.com/office/drawing/2014/main" id="{78D5B0DA-B0E8-3724-B2EB-6D2857064F10}"/>
              </a:ext>
            </a:extLst>
          </p:cNvPr>
          <p:cNvSpPr>
            <a:spLocks noGrp="1"/>
          </p:cNvSpPr>
          <p:nvPr>
            <p:ph type="body" sz="half" idx="2"/>
          </p:nvPr>
        </p:nvSpPr>
        <p:spPr/>
        <p:txBody>
          <a:bodyPr/>
          <a:lstStyle/>
          <a:p>
            <a:r>
              <a:rPr lang="tr-TR" dirty="0"/>
              <a:t>Düşüncem, farklı kültürlerdeki çocukların veya yetişkinlerin bu internet sitesine geçmişte veya günümüzde oynadıkları ülkelerinin geleneksel çocuk oyunlarını tanıtan yazılar yazması ve görseller eklemesi.</a:t>
            </a:r>
          </a:p>
        </p:txBody>
      </p:sp>
    </p:spTree>
    <p:extLst>
      <p:ext uri="{BB962C8B-B14F-4D97-AF65-F5344CB8AC3E}">
        <p14:creationId xmlns:p14="http://schemas.microsoft.com/office/powerpoint/2010/main" val="22371268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091C297-2CD8-0861-F8AC-E7DD98F483FB}"/>
              </a:ext>
            </a:extLst>
          </p:cNvPr>
          <p:cNvSpPr>
            <a:spLocks noGrp="1"/>
          </p:cNvSpPr>
          <p:nvPr>
            <p:ph type="title"/>
          </p:nvPr>
        </p:nvSpPr>
        <p:spPr/>
        <p:txBody>
          <a:bodyPr/>
          <a:lstStyle/>
          <a:p>
            <a:endParaRPr lang="tr-TR"/>
          </a:p>
        </p:txBody>
      </p:sp>
      <p:sp>
        <p:nvSpPr>
          <p:cNvPr id="3" name="Resim Yer Tutucusu 2">
            <a:extLst>
              <a:ext uri="{FF2B5EF4-FFF2-40B4-BE49-F238E27FC236}">
                <a16:creationId xmlns:a16="http://schemas.microsoft.com/office/drawing/2014/main" id="{88F96B4C-496D-0809-4877-50879B0C4E22}"/>
              </a:ext>
            </a:extLst>
          </p:cNvPr>
          <p:cNvSpPr>
            <a:spLocks noGrp="1"/>
          </p:cNvSpPr>
          <p:nvPr>
            <p:ph type="pic" idx="1"/>
          </p:nvPr>
        </p:nvSpPr>
        <p:spPr/>
      </p:sp>
      <p:sp>
        <p:nvSpPr>
          <p:cNvPr id="4" name="Metin Yer Tutucusu 3">
            <a:extLst>
              <a:ext uri="{FF2B5EF4-FFF2-40B4-BE49-F238E27FC236}">
                <a16:creationId xmlns:a16="http://schemas.microsoft.com/office/drawing/2014/main" id="{148404DC-0D80-375C-56DB-9033AB2E0A4B}"/>
              </a:ext>
            </a:extLst>
          </p:cNvPr>
          <p:cNvSpPr>
            <a:spLocks noGrp="1"/>
          </p:cNvSpPr>
          <p:nvPr>
            <p:ph type="body" sz="half" idx="2"/>
          </p:nvPr>
        </p:nvSpPr>
        <p:spPr/>
        <p:txBody>
          <a:bodyPr/>
          <a:lstStyle/>
          <a:p>
            <a:r>
              <a:rPr lang="tr-TR" dirty="0"/>
              <a:t>Eski jenerasyonların oynadığı oyunlarla alakalı ise yine aynı site üzerinden gerek çocukları gerek torunları yardımıyla kendi çocukluklarında oynadıkları ve unutulmaya yüz tutmuş oyunları tanıtabilirler. Böylelikle yeni nesil ve farklı kültürden çocuklar bu </a:t>
            </a:r>
            <a:r>
              <a:rPr lang="tr-TR"/>
              <a:t>oyunları öğrenebilirler.</a:t>
            </a:r>
          </a:p>
        </p:txBody>
      </p:sp>
    </p:spTree>
    <p:extLst>
      <p:ext uri="{BB962C8B-B14F-4D97-AF65-F5344CB8AC3E}">
        <p14:creationId xmlns:p14="http://schemas.microsoft.com/office/powerpoint/2010/main" val="3321492120"/>
      </p:ext>
    </p:extLst>
  </p:cSld>
  <p:clrMapOvr>
    <a:masterClrMapping/>
  </p:clrMapOvr>
</p:sld>
</file>

<file path=ppt/theme/theme1.xml><?xml version="1.0" encoding="utf-8"?>
<a:theme xmlns:a="http://schemas.openxmlformats.org/drawingml/2006/main" name="Dilim">
  <a:themeElements>
    <a:clrScheme name="Dilim">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Dilim">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lim">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55</TotalTime>
  <Words>539</Words>
  <Application>Microsoft Office PowerPoint</Application>
  <PresentationFormat>Geniş ekran</PresentationFormat>
  <Paragraphs>32</Paragraphs>
  <Slides>15</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15</vt:i4>
      </vt:variant>
    </vt:vector>
  </HeadingPairs>
  <TitlesOfParts>
    <vt:vector size="20" baseType="lpstr">
      <vt:lpstr>Arial</vt:lpstr>
      <vt:lpstr>Century Gothic</vt:lpstr>
      <vt:lpstr>Wingdings</vt:lpstr>
      <vt:lpstr>Wingdings 3</vt:lpstr>
      <vt:lpstr>Dilim</vt:lpstr>
      <vt:lpstr>PowerPoint Sunusu</vt:lpstr>
      <vt:lpstr>Nesillerdir Oynanan Oyun</vt:lpstr>
      <vt:lpstr>Aşık Oyunu</vt:lpstr>
      <vt:lpstr>PowerPoint Sunusu</vt:lpstr>
      <vt:lpstr>PowerPoint Sunusu</vt:lpstr>
      <vt:lpstr>Farklı kültürden Geleneksel bir oyun</vt:lpstr>
      <vt:lpstr>PowerPoint Sunusu</vt:lpstr>
      <vt:lpstr>PowerPoint Sunusu</vt:lpstr>
      <vt:lpstr>Ülkemizden Geleneksel Çocuk Oyunu</vt:lpstr>
      <vt:lpstr>Nasıl oynanır?</vt:lpstr>
      <vt:lpstr>PowerPoint Sunusu</vt:lpstr>
      <vt:lpstr>PowerPoint Sunusu</vt:lpstr>
      <vt:lpstr>Sosyal uyum projesi</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Kaan Kavas</dc:creator>
  <cp:lastModifiedBy>Kaan Kavas</cp:lastModifiedBy>
  <cp:revision>3</cp:revision>
  <dcterms:created xsi:type="dcterms:W3CDTF">2025-12-16T15:51:00Z</dcterms:created>
  <dcterms:modified xsi:type="dcterms:W3CDTF">2025-12-16T19:38:08Z</dcterms:modified>
</cp:coreProperties>
</file>