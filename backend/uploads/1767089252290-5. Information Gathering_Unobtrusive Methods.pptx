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4"/>
  </p:notesMasterIdLst>
  <p:handoutMasterIdLst>
    <p:handoutMasterId r:id="rId65"/>
  </p:handoutMasterIdLst>
  <p:sldIdLst>
    <p:sldId id="330" r:id="rId3"/>
    <p:sldId id="332"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391" r:id="rId47"/>
    <p:sldId id="376" r:id="rId48"/>
    <p:sldId id="377" r:id="rId49"/>
    <p:sldId id="378" r:id="rId50"/>
    <p:sldId id="379" r:id="rId51"/>
    <p:sldId id="380" r:id="rId52"/>
    <p:sldId id="381" r:id="rId53"/>
    <p:sldId id="382" r:id="rId54"/>
    <p:sldId id="383" r:id="rId55"/>
    <p:sldId id="384" r:id="rId56"/>
    <p:sldId id="385" r:id="rId57"/>
    <p:sldId id="386" r:id="rId58"/>
    <p:sldId id="387" r:id="rId59"/>
    <p:sldId id="388" r:id="rId60"/>
    <p:sldId id="389" r:id="rId61"/>
    <p:sldId id="390" r:id="rId62"/>
    <p:sldId id="298" r:id="rId63"/>
  </p:sldIdLst>
  <p:sldSz cx="9144000" cy="6858000" type="screen4x3"/>
  <p:notesSz cx="6858000" cy="9144000"/>
  <p:embeddedFontLst>
    <p:embeddedFont>
      <p:font typeface="Calibri" panose="020F0502020204030204" pitchFamily="34" charset="0"/>
      <p:regular r:id="rId66"/>
      <p:bold r:id="rId67"/>
      <p:italic r:id="rId68"/>
      <p:boldItalic r:id="rId69"/>
    </p:embeddedFont>
    <p:embeddedFont>
      <p:font typeface="Noto Sans Symbols" panose="020B0604020202020204" charset="0"/>
      <p:regular r:id="rId70"/>
      <p:bold r:id="rId71"/>
      <p:italic r:id="rId72"/>
      <p:boldItalic r:id="rId73"/>
    </p:embeddedFont>
    <p:embeddedFont>
      <p:font typeface="Verdana" panose="020B0604030504040204" pitchFamily="34"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3" orient="horz" pos="4178" userDrawn="1">
          <p15:clr>
            <a:srgbClr val="A4A3A4"/>
          </p15:clr>
        </p15:guide>
        <p15:guide id="4" orient="horz" pos="119" userDrawn="1">
          <p15:clr>
            <a:srgbClr val="A4A3A4"/>
          </p15:clr>
        </p15:guide>
        <p15:guide id="5" orient="horz" pos="754" userDrawn="1">
          <p15:clr>
            <a:srgbClr val="A4A3A4"/>
          </p15:clr>
        </p15:guide>
        <p15:guide id="9" pos="295" userDrawn="1">
          <p15:clr>
            <a:srgbClr val="A4A3A4"/>
          </p15:clr>
        </p15:guide>
        <p15:guide id="10" orient="horz" pos="3974" userDrawn="1">
          <p15:clr>
            <a:srgbClr val="A4A3A4"/>
          </p15:clr>
        </p15:guide>
        <p15:guide id="11" orient="horz" pos="2251" userDrawn="1">
          <p15:clr>
            <a:srgbClr val="A4A3A4"/>
          </p15:clr>
        </p15:guide>
        <p15:guide id="13" pos="5465" userDrawn="1">
          <p15:clr>
            <a:srgbClr val="A4A3A4"/>
          </p15:clr>
        </p15:guide>
        <p15:guide id="14" orient="horz" pos="981" userDrawn="1">
          <p15:clr>
            <a:srgbClr val="A4A3A4"/>
          </p15:clr>
        </p15:guide>
        <p15:guide id="16" orient="horz" pos="822" userDrawn="1">
          <p15:clr>
            <a:srgbClr val="A4A3A4"/>
          </p15:clr>
        </p15:guide>
        <p15:guide id="17" pos="2880" userDrawn="1">
          <p15:clr>
            <a:srgbClr val="A4A3A4"/>
          </p15:clr>
        </p15:guide>
        <p15:guide id="18" orient="horz" pos="4065" userDrawn="1">
          <p15:clr>
            <a:srgbClr val="A4A3A4"/>
          </p15:clr>
        </p15:guide>
        <p15:guide id="19" pos="612" userDrawn="1">
          <p15:clr>
            <a:srgbClr val="A4A3A4"/>
          </p15:clr>
        </p15:guide>
        <p15:guide id="20" pos="179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USER" initials="U" lastIdx="3" clrIdx="7">
    <p:extLst>
      <p:ext uri="{19B8F6BF-5375-455C-9EA6-DF929625EA0E}">
        <p15:presenceInfo xmlns:p15="http://schemas.microsoft.com/office/powerpoint/2012/main" userId="USER"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53C96-BE79-469D-872A-A71627886EEB}" v="2" dt="2023-06-20T05:31:12.002"/>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85" autoAdjust="0"/>
    <p:restoredTop sz="59672" autoAdjust="0"/>
  </p:normalViewPr>
  <p:slideViewPr>
    <p:cSldViewPr snapToGrid="0" snapToObjects="1">
      <p:cViewPr varScale="1">
        <p:scale>
          <a:sx n="73" d="100"/>
          <a:sy n="73" d="100"/>
        </p:scale>
        <p:origin x="150" y="72"/>
      </p:cViewPr>
      <p:guideLst>
        <p:guide orient="horz" pos="4178"/>
        <p:guide orient="horz" pos="119"/>
        <p:guide orient="horz" pos="754"/>
        <p:guide pos="295"/>
        <p:guide orient="horz" pos="3974"/>
        <p:guide orient="horz" pos="2251"/>
        <p:guide pos="5465"/>
        <p:guide orient="horz" pos="981"/>
        <p:guide orient="horz" pos="822"/>
        <p:guide pos="2880"/>
        <p:guide orient="horz" pos="4065"/>
        <p:guide pos="612"/>
        <p:guide pos="1791"/>
      </p:guideLst>
    </p:cSldViewPr>
  </p:slideViewPr>
  <p:outlineViewPr>
    <p:cViewPr>
      <p:scale>
        <a:sx n="33" d="100"/>
        <a:sy n="33" d="100"/>
      </p:scale>
      <p:origin x="0" y="-3000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font" Target="fonts/font3.fntdata"/><Relationship Id="rId76" Type="http://schemas.openxmlformats.org/officeDocument/2006/relationships/font" Target="fonts/font11.fntdata"/><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1.fntdata"/><Relationship Id="rId74" Type="http://schemas.openxmlformats.org/officeDocument/2006/relationships/font" Target="fonts/font9.fntdata"/><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73" Type="http://schemas.openxmlformats.org/officeDocument/2006/relationships/font" Target="fonts/font8.fntdata"/><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font" Target="fonts/font10.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27-Jun-23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uipath.com/"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r>
              <a:rPr lang="en-US" sz="1200" b="0" i="0" u="none" strike="noStrike" kern="1200" cap="none" dirty="0" smtClean="0">
                <a:solidFill>
                  <a:schemeClr val="dk1"/>
                </a:solidFill>
                <a:latin typeface="Arial"/>
                <a:ea typeface="Arial"/>
                <a:cs typeface="Arial"/>
                <a:sym typeface="Arial"/>
              </a:rPr>
              <a:t>)</a:t>
            </a:r>
          </a:p>
          <a:p>
            <a:endParaRPr lang="en-US" sz="1200" b="0" i="0" u="none" strike="noStrike" kern="1200" cap="none" dirty="0" smtClean="0">
              <a:solidFill>
                <a:schemeClr val="dk1"/>
              </a:solidFill>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Slides in this presentation contain hyperlinks. JAWS users should be able to get a list of links by using INSERT+F7</a:t>
            </a:r>
            <a:r>
              <a:rPr lang="en-US" dirty="0" smtClean="0"/>
              <a:t> </a:t>
            </a:r>
            <a:endParaRPr lang="en-US" sz="1200" b="0" i="0" u="none" strike="noStrike" kern="1200" cap="none" dirty="0">
              <a:solidFill>
                <a:schemeClr val="dk1"/>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823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Unobtrusive methods:</a:t>
            </a:r>
          </a:p>
          <a:p>
            <a:pPr marL="628650" lvl="1" indent="-171450">
              <a:buFontTx/>
              <a:buChar char="•"/>
            </a:pPr>
            <a:r>
              <a:rPr lang="en-US" altLang="en-US" dirty="0">
                <a:solidFill>
                  <a:srgbClr val="000000"/>
                </a:solidFill>
                <a:latin typeface="Arial" panose="020B0604020202020204" pitchFamily="34" charset="0"/>
              </a:rPr>
              <a:t>sampling</a:t>
            </a:r>
          </a:p>
          <a:p>
            <a:pPr marL="628650" lvl="1" indent="-171450">
              <a:buFontTx/>
              <a:buChar char="•"/>
            </a:pPr>
            <a:r>
              <a:rPr lang="en-US" altLang="en-US" dirty="0">
                <a:solidFill>
                  <a:srgbClr val="000000"/>
                </a:solidFill>
                <a:latin typeface="Arial" panose="020B0604020202020204" pitchFamily="34" charset="0"/>
              </a:rPr>
              <a:t>investigation</a:t>
            </a:r>
          </a:p>
          <a:p>
            <a:pPr marL="628650" lvl="1" indent="-171450">
              <a:buFontTx/>
              <a:buChar char="•"/>
            </a:pPr>
            <a:r>
              <a:rPr lang="en-US" altLang="en-US" dirty="0">
                <a:solidFill>
                  <a:srgbClr val="000000"/>
                </a:solidFill>
                <a:latin typeface="Arial" panose="020B0604020202020204" pitchFamily="34" charset="0"/>
              </a:rPr>
              <a:t>observing</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Multiple methods approach—using unobtrusive methods in conjunction with interactive methods. This is called multiple methods approach.</a:t>
            </a:r>
          </a:p>
          <a:p>
            <a:pPr lvl="0"/>
            <a:r>
              <a:rPr lang="en-US" altLang="en-US" dirty="0">
                <a:solidFill>
                  <a:srgbClr val="000000"/>
                </a:solidFill>
                <a:latin typeface="Arial" panose="020B0604020202020204" pitchFamily="34" charset="0"/>
              </a:rPr>
              <a:t>Using both interactive and unobtrusive methods will result in a more complete picture of human information requirements.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1564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By selecting a representative population the analyst can reveal useful information about the population as a whole.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What to examine—which documents of the many reports, forms, output documents, memos, and Web sites that have been generated by people in the organization should be considered?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Which people to consider—which people should be selected to represent the population as a whole?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7278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Containing costs:</a:t>
            </a:r>
          </a:p>
          <a:p>
            <a:pPr marL="628650" lvl="1" indent="-171450">
              <a:buFontTx/>
              <a:buChar char="•"/>
            </a:pPr>
            <a:r>
              <a:rPr lang="en-US" altLang="en-US" dirty="0">
                <a:solidFill>
                  <a:srgbClr val="000000"/>
                </a:solidFill>
                <a:latin typeface="Arial" panose="020B0604020202020204" pitchFamily="34" charset="0"/>
              </a:rPr>
              <a:t>examining every document, talking to everyone, and reading every Web page would be too costly.</a:t>
            </a:r>
          </a:p>
          <a:p>
            <a:pPr marL="628650" lvl="1" indent="-171450">
              <a:buFontTx/>
              <a:buChar char="•"/>
            </a:pPr>
            <a:r>
              <a:rPr lang="en-US" altLang="en-US" dirty="0">
                <a:solidFill>
                  <a:srgbClr val="000000"/>
                </a:solidFill>
                <a:latin typeface="Arial" panose="020B0604020202020204" pitchFamily="34" charset="0"/>
              </a:rPr>
              <a:t>employee time, copying reports, and duplicating unnecessary reports would be an added expense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Speeding up the data gathering—sampling speeds up the process by examining a smaller population which in turn reduces the amount of data that needs to be analyzed.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Improving effectiveness—by examining a sample of the population more detailed questions can be answered and followed up on thus improving the effectiveness of data gathering</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Reducing bias</a:t>
            </a:r>
            <a:r>
              <a:rPr lang="en-US" altLang="en-US" dirty="0">
                <a:solidFill>
                  <a:srgbClr val="FF0000"/>
                </a:solidFill>
                <a:latin typeface="Arial" panose="020B0604020202020204" pitchFamily="34" charset="0"/>
              </a:rPr>
              <a:t> since the information gathered would not be restricted to only one person</a:t>
            </a:r>
            <a:endParaRPr lang="en-US" altLang="en-US" dirty="0">
              <a:solidFill>
                <a:srgbClr val="000000"/>
              </a:solidFill>
              <a:latin typeface="Arial" panose="020B060402020202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551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a:solidFill>
                  <a:srgbClr val="000000"/>
                </a:solidFill>
                <a:latin typeface="Arial" panose="020B0604020202020204" pitchFamily="34" charset="0"/>
              </a:rPr>
              <a:t>Determining the data to be collected or described—if irrelevant data are gathered, then time and money are wasted in the collection, storage, and analysis of useless data.</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Determining the population to be sampled—must determine what the population is.</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Choosing the type of sample—there are four types of samples: convenience, purposive, simple, and complex.</a:t>
            </a:r>
          </a:p>
          <a:p>
            <a:pPr marL="628650" lvl="1" indent="-171450">
              <a:buFontTx/>
              <a:buChar char="•"/>
            </a:pPr>
            <a:r>
              <a:rPr lang="en-US" altLang="en-US" sz="1000" dirty="0">
                <a:solidFill>
                  <a:srgbClr val="000000"/>
                </a:solidFill>
                <a:latin typeface="Arial" panose="020B0604020202020204" pitchFamily="34" charset="0"/>
              </a:rPr>
              <a:t>convenience samples—unrestricted, nonprobability samples, easiest to arrange but also the most unreliable</a:t>
            </a:r>
          </a:p>
          <a:p>
            <a:pPr marL="628650" lvl="1" indent="-171450">
              <a:buFontTx/>
              <a:buChar char="•"/>
            </a:pPr>
            <a:r>
              <a:rPr lang="en-US" altLang="en-US" sz="1000" dirty="0">
                <a:solidFill>
                  <a:srgbClr val="000000"/>
                </a:solidFill>
                <a:latin typeface="Arial" panose="020B0604020202020204" pitchFamily="34" charset="0"/>
              </a:rPr>
              <a:t>purposive samples—based on judgment, moderately reliable</a:t>
            </a:r>
          </a:p>
          <a:p>
            <a:pPr marL="628650" lvl="1" indent="-171450">
              <a:buFontTx/>
              <a:buChar char="•"/>
            </a:pPr>
            <a:r>
              <a:rPr lang="en-US" altLang="en-US" sz="1000" dirty="0">
                <a:solidFill>
                  <a:srgbClr val="000000"/>
                </a:solidFill>
                <a:latin typeface="Arial" panose="020B0604020202020204" pitchFamily="34" charset="0"/>
              </a:rPr>
              <a:t>simple—need a numbered list of the population to ensure an equal chance of being selected, often not practical</a:t>
            </a:r>
          </a:p>
          <a:p>
            <a:pPr marL="628650" lvl="1" indent="-171450">
              <a:buFontTx/>
              <a:buChar char="•"/>
            </a:pPr>
            <a:r>
              <a:rPr lang="en-US" altLang="en-US" sz="1000" dirty="0">
                <a:solidFill>
                  <a:srgbClr val="000000"/>
                </a:solidFill>
                <a:latin typeface="Arial" panose="020B0604020202020204" pitchFamily="34" charset="0"/>
              </a:rPr>
              <a:t>complex random samples:</a:t>
            </a:r>
          </a:p>
          <a:p>
            <a:pPr marL="1085850" lvl="2" indent="-171450">
              <a:buFont typeface="Wingdings" panose="05000000000000000000" pitchFamily="2" charset="2"/>
              <a:buChar char="§"/>
            </a:pPr>
            <a:r>
              <a:rPr lang="en-US" altLang="en-US" sz="1000" dirty="0">
                <a:solidFill>
                  <a:srgbClr val="000000"/>
                </a:solidFill>
                <a:latin typeface="Arial" panose="020B0604020202020204" pitchFamily="34" charset="0"/>
              </a:rPr>
              <a:t>systematic—example might be to select every </a:t>
            </a:r>
            <a:r>
              <a:rPr lang="en-US" altLang="en-US" sz="1000" i="1" dirty="0">
                <a:solidFill>
                  <a:srgbClr val="000000"/>
                </a:solidFill>
                <a:latin typeface="Arial" panose="020B0604020202020204" pitchFamily="34" charset="0"/>
              </a:rPr>
              <a:t>k</a:t>
            </a:r>
            <a:r>
              <a:rPr lang="en-US" altLang="en-US" sz="1000" dirty="0">
                <a:solidFill>
                  <a:srgbClr val="000000"/>
                </a:solidFill>
                <a:latin typeface="Arial" panose="020B0604020202020204" pitchFamily="34" charset="0"/>
              </a:rPr>
              <a:t>th person</a:t>
            </a:r>
          </a:p>
          <a:p>
            <a:pPr marL="1085850" lvl="2" indent="-171450">
              <a:buFont typeface="Wingdings" panose="05000000000000000000" pitchFamily="2" charset="2"/>
              <a:buChar char="§"/>
            </a:pPr>
            <a:r>
              <a:rPr lang="en-US" altLang="en-US" sz="1000" dirty="0">
                <a:solidFill>
                  <a:srgbClr val="000000"/>
                </a:solidFill>
                <a:latin typeface="Arial" panose="020B0604020202020204" pitchFamily="34" charset="0"/>
              </a:rPr>
              <a:t>stratified—process of identifying subpopulations, or strata, and then selecting from these subpopulations </a:t>
            </a:r>
          </a:p>
          <a:p>
            <a:pPr marL="1085850" lvl="2" indent="-171450">
              <a:buFont typeface="Wingdings" panose="05000000000000000000" pitchFamily="2" charset="2"/>
              <a:buChar char="§"/>
            </a:pPr>
            <a:r>
              <a:rPr lang="en-US" altLang="en-US" sz="1000" dirty="0">
                <a:solidFill>
                  <a:srgbClr val="000000"/>
                </a:solidFill>
                <a:latin typeface="Arial" panose="020B0604020202020204" pitchFamily="34" charset="0"/>
              </a:rPr>
              <a:t>cluster—select a group representative of all the groups of that type</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Deciding on the sample size—needs to be greater then 1 but less than the size of the population itself. The absolute number is more important then the percentage of the population.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2248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r>
              <a:rPr lang="en-US" sz="1200" noProof="0" dirty="0" smtClean="0">
                <a:solidFill>
                  <a:srgbClr val="000000"/>
                </a:solidFill>
                <a:effectLst/>
                <a:latin typeface="Times New Roman" panose="02020603050405020304" pitchFamily="18" charset="0"/>
                <a:ea typeface="Times New Roman" panose="02020603050405020304" pitchFamily="18" charset="0"/>
              </a:rPr>
              <a:t>The table shows information in three columns, with the first column listing how sample elements are chosen and the other two headings reading not based on probability; and based on probability. The information depicted is as follows.</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1. Sample elements are selected directly without restrictions: Convenience; Simple random.</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Sample elements are selected according to specific criteria:  Purposive, Complex random (systematic, stratified, and cluster) </a:t>
            </a:r>
            <a:br>
              <a:rPr lang="en-US" sz="1200" noProof="0" dirty="0" smtClean="0">
                <a:solidFill>
                  <a:srgbClr val="000000"/>
                </a:solidFill>
                <a:effectLst/>
                <a:latin typeface="Times New Roman" panose="02020603050405020304" pitchFamily="18" charset="0"/>
                <a:ea typeface="Times New Roman" panose="02020603050405020304" pitchFamily="18" charset="0"/>
              </a:rPr>
            </a:br>
            <a:endParaRPr lang="en-US" noProof="0" dirty="0" smtClean="0"/>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78315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sample size often depends on the cost involved or the time required by the systems analysts, or even the time available by people in the organization.</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Determine the attribute—determine the attribute to sample.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Locate the database or reports in which the attribute can be found—find out where the data is stored; database, on a form, or in a report.</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Examine the attribute—estimate  </a:t>
            </a:r>
            <a:r>
              <a:rPr lang="el-GR" altLang="en-US" dirty="0">
                <a:solidFill>
                  <a:srgbClr val="000000"/>
                </a:solidFill>
                <a:latin typeface="Arial" panose="020B0604020202020204" pitchFamily="34" charset="0"/>
                <a:cs typeface="Arial" panose="020B0604020202020204" pitchFamily="34" charset="0"/>
              </a:rPr>
              <a:t>ρ</a:t>
            </a:r>
            <a:r>
              <a:rPr lang="en-US" altLang="en-US" dirty="0">
                <a:solidFill>
                  <a:srgbClr val="000000"/>
                </a:solidFill>
                <a:latin typeface="Arial" panose="020B0604020202020204" pitchFamily="34" charset="0"/>
                <a:cs typeface="Arial" panose="020B0604020202020204" pitchFamily="34" charset="0"/>
              </a:rPr>
              <a:t>, the proportion of the population having the attribute. A value of .10 generally results in an acceptable sample size.</a:t>
            </a:r>
          </a:p>
          <a:p>
            <a:pPr lvl="0"/>
            <a:endParaRPr lang="en-US" altLang="en-US" dirty="0">
              <a:solidFill>
                <a:srgbClr val="000000"/>
              </a:solidFill>
              <a:latin typeface="Arial" panose="020B0604020202020204" pitchFamily="34" charset="0"/>
              <a:cs typeface="Arial" panose="020B0604020202020204" pitchFamily="34" charset="0"/>
            </a:endParaRPr>
          </a:p>
          <a:p>
            <a:pPr lvl="0"/>
            <a:r>
              <a:rPr lang="en-US" altLang="en-US" dirty="0">
                <a:solidFill>
                  <a:srgbClr val="000000"/>
                </a:solidFill>
                <a:latin typeface="Arial" panose="020B0604020202020204" pitchFamily="34" charset="0"/>
              </a:rPr>
              <a:t>Make the subjective decision regarding the acceptable interval estimate—this is purely a subjective decision. An interval estimate (i) of </a:t>
            </a:r>
            <a:r>
              <a:rPr lang="en-US" altLang="en-US" dirty="0">
                <a:solidFill>
                  <a:srgbClr val="000000"/>
                </a:solidFill>
                <a:latin typeface="Arial" panose="020B0604020202020204" pitchFamily="34" charset="0"/>
                <a:cs typeface="Arial" panose="020B0604020202020204" pitchFamily="34" charset="0"/>
              </a:rPr>
              <a:t>± .10 means an error of no more than 0.10 in either direction from the actual proportion, </a:t>
            </a:r>
            <a:r>
              <a:rPr lang="el-GR" altLang="en-US" dirty="0">
                <a:solidFill>
                  <a:srgbClr val="000000"/>
                </a:solidFill>
                <a:latin typeface="Arial" panose="020B0604020202020204" pitchFamily="34" charset="0"/>
                <a:cs typeface="Arial" panose="020B0604020202020204" pitchFamily="34" charset="0"/>
              </a:rPr>
              <a:t>ρ</a:t>
            </a:r>
            <a:r>
              <a:rPr lang="en-US" altLang="en-US" dirty="0">
                <a:solidFill>
                  <a:srgbClr val="000000"/>
                </a:solidFill>
                <a:latin typeface="Arial" panose="020B0604020202020204" pitchFamily="34" charset="0"/>
                <a:cs typeface="Arial" panose="020B0604020202020204" pitchFamily="34" charset="0"/>
              </a:rPr>
              <a:t>.</a:t>
            </a:r>
          </a:p>
          <a:p>
            <a:pPr lvl="0"/>
            <a:endParaRPr lang="en-US" altLang="en-US" dirty="0">
              <a:solidFill>
                <a:srgbClr val="000000"/>
              </a:solidFill>
              <a:latin typeface="Arial" panose="020B0604020202020204" pitchFamily="34" charset="0"/>
              <a:cs typeface="Arial" panose="020B0604020202020204" pitchFamily="34" charset="0"/>
            </a:endParaRPr>
          </a:p>
          <a:p>
            <a:pPr lvl="0"/>
            <a:r>
              <a:rPr lang="en-US" altLang="en-US" dirty="0">
                <a:solidFill>
                  <a:srgbClr val="000000"/>
                </a:solidFill>
                <a:latin typeface="Arial" panose="020B0604020202020204" pitchFamily="34" charset="0"/>
              </a:rPr>
              <a:t>Choose the confidence level—the desired degree of certainty and then look up the confidence coefficient level (z value) in a table.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06835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smtClean="0">
                <a:solidFill>
                  <a:srgbClr val="000000"/>
                </a:solidFill>
                <a:latin typeface="Arial" panose="020B0604020202020204" pitchFamily="34" charset="0"/>
              </a:rPr>
              <a:t>The choice of the confidence level is purely subjective. It is the desired degree of certainty.</a:t>
            </a:r>
          </a:p>
          <a:p>
            <a:pPr lvl="0"/>
            <a:endParaRPr lang="en-US" altLang="en-US" noProof="0" dirty="0" smtClean="0">
              <a:solidFill>
                <a:srgbClr val="000000"/>
              </a:solidFill>
              <a:latin typeface="Arial" panose="020B0604020202020204" pitchFamily="34" charset="0"/>
            </a:endParaRPr>
          </a:p>
          <a:p>
            <a:pPr lvl="0"/>
            <a:r>
              <a:rPr lang="en-US" altLang="en-US" noProof="0" dirty="0" smtClean="0">
                <a:solidFill>
                  <a:srgbClr val="000000"/>
                </a:solidFill>
                <a:latin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The table shows information in two columns, Confidence Level and Confidence Coefficient (z value). The information depicted is: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99 percent; 2.58</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98; 2.33</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97; 2.17</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96; 2.05</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95; 1.96</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90; 1.65</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80; 1.28</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50; 0.67</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A note on the table reads, first decide on the confidence level and then look up the z value.</a:t>
            </a:r>
            <a:endParaRPr lang="en-US" sz="1200" noProof="0" dirty="0" smtClean="0">
              <a:effectLst/>
              <a:latin typeface="Calibri" panose="020F0502020204030204" pitchFamily="34" charset="0"/>
              <a:ea typeface="Calibri" panose="020F050202020403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2149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higher the confidence level the larger the sample size. If we increase the confidence level from 95 to 99% the sample size would increase from 458 to 1,827.</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25920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Hard data reveal where the organization has been and where its members believe it is going.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8079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All these documents have a specific purpose and audience for which they are targeted.</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0216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Sales reports—summarize the amount sold and the type of sales. They might include graphical output comparing revenue and income over a set number of periods.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Production reports—include recent costs, current inventory, recent labor, and plant information.</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Summary reports—provide background information, spot exceptions to normal occurrences, and afford strategic overviews of organizational plans.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13658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pPr marL="0" marR="0">
              <a:lnSpc>
                <a:spcPct val="115000"/>
              </a:lnSpc>
              <a:spcBef>
                <a:spcPts val="0"/>
              </a:spcBef>
              <a:spcAft>
                <a:spcPts val="0"/>
              </a:spcAft>
            </a:pPr>
            <a:r>
              <a:rPr lang="en-US" sz="1200" noProof="0" dirty="0" smtClean="0">
                <a:solidFill>
                  <a:srgbClr val="000000"/>
                </a:solidFill>
                <a:effectLst/>
                <a:latin typeface="Times New Roman" panose="02020603050405020304" pitchFamily="18" charset="0"/>
                <a:ea typeface="Times New Roman" panose="02020603050405020304" pitchFamily="18" charset="0"/>
              </a:rPr>
              <a:t>The table shows information in five columns, week, number of batches produced, number of batches rejected, percentage rejected, and amount away from 5 percent goal.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of 2: 245: 19: 7.8: 2.8</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of 9: 229: 19: 8.3: 3.3</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of 16: 219: 14: 6.3: 1.3</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of 23: 252: 13: 5.2: 0.2</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3 of 2: 245: 13: 5.3: 0.3</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3 of 9: 260: 13: 5.0: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3 of 16: 275: 14: 5.1: 0.1</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3 of 23: 260: 13: 5.0: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3 of 30: 260: 13: 5.0: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4 of 6: 244: 12: 4.9: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4 of 13: 242: 11: 4.5: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4 of 20: 249: 11: 4.4: asterisk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4 of 27: 249: 11: 4.4: asterisk</a:t>
            </a:r>
            <a:endParaRPr lang="en-US" sz="1200" noProof="0" dirty="0" smtClean="0">
              <a:effectLst/>
              <a:latin typeface="Calibri" panose="020F0502020204030204" pitchFamily="34" charset="0"/>
              <a:ea typeface="Calibri" panose="020F0502020204030204" pitchFamily="34" charset="0"/>
            </a:endParaRPr>
          </a:p>
          <a:p>
            <a:pPr marL="0" marR="0">
              <a:lnSpc>
                <a:spcPct val="115000"/>
              </a:lnSpc>
              <a:spcBef>
                <a:spcPts val="0"/>
              </a:spcBef>
              <a:spcAft>
                <a:spcPts val="0"/>
              </a:spcAft>
            </a:pPr>
            <a:r>
              <a:rPr lang="en-US" sz="1200" noProof="0" dirty="0" smtClean="0">
                <a:solidFill>
                  <a:srgbClr val="000000"/>
                </a:solidFill>
                <a:effectLst/>
                <a:latin typeface="Times New Roman" panose="02020603050405020304" pitchFamily="18" charset="0"/>
                <a:ea typeface="Times New Roman" panose="02020603050405020304" pitchFamily="18" charset="0"/>
              </a:rPr>
              <a:t> </a:t>
            </a:r>
            <a:endParaRPr lang="en-US" sz="1200" noProof="0" dirty="0" smtClean="0">
              <a:effectLst/>
              <a:latin typeface="Calibri" panose="020F0502020204030204" pitchFamily="34" charset="0"/>
              <a:ea typeface="Calibri" panose="020F0502020204030204" pitchFamily="34" charset="0"/>
            </a:endParaRPr>
          </a:p>
          <a:p>
            <a:pPr marL="0" marR="0">
              <a:lnSpc>
                <a:spcPct val="115000"/>
              </a:lnSpc>
              <a:spcBef>
                <a:spcPts val="0"/>
              </a:spcBef>
              <a:spcAft>
                <a:spcPts val="0"/>
              </a:spcAft>
            </a:pPr>
            <a:r>
              <a:rPr lang="en-US" sz="1200" noProof="0" dirty="0" smtClean="0">
                <a:solidFill>
                  <a:srgbClr val="000000"/>
                </a:solidFill>
                <a:effectLst/>
                <a:latin typeface="Times New Roman" panose="02020603050405020304" pitchFamily="18" charset="0"/>
                <a:ea typeface="Times New Roman" panose="02020603050405020304" pitchFamily="18" charset="0"/>
              </a:rPr>
              <a:t>Asterisk indicates met or exceeded the less than 5 percent goal.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A note pointing to the final column reads, performance reports shows goals ellipsis, and one pointing to the note concerning asterisk reads ellipsis and trends.</a:t>
            </a:r>
            <a:endParaRPr lang="en-US" sz="1200" noProof="0" dirty="0" smtClean="0">
              <a:effectLst/>
              <a:latin typeface="Calibri" panose="020F0502020204030204" pitchFamily="34" charset="0"/>
              <a:ea typeface="Calibri" panose="020F050202020403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15531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smtClean="0">
                <a:solidFill>
                  <a:srgbClr val="000000"/>
                </a:solidFill>
                <a:latin typeface="Arial" panose="020B0604020202020204" pitchFamily="34" charset="0"/>
              </a:rPr>
              <a:t>Ways to inspect a record:</a:t>
            </a:r>
          </a:p>
          <a:p>
            <a:pPr marL="628650" lvl="1" indent="-171450">
              <a:buFontTx/>
              <a:buChar char="•"/>
            </a:pPr>
            <a:r>
              <a:rPr lang="en-US" altLang="en-US" noProof="0" dirty="0" smtClean="0">
                <a:solidFill>
                  <a:srgbClr val="000000"/>
                </a:solidFill>
                <a:latin typeface="Arial" panose="020B0604020202020204" pitchFamily="34" charset="0"/>
              </a:rPr>
              <a:t>checking for errors in amounts and totals</a:t>
            </a:r>
          </a:p>
          <a:p>
            <a:pPr marL="628650" lvl="1" indent="-171450">
              <a:buFontTx/>
              <a:buChar char="•"/>
            </a:pPr>
            <a:r>
              <a:rPr lang="en-US" altLang="en-US" noProof="0" dirty="0" smtClean="0">
                <a:solidFill>
                  <a:srgbClr val="000000"/>
                </a:solidFill>
                <a:latin typeface="Arial" panose="020B0604020202020204" pitchFamily="34" charset="0"/>
              </a:rPr>
              <a:t>looking for opportunities for improving the recording form design</a:t>
            </a:r>
          </a:p>
          <a:p>
            <a:pPr marL="628650" lvl="1" indent="-171450">
              <a:buFontTx/>
              <a:buChar char="•"/>
            </a:pPr>
            <a:r>
              <a:rPr lang="en-US" altLang="en-US" noProof="0" dirty="0" smtClean="0">
                <a:solidFill>
                  <a:srgbClr val="000000"/>
                </a:solidFill>
                <a:latin typeface="Arial" panose="020B0604020202020204" pitchFamily="34" charset="0"/>
              </a:rPr>
              <a:t>observing the number and type of transaction</a:t>
            </a:r>
          </a:p>
          <a:p>
            <a:pPr marL="628650" lvl="1" indent="-171450">
              <a:buFontTx/>
              <a:buChar char="•"/>
            </a:pPr>
            <a:r>
              <a:rPr lang="en-US" altLang="en-US" noProof="0" dirty="0" smtClean="0">
                <a:solidFill>
                  <a:srgbClr val="000000"/>
                </a:solidFill>
                <a:latin typeface="Arial" panose="020B0604020202020204" pitchFamily="34" charset="0"/>
              </a:rPr>
              <a:t>watching for instances in which the computer can simplify the work</a:t>
            </a:r>
          </a:p>
          <a:p>
            <a:pPr marL="628650" lvl="1" indent="-171450">
              <a:buFontTx/>
              <a:buChar char="•"/>
            </a:pPr>
            <a:endParaRPr lang="en-US" altLang="en-US" noProof="0" dirty="0" smtClean="0">
              <a:solidFill>
                <a:srgbClr val="000000"/>
              </a:solidFill>
              <a:latin typeface="Arial" panose="020B0604020202020204" pitchFamily="34" charset="0"/>
            </a:endParaRPr>
          </a:p>
          <a:p>
            <a:pPr marL="0" lvl="0" indent="0">
              <a:buFontTx/>
              <a:buNone/>
            </a:pPr>
            <a:r>
              <a:rPr lang="en-US" altLang="en-US" noProof="0" dirty="0" smtClean="0">
                <a:solidFill>
                  <a:srgbClr val="000000"/>
                </a:solidFill>
                <a:latin typeface="Arial" panose="020B0604020202020204" pitchFamily="34" charset="0"/>
              </a:rPr>
              <a:t>Long Description:</a:t>
            </a:r>
          </a:p>
          <a:p>
            <a:pPr marL="0" marR="0">
              <a:lnSpc>
                <a:spcPct val="115000"/>
              </a:lnSpc>
              <a:spcBef>
                <a:spcPts val="0"/>
              </a:spcBef>
              <a:spcAft>
                <a:spcPts val="0"/>
              </a:spcAft>
            </a:pPr>
            <a:r>
              <a:rPr lang="en-US" sz="1800" noProof="0" dirty="0" smtClean="0">
                <a:solidFill>
                  <a:srgbClr val="000000"/>
                </a:solidFill>
                <a:effectLst/>
                <a:latin typeface="Times New Roman" panose="02020603050405020304" pitchFamily="18" charset="0"/>
                <a:ea typeface="Times New Roman" panose="02020603050405020304" pitchFamily="18" charset="0"/>
              </a:rPr>
              <a:t>A manual report shows information in a complex tabular report with many blank cells. For the report itself, see table tab.</a:t>
            </a:r>
            <a:endParaRPr lang="en-US" sz="1800" noProof="0" dirty="0" smtClean="0">
              <a:effectLst/>
              <a:latin typeface="Calibri" panose="020F0502020204030204" pitchFamily="34" charset="0"/>
              <a:ea typeface="Calibri" panose="020F0502020204030204" pitchFamily="34" charset="0"/>
            </a:endParaRPr>
          </a:p>
          <a:p>
            <a:pPr marL="0" marR="0">
              <a:lnSpc>
                <a:spcPct val="115000"/>
              </a:lnSpc>
              <a:spcBef>
                <a:spcPts val="0"/>
              </a:spcBef>
              <a:spcAft>
                <a:spcPts val="0"/>
              </a:spcAft>
            </a:pPr>
            <a:r>
              <a:rPr lang="en-US" sz="1800" noProof="0" dirty="0" smtClean="0">
                <a:solidFill>
                  <a:srgbClr val="000000"/>
                </a:solidFill>
                <a:effectLst/>
                <a:latin typeface="Times New Roman" panose="02020603050405020304" pitchFamily="18" charset="0"/>
                <a:ea typeface="Times New Roman" panose="02020603050405020304" pitchFamily="18" charset="0"/>
              </a:rPr>
              <a:t> </a:t>
            </a:r>
            <a:endParaRPr lang="en-US" sz="1800" noProof="0" dirty="0" smtClean="0">
              <a:effectLst/>
              <a:latin typeface="Calibri" panose="020F0502020204030204" pitchFamily="34" charset="0"/>
              <a:ea typeface="Calibri" panose="020F0502020204030204" pitchFamily="34" charset="0"/>
            </a:endParaRPr>
          </a:p>
          <a:p>
            <a:pPr marL="0" marR="0">
              <a:lnSpc>
                <a:spcPct val="115000"/>
              </a:lnSpc>
              <a:spcBef>
                <a:spcPts val="0"/>
              </a:spcBef>
              <a:spcAft>
                <a:spcPts val="0"/>
              </a:spcAft>
            </a:pPr>
            <a:r>
              <a:rPr lang="en-US" sz="1800" noProof="0" dirty="0" smtClean="0">
                <a:solidFill>
                  <a:srgbClr val="000000"/>
                </a:solidFill>
                <a:effectLst/>
                <a:latin typeface="Times New Roman" panose="02020603050405020304" pitchFamily="18" charset="0"/>
                <a:ea typeface="Times New Roman" panose="02020603050405020304" pitchFamily="18" charset="0"/>
              </a:rPr>
              <a:t>A note pointing to the project number says check for errors.  A second note says to look for opportunities for improvement in design. The lower part of the table has a note attached, reading observe the number and type of transactions, and another reads, watch for places the computer can simplify the work. </a:t>
            </a:r>
            <a:endParaRPr lang="en-US" sz="1800" noProof="0" dirty="0" smtClean="0">
              <a:effectLst/>
              <a:latin typeface="Calibri" panose="020F0502020204030204" pitchFamily="34" charset="0"/>
              <a:ea typeface="Calibri" panose="020F050202020403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03708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Blank forms can be compared with filled-in forms to:</a:t>
            </a:r>
          </a:p>
          <a:p>
            <a:pPr marL="628650" lvl="1" indent="-171450">
              <a:buFontTx/>
              <a:buChar char="•"/>
            </a:pPr>
            <a:r>
              <a:rPr lang="en-US" altLang="en-US" dirty="0">
                <a:solidFill>
                  <a:srgbClr val="000000"/>
                </a:solidFill>
                <a:latin typeface="Arial" panose="020B0604020202020204" pitchFamily="34" charset="0"/>
              </a:rPr>
              <a:t>see if any data items are consistently left blank</a:t>
            </a:r>
          </a:p>
          <a:p>
            <a:pPr marL="628650" lvl="1" indent="-171450">
              <a:buFontTx/>
              <a:buChar char="•"/>
            </a:pPr>
            <a:r>
              <a:rPr lang="en-US" altLang="en-US" dirty="0">
                <a:solidFill>
                  <a:srgbClr val="000000"/>
                </a:solidFill>
                <a:latin typeface="Arial" panose="020B0604020202020204" pitchFamily="34" charset="0"/>
              </a:rPr>
              <a:t>see if the people who are supposed to receive the forms actually do</a:t>
            </a:r>
          </a:p>
          <a:p>
            <a:pPr marL="628650" lvl="1" indent="-171450">
              <a:buFontTx/>
              <a:buChar char="•"/>
            </a:pPr>
            <a:r>
              <a:rPr lang="en-US" altLang="en-US" dirty="0">
                <a:solidFill>
                  <a:srgbClr val="000000"/>
                </a:solidFill>
                <a:latin typeface="Arial" panose="020B0604020202020204" pitchFamily="34" charset="0"/>
              </a:rPr>
              <a:t>see if standard procedures for using, storing, and discarding them are followed</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60700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mj-lt"/>
              <a:buAutoNum type="arabicPeriod"/>
              <a:defRPr/>
            </a:pPr>
            <a:r>
              <a:rPr lang="en-US" noProof="0" dirty="0" smtClean="0">
                <a:solidFill>
                  <a:srgbClr val="000000"/>
                </a:solidFill>
              </a:rPr>
              <a:t>Is the form filled out in its entirety?</a:t>
            </a:r>
          </a:p>
          <a:p>
            <a:pPr marL="228600" lvl="0" indent="-228600">
              <a:buFont typeface="+mj-lt"/>
              <a:buAutoNum type="arabicPeriod"/>
              <a:defRPr/>
            </a:pPr>
            <a:r>
              <a:rPr lang="en-US" noProof="0" dirty="0" smtClean="0">
                <a:solidFill>
                  <a:srgbClr val="000000"/>
                </a:solidFill>
              </a:rPr>
              <a:t>Are there forms that are never used? Why?</a:t>
            </a:r>
          </a:p>
          <a:p>
            <a:pPr marL="228600" lvl="0" indent="-228600">
              <a:buFont typeface="+mj-lt"/>
              <a:buAutoNum type="arabicPeriod"/>
              <a:defRPr/>
            </a:pPr>
            <a:r>
              <a:rPr lang="en-US" noProof="0" dirty="0" smtClean="0">
                <a:solidFill>
                  <a:srgbClr val="000000"/>
                </a:solidFill>
              </a:rPr>
              <a:t>Are all copies of forms circulated to the proper people or filled appropriately? If not, why not?</a:t>
            </a:r>
          </a:p>
          <a:p>
            <a:pPr marL="228600" lvl="0" indent="-228600">
              <a:buFont typeface="+mj-lt"/>
              <a:buAutoNum type="arabicPeriod"/>
              <a:defRPr/>
            </a:pPr>
            <a:r>
              <a:rPr lang="en-US" noProof="0" dirty="0" smtClean="0">
                <a:solidFill>
                  <a:srgbClr val="000000"/>
                </a:solidFill>
              </a:rPr>
              <a:t>If there is a paper form that is offered as an alternative to a Web-based form, compare the completion rates for both.</a:t>
            </a:r>
          </a:p>
          <a:p>
            <a:pPr marL="228600" lvl="0" indent="-228600">
              <a:buFont typeface="+mj-lt"/>
              <a:buAutoNum type="arabicPeriod"/>
              <a:defRPr/>
            </a:pPr>
            <a:r>
              <a:rPr lang="en-US" noProof="0" dirty="0" smtClean="0">
                <a:solidFill>
                  <a:srgbClr val="000000"/>
                </a:solidFill>
              </a:rPr>
              <a:t>Are “unofficial” forms used on a regular basis?</a:t>
            </a:r>
          </a:p>
          <a:p>
            <a:pPr marL="228600" lvl="0" indent="-228600">
              <a:buFont typeface="+mj-lt"/>
              <a:buAutoNum type="arabicPeriod"/>
              <a:defRPr/>
            </a:pPr>
            <a:endParaRPr lang="en-US" noProof="0" dirty="0" smtClean="0">
              <a:solidFill>
                <a:srgbClr val="000000"/>
              </a:solidFill>
            </a:endParaRPr>
          </a:p>
          <a:p>
            <a:pPr marL="0" lvl="0" indent="0">
              <a:buFont typeface="+mj-lt"/>
              <a:buNone/>
              <a:defRPr/>
            </a:pPr>
            <a:r>
              <a:rPr lang="en-US" noProof="0" dirty="0" smtClean="0">
                <a:solidFill>
                  <a:srgbClr val="000000"/>
                </a:solidFill>
              </a:rPr>
              <a:t>Long Description:</a:t>
            </a:r>
          </a:p>
          <a:p>
            <a:pPr marL="0" lvl="0" indent="0">
              <a:buFont typeface="+mj-lt"/>
              <a:buNone/>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The notes attached to the form read as follows. Official form can overwhelm people by asking for too much information. There may be no logical order to the form. Is the total really needed?  These are attached to a complex form for reordering shorted dairy products that lists various kinds of milk in both half gallons and quarts, yogurt in a dozen flavors, six varieties of ice cream, and information about the date, the store name, the store number, the employee number of the requester, total cases ordered, reason for shortage, and driver and route numbers. Below the original complex form is a simpler one, with a note reading, bootleg, forms arise to simplify the problem. It includes spaces for the store, date, and driver, blank lists for products shorted and cases needed, and the manager's initials. </a:t>
            </a:r>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90895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Includes email messages, memos, signs on bulletin boards and in the work areas, Web pages, procedure manuals, and policy handbooks.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2954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Corporate Web sites—examine the contents for metaphors, humor, use of design features, and the meaning and clarity of any messages provided.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Manuals—present the “idea,” the way machines and people are expected to behave.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Policy handbooks—allows the systems analyst to gain an awareness of the values, attitudes, and beliefs guiding the company.</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4371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smtClean="0">
                <a:solidFill>
                  <a:srgbClr val="000000"/>
                </a:solidFill>
                <a:latin typeface="Arial" panose="020B0604020202020204" pitchFamily="34" charset="0"/>
              </a:rPr>
              <a:t>Memos reveal a lively, continuing dialogue in the organization.</a:t>
            </a:r>
          </a:p>
          <a:p>
            <a:pPr lvl="0"/>
            <a:endParaRPr lang="en-US" altLang="en-US" noProof="0" dirty="0" smtClean="0">
              <a:solidFill>
                <a:srgbClr val="000000"/>
              </a:solidFill>
              <a:latin typeface="Arial" panose="020B0604020202020204" pitchFamily="34" charset="0"/>
            </a:endParaRPr>
          </a:p>
          <a:p>
            <a:pPr lvl="0"/>
            <a:r>
              <a:rPr lang="en-US" altLang="en-US" noProof="0" dirty="0" smtClean="0">
                <a:solidFill>
                  <a:srgbClr val="000000"/>
                </a:solidFill>
                <a:latin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Memo.</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To: All Night Call Desk Staff</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From: S. Leep, Night Manager</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Date: 2/15/2018</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Re: Get Acquainted Party Tonight</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It’s a pleasure to welcome two new 11-7 Call Desk staff members, Twyla Tine and Al Knight. I’m sure they’ll enjoy working here. Being together in the wee hours makes us feel like one big happy family. Remember for your breaks tonight that some of the crew has brought in food. Help yourself to the spread you find in the break room, and welcome to the clan, Twyla and Al.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The text highlighted in the above memo is they’ll enjoy working here, being together, one big family, help yourself, and welcome to. </a:t>
            </a:r>
            <a:endParaRPr lang="en-US" sz="1200" noProof="0" dirty="0" smtClean="0">
              <a:effectLst/>
              <a:latin typeface="Calibri" panose="020F0502020204030204" pitchFamily="34" charset="0"/>
              <a:ea typeface="Calibri" panose="020F050202020403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1196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The illustration shows concepts in main area of the screen depicted in spheres. It shows the relationships between different concepts, with multiple interconnections among them. The right pane of the screen shows five tabs, themes, concepts, thesaurus, pathway and query. Themes tab is selected and shows a thematic summary showing information in three columns, theme, connectivity and relevance; and theme: source (source, team, working, code, development, people, product, H P) information.</a:t>
            </a:r>
            <a:endParaRPr lang="en-US" sz="1200" noProof="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005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The illustration shows two categories, community and license. Both categories show a table with four columns, with column heads concept, relative frequency (in percent), strength (in percent) and prominence. The information depicted is as follows.</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1. Category: community</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1, development; 2; 5; 4.1. A horizontal bar is highlighted up to little less than a half.</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2, information; 2; 5; 4.1. A horizontal bar is highlighted up to little less than a half.</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3, source; 4; 4: 2.9. A horizontal bar is highlighted up to about one fourth.</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4, system: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5, project: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6, team;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7, organization;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8, product;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2. Category: license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1, project; 11; 4; 8.6. A horizontal bar is highlighted completely.</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2, system; 5; 3; 7.1. A horizontal bar is highlighted to a little less than complete.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3, source; 5; 2; 3.7. A horizontal bar is highlighted to a little less than half.</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4, team;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5, organization;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6, development;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7, product; less than 1; less than 1; 0.0. A horizontal bar is blank.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Row 8, information; less than 1: less than 1: 0.0. A horizontal bar is blank.</a:t>
            </a:r>
            <a:endParaRPr lang="en-US" sz="1200" noProof="0" dirty="0" smtClean="0">
              <a:effectLst/>
              <a:latin typeface="Calibri" panose="020F0502020204030204" pitchFamily="34" charset="0"/>
              <a:ea typeface="Calibri" panose="020F0502020204030204" pitchFamily="34" charset="0"/>
            </a:endParaRPr>
          </a:p>
          <a:p>
            <a:endParaRPr lang="en-US" noProof="0" dirty="0" smtClean="0"/>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762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There are several organizations that provide process mining applications on the market.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Using process mining software, analysis can be done automatically reducing costs and saving time.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cap="none" baseline="0" dirty="0">
              <a:solidFill>
                <a:schemeClr val="dk1"/>
              </a:solidFill>
              <a:latin typeface="Arial"/>
              <a:ea typeface="Arial"/>
              <a:cs typeface="Arial"/>
              <a:sym typeface="Arial"/>
            </a:endParaRPr>
          </a:p>
          <a:p>
            <a:pPr algn="l"/>
            <a:r>
              <a:rPr lang="en-US" dirty="0"/>
              <a:t> </a:t>
            </a:r>
          </a:p>
          <a:p>
            <a:pPr algn="l"/>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017508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a:t>
            </a:r>
            <a:r>
              <a:rPr lang="en-US" dirty="0" smtClean="0">
                <a:hlinkClick r:id="rId3" tooltip="https://www.uipath.com/"/>
              </a:rPr>
              <a:t>UIPath.com</a:t>
            </a:r>
            <a:r>
              <a:rPr lang="en-US" dirty="0" smtClean="0"/>
              <a:t>, </a:t>
            </a:r>
            <a:r>
              <a:rPr lang="en-US" dirty="0"/>
              <a:t>there are four steps to process mining.</a:t>
            </a:r>
          </a:p>
          <a:p>
            <a:pPr algn="l"/>
            <a:endParaRPr lang="en-US" dirty="0"/>
          </a:p>
          <a:p>
            <a:pPr marL="0" indent="0" algn="l">
              <a:buFont typeface="+mj-lt"/>
              <a:buNone/>
            </a:pPr>
            <a:r>
              <a:rPr lang="en-US" dirty="0"/>
              <a:t>In the Discovery step, </a:t>
            </a:r>
            <a:r>
              <a:rPr lang="en-US" sz="1200" b="0" i="0" u="none" strike="noStrike" baseline="0" dirty="0">
                <a:latin typeface="TimesLTPro-Roman"/>
              </a:rPr>
              <a:t>the process-mining app reads the data collected and creates an event log which tracks what event happened and when.</a:t>
            </a:r>
          </a:p>
          <a:p>
            <a:pPr marL="0" indent="0" algn="l">
              <a:buFont typeface="+mj-lt"/>
              <a:buNone/>
            </a:pPr>
            <a:r>
              <a:rPr lang="en-US" sz="1200" b="0" i="0" u="none" strike="noStrike" baseline="0" dirty="0">
                <a:latin typeface="TimesLTPro-Roman"/>
              </a:rPr>
              <a:t> </a:t>
            </a:r>
          </a:p>
          <a:p>
            <a:pPr marL="0" indent="0" algn="l">
              <a:buFont typeface="+mj-lt"/>
              <a:buNone/>
            </a:pPr>
            <a:r>
              <a:rPr lang="en-US" sz="1200" b="0" i="0" u="none" strike="noStrike" baseline="0" dirty="0">
                <a:latin typeface="TimesLTPro-Roman"/>
              </a:rPr>
              <a:t>In the Optimize/Automate step, improvement takes place.</a:t>
            </a:r>
          </a:p>
          <a:p>
            <a:pPr marL="0" indent="0" algn="l">
              <a:buFont typeface="+mj-lt"/>
              <a:buNone/>
            </a:pPr>
            <a:endParaRPr lang="en-US" sz="1200" b="0" i="0" u="none" strike="noStrike" baseline="0" dirty="0">
              <a:latin typeface="TimesLTPro-Roman"/>
            </a:endParaRPr>
          </a:p>
          <a:p>
            <a:pPr algn="l"/>
            <a:r>
              <a:rPr lang="en-US" sz="1200" b="0" i="0" u="none" strike="noStrike" baseline="0" dirty="0">
                <a:latin typeface="TimesLTPro-Roman"/>
              </a:rPr>
              <a:t>In the Monitor step, the systems analyst observes and determines what effect the optimize/automate phase had on the path.</a:t>
            </a:r>
          </a:p>
          <a:p>
            <a:pPr algn="l"/>
            <a:endParaRPr lang="en-US" sz="1200" b="0" i="0" u="none" strike="noStrike" baseline="0" dirty="0">
              <a:latin typeface="TimesLTPro-Roman"/>
            </a:endParaRPr>
          </a:p>
          <a:p>
            <a:pPr algn="l"/>
            <a:r>
              <a:rPr lang="en-US" sz="1200" b="0" i="0" u="none" strike="noStrike" baseline="0" dirty="0">
                <a:latin typeface="TimesLTPro-Roman"/>
              </a:rPr>
              <a:t>The last step, Act, gives the company the incentive to move forward with any changes that are needed based on the previous steps.</a:t>
            </a:r>
          </a:p>
          <a:p>
            <a:pPr marL="0" indent="0" algn="l">
              <a:buFont typeface="+mj-lt"/>
              <a:buNone/>
            </a:pPr>
            <a:endParaRPr lang="en-US" sz="1200" b="0" i="0" u="none" strike="noStrike" baseline="0" dirty="0">
              <a:latin typeface="TimesLTPro-Roman"/>
            </a:endParaRPr>
          </a:p>
          <a:p>
            <a:pPr marL="0" indent="0" algn="l">
              <a:buFont typeface="+mj-lt"/>
              <a:buNone/>
            </a:pPr>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90989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Celonis is the leading organization in process mining controlling 60 percent of the market.</a:t>
            </a:r>
          </a:p>
          <a:p>
            <a:endParaRPr lang="en-US" dirty="0"/>
          </a:p>
          <a:p>
            <a:pPr algn="l"/>
            <a:r>
              <a:rPr lang="en-US" dirty="0"/>
              <a:t>Celonis defines process mining as “</a:t>
            </a:r>
            <a:r>
              <a:rPr lang="en-US" sz="1200" b="0" i="0" u="none" strike="noStrike" baseline="0" dirty="0">
                <a:latin typeface="TimesLTPro-Roman"/>
              </a:rPr>
              <a:t>an analytical discipline for discovering, monitoring, and improving business processes as they actually are-not as you think they might be.”</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6006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shown is too complicated and may be causing delays, returns, and billing issues.</a:t>
            </a:r>
          </a:p>
          <a:p>
            <a:endParaRPr lang="en-US" dirty="0"/>
          </a:p>
          <a:p>
            <a:r>
              <a:rPr lang="en-US" dirty="0"/>
              <a:t>Long Description:</a:t>
            </a:r>
          </a:p>
          <a:p>
            <a:pPr marL="0" marR="0">
              <a:lnSpc>
                <a:spcPct val="115000"/>
              </a:lnSpc>
              <a:spcBef>
                <a:spcPts val="1500"/>
              </a:spcBef>
              <a:spcAft>
                <a:spcPts val="1000"/>
              </a:spcAft>
            </a:pPr>
            <a:r>
              <a:rPr lang="en-US" sz="1200" dirty="0">
                <a:effectLst/>
                <a:latin typeface="Times New Roman" panose="02020603050405020304" pitchFamily="18" charset="0"/>
                <a:ea typeface="Times New Roman" panose="02020603050405020304" pitchFamily="18" charset="0"/>
              </a:rPr>
              <a:t>The title of the page is 3, Working capital. The left pane shows the diagram starting with create sales order, going down vertically and in branches through various process of approve credit check, generate delivery document, change price, set delivery block, release delivery, receive delivery confirmation, ship goods, return goods, send invoice, clear invoice, delivery date passed, and end.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right pane shows The K P I overview as follows. Days sales outstanding, 43 days. Improvement opportunity, 5.2 million dollars. S O items, 1.3 million. Net order value, 3.0 billion dollars. A bar graph for days sales outstanding by the top organizations of different countries is shown. The data depicts the following information. Sales organization, S O items, Days sales outstanding.</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6000 U S A, 350,000, 48 days.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8000 France, 250,000, 38 days.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3000 South Africa, 198,000, 29 days.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4000 Norway, 120,000, 20 days.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2000 Poland, 100,000, 14 days.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All values are approximates.</a:t>
            </a:r>
            <a:endParaRPr lang="en-US" sz="1200" dirty="0">
              <a:effectLst/>
              <a:latin typeface="Calibri" panose="020F0502020204030204" pitchFamily="34" charset="0"/>
              <a:ea typeface="Calibri" panose="020F0502020204030204" pitchFamily="34" charset="0"/>
            </a:endParaRP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94490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effectLst/>
                <a:latin typeface="Times New Roman" panose="02020603050405020304" pitchFamily="18" charset="0"/>
                <a:ea typeface="Times New Roman" panose="02020603050405020304" pitchFamily="18" charset="0"/>
              </a:rPr>
              <a:t>The title of the page is 4, results, reduce resources and automate activity. Four bar graphs are shown on the left panel. The vertical axis of all the graphs ranges from 0 to 4000 in increments of 1000 and the horizontal axis ranges from 0.5 to 5 in increments of 0.5. The first graph is titled, process cycle times distribution, the second graph is process cost distribution in dollars, the third graph is process cycle times distribution, simulated, and the fourth is process cost distribution, simulated. The right panel shows two process diagrams. </a:t>
            </a:r>
            <a:endParaRPr lang="en-US" sz="1200" dirty="0">
              <a:effectLst/>
              <a:latin typeface="Calibri" panose="020F0502020204030204" pitchFamily="34" charset="0"/>
              <a:ea typeface="Calibri" panose="020F0502020204030204" pitchFamily="34" charset="0"/>
            </a:endParaRP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1165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LTPro-Roman"/>
              </a:rPr>
              <a:t>Examples of popular task-mining software include Microsoft Viva, Allactivity, and Activtrak. </a:t>
            </a:r>
          </a:p>
          <a:p>
            <a:pPr algn="l"/>
            <a:endParaRPr lang="en-US" sz="1800" b="0" i="0" u="none" strike="noStrike" baseline="0" dirty="0">
              <a:latin typeface="TimesLTPro-Roman"/>
            </a:endParaRPr>
          </a:p>
          <a:p>
            <a:pPr algn="l"/>
            <a:r>
              <a:rPr lang="en-US" dirty="0"/>
              <a:t>When used side-by-side with process mining and task mining are valued ways to keep systems running smoothly,</a:t>
            </a:r>
            <a:endParaRPr lang="en-US" b="0"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070322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Workforce analytics have become more sophisticated and revealing allowing managers the ability to automate collecting information about workloads and performance.</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80047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TimesLTPro-Roman"/>
              </a:rPr>
              <a:t>For managers and systems analysts, workforce analytics can assist them to better understand what happens on a normal workday and help ensure that workers are in the right place performing the right tasks.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0475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Observing the decision maker; the decision maker’s physical environment; and their interaction with their physical, ergonomic environment are important unobtrusive methods.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67559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Observation allows the analyst to see firsthand how managers gather, process, share, and use information and technology to get work done.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541154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Top of the page shows the information: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Playscript: Company: Solid Steel Shelving. Scenario: Quality Assurance.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Analysis:    Analyst: L. Bracket. Date: 1/3/2023.</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Below it, the table shows two columns, depicting Decision Maker (Actor) and Information-Related Activity (Script).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Asks shop floor supervisor for the day’s production report.</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Shop Floor Supervisor: Prints out daily computerized production report.</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Shop Floor Supervisor: Discusses recurring problems in production runs with quality assurance (Q A) manager.</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Reads production report.</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Compares current report with other reports from the same week.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Inputs data from daily production run into Q A model on computer.</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Observes onscreen results of Q A model.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Calls steel suppliers to discuss deviations from quality standards.</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Shop Floor Supervisor: Attends meeting on new quality specifications with quality assurance manager and vice president of production.</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Drafts letter to inform suppliers on new quality specifications agreed on in meeting.</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Sends draft to vice president via email.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Vice President of Production: Reads drafted letter.</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Vice President of Production: Returns corrections and comments via email.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Reads corrected letter on email.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Quality Assurance Manager: Rewrites letter to reflect changes.</a:t>
            </a:r>
            <a:endParaRPr lang="en-US" sz="1200" noProof="0" dirty="0" smtClean="0">
              <a:effectLst/>
              <a:latin typeface="Calibri" panose="020F0502020204030204" pitchFamily="34" charset="0"/>
              <a:ea typeface="Calibri" panose="020F0502020204030204" pitchFamily="34" charset="0"/>
            </a:endParaRPr>
          </a:p>
          <a:p>
            <a:endParaRPr lang="en-US" noProof="0" dirty="0" smtClean="0"/>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228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Observing the physical environment also reveals much about decision makers’ human information requirements.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90935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These elements can reveal much about the way a decision maker gathers, processes, stores, and shares information, as well as about the decision maker’s credibility in the workplace.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2149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One way to implement STROBE is through the use of an anecdotal checklist with meaningful shorthand symbols.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795159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smtClean="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smtClean="0">
                <a:solidFill>
                  <a:srgbClr val="000000"/>
                </a:solidFill>
                <a:effectLst/>
                <a:latin typeface="Times New Roman" panose="02020603050405020304" pitchFamily="18" charset="0"/>
                <a:ea typeface="Times New Roman" panose="02020603050405020304" pitchFamily="18" charset="0"/>
              </a:rPr>
              <a:t>The following symbol key depicts: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Check-mark symbol: Confirm the narrative.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Cross symbol: Negate or reverse the narrative.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Eye symbol (horizontal oval over symbol): Cue to look further.</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Square symbol: Modify the narrative.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Circle symbol: Supplement the narrative.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The table shows an Anecdotal list with symbols for applying STROBE. There are four columns in the table, with column heads, narrative portrayed by organization members, office location and equipment, office lighting, color and graphics, and clothing of the decision maker. Under each entry in each row is a gray circle for the user to mark.</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Information is readily flowing on all levels: Cross symbol: blank circle; blank circle.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Adams says, "I figure out the percentages myself.": Cross symbol; blank circle; blank circle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Vinnie says, “I like to read up on these things.”: Check symbol; blank circle; blank circle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Ed says, “The right hand doesn’t always know what the left hand is doing.”; Eye symbol; blank circle: blank circle.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Adams says, “Our company doesn’t change much.”: blank circle; Check symbol; blank circle.</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The operations staff works all night sometimes: blank circle; Eye symbol; </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Vinnie says, “We do things the way Mr. Adams wants to.” blank circle; blank circle; Square symbol.</a:t>
            </a:r>
            <a:br>
              <a:rPr lang="en-US" sz="1200" noProof="0" dirty="0" smtClean="0">
                <a:solidFill>
                  <a:srgbClr val="000000"/>
                </a:solidFill>
                <a:effectLst/>
                <a:latin typeface="Times New Roman" panose="02020603050405020304" pitchFamily="18" charset="0"/>
                <a:ea typeface="Times New Roman" panose="02020603050405020304" pitchFamily="18" charset="0"/>
              </a:rPr>
            </a:br>
            <a:r>
              <a:rPr lang="en-US" sz="1200" noProof="0" dirty="0" smtClean="0">
                <a:solidFill>
                  <a:srgbClr val="000000"/>
                </a:solidFill>
                <a:effectLst/>
                <a:latin typeface="Times New Roman" panose="02020603050405020304" pitchFamily="18" charset="0"/>
                <a:ea typeface="Times New Roman" panose="02020603050405020304" pitchFamily="18" charset="0"/>
              </a:rPr>
              <a:t>Julie says, “Stanley doesn’t seem to care sometimes.” blank circle; blank circle: Check symbol.</a:t>
            </a:r>
            <a:endParaRPr lang="en-US" sz="1200" noProof="0" dirty="0" smtClean="0">
              <a:effectLst/>
              <a:latin typeface="Calibri" panose="020F0502020204030204" pitchFamily="34" charset="0"/>
              <a:ea typeface="Calibri" panose="020F0502020204030204" pitchFamily="34" charset="0"/>
            </a:endParaRPr>
          </a:p>
          <a:p>
            <a:endParaRPr lang="en-US" noProof="0" dirty="0" smtClean="0"/>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211579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3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66594434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4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5">
            <a:extLst>
              <a:ext uri="{FF2B5EF4-FFF2-40B4-BE49-F238E27FC236}">
                <a16:creationId xmlns:a16="http://schemas.microsoft.com/office/drawing/2014/main" id="{9613E62D-CC5C-4655-80D4-20A09AE6BBC1}"/>
              </a:ext>
            </a:extLst>
          </p:cNvPr>
          <p:cNvSpPr>
            <a:spLocks noGrp="1"/>
          </p:cNvSpPr>
          <p:nvPr>
            <p:ph type="body" sz="quarter" idx="17"/>
          </p:nvPr>
        </p:nvSpPr>
        <p:spPr>
          <a:xfrm>
            <a:off x="457200" y="4138138"/>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14">
            <a:extLst>
              <a:ext uri="{FF2B5EF4-FFF2-40B4-BE49-F238E27FC236}">
                <a16:creationId xmlns:a16="http://schemas.microsoft.com/office/drawing/2014/main" id="{4FF79913-B31B-4969-A074-439CCBADEF24}"/>
              </a:ext>
            </a:extLst>
          </p:cNvPr>
          <p:cNvSpPr>
            <a:spLocks noGrp="1"/>
          </p:cNvSpPr>
          <p:nvPr>
            <p:ph sz="quarter" idx="18"/>
          </p:nvPr>
        </p:nvSpPr>
        <p:spPr>
          <a:xfrm>
            <a:off x="457200" y="4809649"/>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5991413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2024, 2019, 2014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83" r:id="rId10"/>
    <p:sldLayoutId id="2147483684"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0.wmf"/><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www.uipath.com/"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0"/>
              </a:ext>
            </a:extLst>
          </p:cNvPr>
          <p:cNvSpPr>
            <a:spLocks noGrp="1"/>
          </p:cNvSpPr>
          <p:nvPr>
            <p:ph type="title"/>
          </p:nvPr>
        </p:nvSpPr>
        <p:spPr>
          <a:xfrm>
            <a:off x="457200" y="193170"/>
            <a:ext cx="8305800" cy="888424"/>
          </a:xfrm>
        </p:spPr>
        <p:txBody>
          <a:bodyPr anchor="ctr"/>
          <a:lstStyle/>
          <a:p>
            <a:pPr>
              <a:lnSpc>
                <a:spcPct val="90000"/>
              </a:lnSpc>
              <a:spcBef>
                <a:spcPts val="600"/>
              </a:spcBef>
              <a:spcAft>
                <a:spcPts val="125"/>
              </a:spcAft>
            </a:pPr>
            <a:r>
              <a:rPr lang="en-US" dirty="0"/>
              <a:t>Systems Analysis &amp; Design</a:t>
            </a:r>
            <a:endParaRPr lang="en-US" dirty="0">
              <a:solidFill>
                <a:schemeClr val="tx2"/>
              </a:solidFill>
            </a:endParaRP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0"/>
              </a:ext>
            </a:extLst>
          </p:cNvPr>
          <p:cNvSpPr>
            <a:spLocks noGrp="1"/>
          </p:cNvSpPr>
          <p:nvPr>
            <p:ph type="body" idx="1"/>
          </p:nvPr>
        </p:nvSpPr>
        <p:spPr>
          <a:xfrm>
            <a:off x="457200" y="1167996"/>
            <a:ext cx="8229600" cy="403109"/>
          </a:xfrm>
        </p:spPr>
        <p:txBody>
          <a:bodyPr anchor="ctr"/>
          <a:lstStyle/>
          <a:p>
            <a:r>
              <a:rPr lang="en-US" dirty="0"/>
              <a:t>Eleventh</a:t>
            </a:r>
            <a:r>
              <a:rPr lang="en-US" dirty="0">
                <a:latin typeface="+mn-lt"/>
              </a:rPr>
              <a:t> Edition</a:t>
            </a:r>
          </a:p>
        </p:txBody>
      </p:sp>
      <p:pic>
        <p:nvPicPr>
          <p:cNvPr id="4" name="Picture 3" descr="Front Cover: Systems Analysis and Design, Eleventh Edition by Kendall and Kendall.">
            <a:extLst>
              <a:ext uri="{FF2B5EF4-FFF2-40B4-BE49-F238E27FC236}">
                <a16:creationId xmlns:a16="http://schemas.microsoft.com/office/drawing/2014/main" id="{AAD60DB6-7CBC-A115-8F49-D7477962C035}"/>
              </a:ext>
            </a:extLst>
          </p:cNvPr>
          <p:cNvPicPr>
            <a:picLocks noChangeAspect="1"/>
          </p:cNvPicPr>
          <p:nvPr/>
        </p:nvPicPr>
        <p:blipFill>
          <a:blip r:embed="rId3"/>
          <a:stretch>
            <a:fillRect/>
          </a:stretch>
        </p:blipFill>
        <p:spPr>
          <a:xfrm>
            <a:off x="571356" y="1694527"/>
            <a:ext cx="3651821" cy="4523624"/>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0"/>
              </a:ext>
            </a:extLst>
          </p:cNvPr>
          <p:cNvSpPr>
            <a:spLocks noGrp="1"/>
          </p:cNvSpPr>
          <p:nvPr>
            <p:ph sz="quarter" idx="14"/>
          </p:nvPr>
        </p:nvSpPr>
        <p:spPr>
          <a:xfrm>
            <a:off x="5199018" y="1892642"/>
            <a:ext cx="3254854" cy="1199807"/>
          </a:xfrm>
        </p:spPr>
        <p:txBody>
          <a:bodyPr/>
          <a:lstStyle/>
          <a:p>
            <a:pPr marL="0"/>
            <a:r>
              <a:rPr lang="en-US" dirty="0"/>
              <a:t>Chapter # 5</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0"/>
              </a:ext>
            </a:extLst>
          </p:cNvPr>
          <p:cNvSpPr>
            <a:spLocks noGrp="1"/>
          </p:cNvSpPr>
          <p:nvPr>
            <p:ph sz="quarter" idx="15"/>
          </p:nvPr>
        </p:nvSpPr>
        <p:spPr>
          <a:xfrm>
            <a:off x="5199017" y="3315134"/>
            <a:ext cx="3254854" cy="1199806"/>
          </a:xfrm>
        </p:spPr>
        <p:txBody>
          <a:bodyPr/>
          <a:lstStyle/>
          <a:p>
            <a:r>
              <a:rPr lang="en-US" dirty="0"/>
              <a:t>Information Gathering: Unobtrusive Methods</a:t>
            </a: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0"/>
              </a:ext>
            </a:extLst>
          </p:cNvPr>
          <p:cNvSpPr>
            <a:spLocks noGrp="1"/>
          </p:cNvSpPr>
          <p:nvPr>
            <p:ph sz="quarter" idx="17"/>
          </p:nvPr>
        </p:nvSpPr>
        <p:spPr>
          <a:xfrm>
            <a:off x="2173288" y="6414520"/>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noProof="0" dirty="0"/>
              <a:t>2024, 2019, 2014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43C6BC-6123-3265-FC4D-EBACE04B6494}"/>
              </a:ext>
            </a:extLst>
          </p:cNvPr>
          <p:cNvSpPr>
            <a:spLocks noGrp="1"/>
          </p:cNvSpPr>
          <p:nvPr>
            <p:ph type="title"/>
          </p:nvPr>
        </p:nvSpPr>
        <p:spPr/>
        <p:txBody>
          <a:bodyPr/>
          <a:lstStyle/>
          <a:p>
            <a:r>
              <a:rPr lang="en-US" dirty="0"/>
              <a:t>Learning Objectives </a:t>
            </a:r>
            <a:r>
              <a:rPr lang="en-US" sz="2000" b="0" dirty="0"/>
              <a:t>(1 of 2)</a:t>
            </a:r>
          </a:p>
        </p:txBody>
      </p:sp>
      <p:sp>
        <p:nvSpPr>
          <p:cNvPr id="7" name="Content Placeholder 6">
            <a:extLst>
              <a:ext uri="{FF2B5EF4-FFF2-40B4-BE49-F238E27FC236}">
                <a16:creationId xmlns:a16="http://schemas.microsoft.com/office/drawing/2014/main" id="{2CEE16B6-C07A-2F80-CEF5-A4391EA36CE0}"/>
              </a:ext>
            </a:extLst>
          </p:cNvPr>
          <p:cNvSpPr>
            <a:spLocks noGrp="1"/>
          </p:cNvSpPr>
          <p:nvPr>
            <p:ph sz="quarter" idx="13"/>
          </p:nvPr>
        </p:nvSpPr>
        <p:spPr>
          <a:xfrm>
            <a:off x="457200" y="1556327"/>
            <a:ext cx="8138160" cy="4380647"/>
          </a:xfrm>
        </p:spPr>
        <p:txBody>
          <a:bodyPr/>
          <a:lstStyle/>
          <a:p>
            <a:pPr marL="0" lvl="0" indent="0">
              <a:spcBef>
                <a:spcPts val="0"/>
              </a:spcBef>
              <a:buClr>
                <a:schemeClr val="lt1"/>
              </a:buClr>
              <a:buSzPct val="25000"/>
              <a:buNone/>
              <a:tabLst>
                <a:tab pos="568325" algn="l"/>
              </a:tabLst>
            </a:pPr>
            <a:r>
              <a:rPr lang="en-US" sz="2200" b="1" dirty="0" smtClean="0">
                <a:solidFill>
                  <a:srgbClr val="007FA3"/>
                </a:solidFill>
              </a:rPr>
              <a:t>5.1</a:t>
            </a:r>
            <a:r>
              <a:rPr lang="en-US" sz="2200" dirty="0" smtClean="0"/>
              <a:t> </a:t>
            </a:r>
            <a:r>
              <a:rPr lang="en-US" sz="2200" dirty="0"/>
              <a:t>Learn how to construct useful samples of people, documents, and events.</a:t>
            </a:r>
          </a:p>
          <a:p>
            <a:pPr marL="0" lvl="0" indent="0" defTabSz="625475">
              <a:buClr>
                <a:schemeClr val="lt1"/>
              </a:buClr>
              <a:buSzPct val="25000"/>
              <a:buNone/>
            </a:pPr>
            <a:r>
              <a:rPr lang="en-US" sz="2200" b="1" dirty="0" smtClean="0">
                <a:solidFill>
                  <a:srgbClr val="007FA3"/>
                </a:solidFill>
              </a:rPr>
              <a:t>5.2</a:t>
            </a:r>
            <a:r>
              <a:rPr lang="en-US" sz="2200" dirty="0" smtClean="0"/>
              <a:t> </a:t>
            </a:r>
            <a:r>
              <a:rPr lang="en-US" sz="2200" dirty="0"/>
              <a:t>Learn how to analyze quantitative documents with the goal of improving their design.</a:t>
            </a:r>
          </a:p>
          <a:p>
            <a:pPr marL="0" lvl="0" indent="0" defTabSz="625475">
              <a:buClr>
                <a:schemeClr val="lt1"/>
              </a:buClr>
              <a:buSzPct val="25000"/>
              <a:buNone/>
            </a:pPr>
            <a:r>
              <a:rPr lang="en-US" sz="2200" b="1" dirty="0" smtClean="0">
                <a:solidFill>
                  <a:srgbClr val="007FA3"/>
                </a:solidFill>
              </a:rPr>
              <a:t>5.3</a:t>
            </a:r>
            <a:r>
              <a:rPr lang="en-US" sz="2200" dirty="0" smtClean="0"/>
              <a:t> </a:t>
            </a:r>
            <a:r>
              <a:rPr lang="en-US" sz="2200" dirty="0"/>
              <a:t>Analyze qualitative documents for useful clues that will help you understand the current situation.</a:t>
            </a:r>
          </a:p>
          <a:p>
            <a:pPr marL="0" lvl="0" indent="0" defTabSz="625475">
              <a:buClr>
                <a:schemeClr val="lt1"/>
              </a:buClr>
              <a:buSzPct val="25000"/>
              <a:buNone/>
            </a:pPr>
            <a:r>
              <a:rPr lang="en-US" sz="2200" b="1" dirty="0" smtClean="0">
                <a:solidFill>
                  <a:srgbClr val="007FA3"/>
                </a:solidFill>
              </a:rPr>
              <a:t>5.4</a:t>
            </a:r>
            <a:r>
              <a:rPr lang="en-US" sz="2200" dirty="0" smtClean="0"/>
              <a:t> </a:t>
            </a:r>
            <a:r>
              <a:rPr lang="en-US" sz="2200" dirty="0"/>
              <a:t>Be able to interpret managers and customers’ messages, interviews, and communications using text analytics.</a:t>
            </a:r>
          </a:p>
          <a:p>
            <a:pPr marL="0" lvl="0" indent="0" defTabSz="625475">
              <a:buClr>
                <a:schemeClr val="lt1"/>
              </a:buClr>
              <a:buSzPct val="25000"/>
              <a:buNone/>
            </a:pPr>
            <a:r>
              <a:rPr lang="en-US" sz="2200" b="1" dirty="0" smtClean="0">
                <a:solidFill>
                  <a:srgbClr val="007FA3"/>
                </a:solidFill>
              </a:rPr>
              <a:t>5.5</a:t>
            </a:r>
            <a:r>
              <a:rPr lang="en-US" sz="2200" dirty="0" smtClean="0"/>
              <a:t> </a:t>
            </a:r>
            <a:r>
              <a:rPr lang="en-US" sz="2200" dirty="0"/>
              <a:t>Understand what process mining is and how it can be used to determine any bottlenecks, variations, or exceptions</a:t>
            </a:r>
          </a:p>
        </p:txBody>
      </p:sp>
    </p:spTree>
    <p:extLst>
      <p:ext uri="{BB962C8B-B14F-4D97-AF65-F5344CB8AC3E}">
        <p14:creationId xmlns:p14="http://schemas.microsoft.com/office/powerpoint/2010/main" val="12184256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F090-2DED-43E4-E73F-23DC8FE399B9}"/>
              </a:ext>
            </a:extLst>
          </p:cNvPr>
          <p:cNvSpPr>
            <a:spLocks noGrp="1"/>
          </p:cNvSpPr>
          <p:nvPr>
            <p:ph type="title"/>
          </p:nvPr>
        </p:nvSpPr>
        <p:spPr/>
        <p:txBody>
          <a:bodyPr/>
          <a:lstStyle/>
          <a:p>
            <a:r>
              <a:rPr lang="en-US" dirty="0"/>
              <a:t>Learning Objectives </a:t>
            </a:r>
            <a:r>
              <a:rPr lang="en-US" sz="2000" b="0" dirty="0"/>
              <a:t>(2 of 2)</a:t>
            </a:r>
          </a:p>
        </p:txBody>
      </p:sp>
      <p:sp>
        <p:nvSpPr>
          <p:cNvPr id="3" name="Content Placeholder 2">
            <a:extLst>
              <a:ext uri="{FF2B5EF4-FFF2-40B4-BE49-F238E27FC236}">
                <a16:creationId xmlns:a16="http://schemas.microsoft.com/office/drawing/2014/main" id="{29D8A8D3-5674-9A02-5ACB-C25F6779C085}"/>
              </a:ext>
            </a:extLst>
          </p:cNvPr>
          <p:cNvSpPr>
            <a:spLocks noGrp="1"/>
          </p:cNvSpPr>
          <p:nvPr>
            <p:ph sz="quarter" idx="13"/>
          </p:nvPr>
        </p:nvSpPr>
        <p:spPr>
          <a:xfrm>
            <a:off x="457200" y="1556327"/>
            <a:ext cx="8229600" cy="2830143"/>
          </a:xfrm>
        </p:spPr>
        <p:txBody>
          <a:bodyPr/>
          <a:lstStyle/>
          <a:p>
            <a:pPr marL="0" lvl="0" indent="0">
              <a:spcBef>
                <a:spcPts val="0"/>
              </a:spcBef>
              <a:buClr>
                <a:schemeClr val="lt1"/>
              </a:buClr>
              <a:buSzPct val="25000"/>
              <a:buNone/>
              <a:tabLst>
                <a:tab pos="568325" algn="l"/>
              </a:tabLst>
            </a:pPr>
            <a:r>
              <a:rPr lang="en-US" sz="2200" b="1" dirty="0" smtClean="0">
                <a:solidFill>
                  <a:srgbClr val="007FA3"/>
                </a:solidFill>
              </a:rPr>
              <a:t>5.6</a:t>
            </a:r>
            <a:r>
              <a:rPr lang="en-US" sz="2200" dirty="0" smtClean="0"/>
              <a:t> </a:t>
            </a:r>
            <a:r>
              <a:rPr lang="en-US" sz="2200" dirty="0"/>
              <a:t>Learn how workplace analytics can monitor and improve on  worker and team participation.</a:t>
            </a:r>
          </a:p>
          <a:p>
            <a:pPr marL="0" lvl="0" indent="0" defTabSz="625475">
              <a:buClr>
                <a:schemeClr val="lt1"/>
              </a:buClr>
              <a:buSzPct val="25000"/>
              <a:buNone/>
            </a:pPr>
            <a:r>
              <a:rPr lang="en-US" sz="2200" b="1" dirty="0" smtClean="0">
                <a:solidFill>
                  <a:srgbClr val="007FA3"/>
                </a:solidFill>
              </a:rPr>
              <a:t>5.7</a:t>
            </a:r>
            <a:r>
              <a:rPr lang="en-US" sz="2200" dirty="0" smtClean="0"/>
              <a:t> </a:t>
            </a:r>
            <a:r>
              <a:rPr lang="en-US" sz="2200" dirty="0"/>
              <a:t>Observe decision makers’ behavior and create an analyst’s  playscript to observe decision makers’ activities.</a:t>
            </a:r>
          </a:p>
          <a:p>
            <a:pPr marL="0" lvl="0" indent="0" defTabSz="625475">
              <a:buClr>
                <a:schemeClr val="lt1"/>
              </a:buClr>
              <a:buSzPct val="25000"/>
              <a:buNone/>
            </a:pPr>
            <a:r>
              <a:rPr lang="en-US" sz="2200" b="1" dirty="0" smtClean="0">
                <a:solidFill>
                  <a:srgbClr val="007FA3"/>
                </a:solidFill>
              </a:rPr>
              <a:t>5.8</a:t>
            </a:r>
            <a:r>
              <a:rPr lang="en-US" sz="2200" dirty="0" smtClean="0"/>
              <a:t> </a:t>
            </a:r>
            <a:r>
              <a:rPr lang="en-US" sz="2200" dirty="0"/>
              <a:t>Observe the physical environment by applying the S</a:t>
            </a:r>
            <a:r>
              <a:rPr lang="en-US" sz="100" dirty="0"/>
              <a:t> </a:t>
            </a:r>
            <a:r>
              <a:rPr lang="en-US" sz="2200" dirty="0"/>
              <a:t>T</a:t>
            </a:r>
            <a:r>
              <a:rPr lang="en-US" sz="100" dirty="0"/>
              <a:t> </a:t>
            </a:r>
            <a:r>
              <a:rPr lang="en-US" sz="2200" dirty="0"/>
              <a:t>R</a:t>
            </a:r>
            <a:r>
              <a:rPr lang="en-US" sz="100" dirty="0"/>
              <a:t> </a:t>
            </a:r>
            <a:r>
              <a:rPr lang="en-US" sz="2200" dirty="0"/>
              <a:t>O</a:t>
            </a:r>
            <a:r>
              <a:rPr lang="en-US" sz="100" dirty="0"/>
              <a:t> </a:t>
            </a:r>
            <a:r>
              <a:rPr lang="en-US" sz="2200" dirty="0"/>
              <a:t>B</a:t>
            </a:r>
            <a:r>
              <a:rPr lang="en-US" sz="100" dirty="0"/>
              <a:t> </a:t>
            </a:r>
            <a:r>
              <a:rPr lang="en-US" sz="2200" dirty="0"/>
              <a:t>E technique to observe and interpret.</a:t>
            </a:r>
          </a:p>
        </p:txBody>
      </p:sp>
    </p:spTree>
    <p:extLst>
      <p:ext uri="{BB962C8B-B14F-4D97-AF65-F5344CB8AC3E}">
        <p14:creationId xmlns:p14="http://schemas.microsoft.com/office/powerpoint/2010/main" val="575638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670D-53BB-3CD0-2423-7F9FE6405EA2}"/>
              </a:ext>
            </a:extLst>
          </p:cNvPr>
          <p:cNvSpPr>
            <a:spLocks noGrp="1"/>
          </p:cNvSpPr>
          <p:nvPr>
            <p:ph type="title"/>
          </p:nvPr>
        </p:nvSpPr>
        <p:spPr/>
        <p:txBody>
          <a:bodyPr/>
          <a:lstStyle/>
          <a:p>
            <a:r>
              <a:rPr lang="en-US" altLang="en-US" dirty="0">
                <a:sym typeface="Arial"/>
              </a:rPr>
              <a:t>Unobtrusive</a:t>
            </a:r>
            <a:r>
              <a:rPr lang="en-US" altLang="en-US" dirty="0">
                <a:latin typeface="Times New Roman" panose="02020603050405020304" pitchFamily="18" charset="0"/>
                <a:cs typeface="Times New Roman" panose="02020603050405020304" pitchFamily="18" charset="0"/>
                <a:sym typeface="Arial"/>
              </a:rPr>
              <a:t> </a:t>
            </a:r>
            <a:r>
              <a:rPr lang="en-US" altLang="en-US" dirty="0">
                <a:sym typeface="Arial"/>
              </a:rPr>
              <a:t>Methods</a:t>
            </a:r>
            <a:endParaRPr lang="en-US" dirty="0"/>
          </a:p>
        </p:txBody>
      </p:sp>
      <p:sp>
        <p:nvSpPr>
          <p:cNvPr id="3" name="Content Placeholder 2">
            <a:extLst>
              <a:ext uri="{FF2B5EF4-FFF2-40B4-BE49-F238E27FC236}">
                <a16:creationId xmlns:a16="http://schemas.microsoft.com/office/drawing/2014/main" id="{94B6DCB3-AD64-9219-C1E3-2D4BD9B828D4}"/>
              </a:ext>
            </a:extLst>
          </p:cNvPr>
          <p:cNvSpPr>
            <a:spLocks noGrp="1"/>
          </p:cNvSpPr>
          <p:nvPr>
            <p:ph sz="quarter" idx="13"/>
          </p:nvPr>
        </p:nvSpPr>
        <p:spPr>
          <a:xfrm>
            <a:off x="457200" y="1556327"/>
            <a:ext cx="8229600" cy="2843395"/>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Less disruptive</a:t>
            </a:r>
          </a:p>
          <a:p>
            <a:pPr marL="255651" lvl="0" indent="-255651">
              <a:spcAft>
                <a:spcPct val="0"/>
              </a:spcAft>
              <a:buSzPts val="2400"/>
              <a:tabLst/>
            </a:pPr>
            <a:r>
              <a:rPr lang="en-US" dirty="0">
                <a:solidFill>
                  <a:srgbClr val="000000"/>
                </a:solidFill>
                <a:cs typeface="Arial" panose="020B0604020202020204" pitchFamily="34" charset="0"/>
              </a:rPr>
              <a:t>Text analytics to analyze qualitative data</a:t>
            </a:r>
          </a:p>
          <a:p>
            <a:pPr marL="255651" lvl="0" indent="-255651">
              <a:spcAft>
                <a:spcPct val="0"/>
              </a:spcAft>
              <a:buSzPts val="2400"/>
              <a:tabLst/>
            </a:pPr>
            <a:r>
              <a:rPr lang="en-US" altLang="en-US" dirty="0">
                <a:solidFill>
                  <a:srgbClr val="000000"/>
                </a:solidFill>
                <a:cs typeface="Arial" panose="020B0604020202020204" pitchFamily="34" charset="0"/>
              </a:rPr>
              <a:t>Insufficient when used alone</a:t>
            </a:r>
          </a:p>
          <a:p>
            <a:pPr marL="255651" lvl="0" indent="-255651">
              <a:spcAft>
                <a:spcPct val="0"/>
              </a:spcAft>
              <a:buSzPts val="2400"/>
              <a:tabLst/>
            </a:pPr>
            <a:r>
              <a:rPr lang="en-US" altLang="en-US" dirty="0">
                <a:solidFill>
                  <a:srgbClr val="000000"/>
                </a:solidFill>
                <a:cs typeface="Arial" panose="020B0604020202020204" pitchFamily="34" charset="0"/>
              </a:rPr>
              <a:t>Multiple methods approach</a:t>
            </a:r>
          </a:p>
          <a:p>
            <a:pPr marL="255651" lvl="0" indent="-255651">
              <a:spcAft>
                <a:spcPct val="0"/>
              </a:spcAft>
              <a:buSzPts val="2400"/>
              <a:tabLst/>
            </a:pPr>
            <a:r>
              <a:rPr lang="en-US" altLang="en-US" dirty="0">
                <a:solidFill>
                  <a:srgbClr val="000000"/>
                </a:solidFill>
                <a:cs typeface="Arial" panose="020B0604020202020204" pitchFamily="34" charset="0"/>
              </a:rPr>
              <a:t>Used in conjunction with interactive methods</a:t>
            </a:r>
          </a:p>
        </p:txBody>
      </p:sp>
    </p:spTree>
    <p:extLst>
      <p:ext uri="{BB962C8B-B14F-4D97-AF65-F5344CB8AC3E}">
        <p14:creationId xmlns:p14="http://schemas.microsoft.com/office/powerpoint/2010/main" val="3544768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59D4-A7D2-FDA9-DCF1-7F29C01421DF}"/>
              </a:ext>
            </a:extLst>
          </p:cNvPr>
          <p:cNvSpPr>
            <a:spLocks noGrp="1"/>
          </p:cNvSpPr>
          <p:nvPr>
            <p:ph type="title"/>
          </p:nvPr>
        </p:nvSpPr>
        <p:spPr/>
        <p:txBody>
          <a:bodyPr/>
          <a:lstStyle/>
          <a:p>
            <a:r>
              <a:rPr lang="en-US" altLang="en-US" dirty="0">
                <a:sym typeface="Arial"/>
              </a:rPr>
              <a:t>Major Topics</a:t>
            </a:r>
            <a:endParaRPr lang="en-US" dirty="0"/>
          </a:p>
        </p:txBody>
      </p:sp>
      <p:sp>
        <p:nvSpPr>
          <p:cNvPr id="3" name="Content Placeholder 2">
            <a:extLst>
              <a:ext uri="{FF2B5EF4-FFF2-40B4-BE49-F238E27FC236}">
                <a16:creationId xmlns:a16="http://schemas.microsoft.com/office/drawing/2014/main" id="{CEE7D2B7-3E87-AA75-03AB-384F09546DD4}"/>
              </a:ext>
            </a:extLst>
          </p:cNvPr>
          <p:cNvSpPr>
            <a:spLocks noGrp="1"/>
          </p:cNvSpPr>
          <p:nvPr>
            <p:ph sz="quarter" idx="13"/>
          </p:nvPr>
        </p:nvSpPr>
        <p:spPr>
          <a:xfrm>
            <a:off x="457200" y="1556327"/>
            <a:ext cx="8229600" cy="4420403"/>
          </a:xfrm>
        </p:spPr>
        <p:txBody>
          <a:bodyPr/>
          <a:lstStyle/>
          <a:p>
            <a:pPr marL="255651" lvl="0" indent="-255651">
              <a:spcAft>
                <a:spcPct val="0"/>
              </a:spcAft>
              <a:buSzPts val="2400"/>
              <a:tabLst/>
            </a:pPr>
            <a:r>
              <a:rPr lang="en-US" altLang="en-US" dirty="0" smtClean="0">
                <a:solidFill>
                  <a:srgbClr val="000000"/>
                </a:solidFill>
                <a:cs typeface="Arial" panose="020B0604020202020204" pitchFamily="34" charset="0"/>
              </a:rPr>
              <a:t>Sampling</a:t>
            </a:r>
          </a:p>
          <a:p>
            <a:pPr marL="255651" lvl="0" indent="-255651">
              <a:spcAft>
                <a:spcPct val="0"/>
              </a:spcAft>
              <a:buSzPts val="2400"/>
              <a:tabLst/>
            </a:pPr>
            <a:r>
              <a:rPr lang="en-US" altLang="en-US" dirty="0" smtClean="0">
                <a:solidFill>
                  <a:srgbClr val="000000"/>
                </a:solidFill>
                <a:cs typeface="Arial" panose="020B0604020202020204" pitchFamily="34" charset="0"/>
              </a:rPr>
              <a:t>Quantitative document analysis</a:t>
            </a:r>
          </a:p>
          <a:p>
            <a:pPr marL="255651" lvl="0" indent="-255651">
              <a:spcAft>
                <a:spcPct val="0"/>
              </a:spcAft>
              <a:buSzPts val="2400"/>
              <a:tabLst/>
            </a:pPr>
            <a:r>
              <a:rPr lang="en-US" altLang="en-US" dirty="0" smtClean="0">
                <a:solidFill>
                  <a:srgbClr val="000000"/>
                </a:solidFill>
                <a:cs typeface="Arial" panose="020B0604020202020204" pitchFamily="34" charset="0"/>
              </a:rPr>
              <a:t>Qualitative document analysis</a:t>
            </a:r>
          </a:p>
          <a:p>
            <a:pPr marL="255651" lvl="0" indent="-255651">
              <a:spcAft>
                <a:spcPct val="0"/>
              </a:spcAft>
              <a:buSzPts val="2400"/>
              <a:tabLst/>
            </a:pPr>
            <a:r>
              <a:rPr lang="en-US" altLang="en-US" dirty="0" smtClean="0">
                <a:solidFill>
                  <a:srgbClr val="000000"/>
                </a:solidFill>
                <a:cs typeface="Arial" panose="020B0604020202020204" pitchFamily="34" charset="0"/>
              </a:rPr>
              <a:t>Text analytics</a:t>
            </a:r>
          </a:p>
          <a:p>
            <a:pPr marL="255651" lvl="0" indent="-255651">
              <a:spcAft>
                <a:spcPct val="0"/>
              </a:spcAft>
              <a:buSzPts val="2400"/>
              <a:tabLst/>
            </a:pPr>
            <a:r>
              <a:rPr lang="en-US" altLang="en-US" dirty="0" smtClean="0">
                <a:solidFill>
                  <a:srgbClr val="000000"/>
                </a:solidFill>
                <a:cs typeface="Arial" panose="020B0604020202020204" pitchFamily="34" charset="0"/>
              </a:rPr>
              <a:t>Process mining</a:t>
            </a:r>
          </a:p>
          <a:p>
            <a:pPr marL="255651" lvl="0" indent="-255651">
              <a:spcAft>
                <a:spcPct val="0"/>
              </a:spcAft>
              <a:buSzPts val="2400"/>
              <a:tabLst/>
            </a:pPr>
            <a:r>
              <a:rPr lang="en-US" altLang="en-US" dirty="0" smtClean="0">
                <a:solidFill>
                  <a:srgbClr val="000000"/>
                </a:solidFill>
                <a:cs typeface="Arial" panose="020B0604020202020204" pitchFamily="34" charset="0"/>
              </a:rPr>
              <a:t>Workforce analytics</a:t>
            </a:r>
          </a:p>
          <a:p>
            <a:pPr marL="255651" lvl="0" indent="-255651">
              <a:spcAft>
                <a:spcPct val="0"/>
              </a:spcAft>
              <a:buSzPts val="2400"/>
              <a:tabLst/>
            </a:pPr>
            <a:r>
              <a:rPr lang="en-US" altLang="en-US" dirty="0" smtClean="0">
                <a:solidFill>
                  <a:srgbClr val="000000"/>
                </a:solidFill>
                <a:cs typeface="Arial" panose="020B0604020202020204" pitchFamily="34" charset="0"/>
              </a:rPr>
              <a:t>Observation</a:t>
            </a:r>
          </a:p>
          <a:p>
            <a:pPr marL="255651" lvl="0" indent="-255651">
              <a:spcAft>
                <a:spcPct val="0"/>
              </a:spcAft>
              <a:buSzPts val="2400"/>
              <a:tabLst/>
            </a:pPr>
            <a:r>
              <a:rPr lang="en-US" altLang="en-US" dirty="0" smtClean="0">
                <a:solidFill>
                  <a:srgbClr val="000000"/>
                </a:solidFill>
                <a:cs typeface="Arial" panose="020B0604020202020204" pitchFamily="34" charset="0"/>
              </a:rPr>
              <a:t>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T</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R</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B</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E</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318141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D81B-CA44-10F7-90E1-58EA20EDB6D4}"/>
              </a:ext>
            </a:extLst>
          </p:cNvPr>
          <p:cNvSpPr>
            <a:spLocks noGrp="1"/>
          </p:cNvSpPr>
          <p:nvPr>
            <p:ph type="title"/>
          </p:nvPr>
        </p:nvSpPr>
        <p:spPr/>
        <p:txBody>
          <a:bodyPr/>
          <a:lstStyle/>
          <a:p>
            <a:r>
              <a:rPr lang="en-US" altLang="en-US" dirty="0">
                <a:sym typeface="Arial"/>
              </a:rPr>
              <a:t>Sampling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423A0BC2-8D92-6800-E114-7B09C9E3099C}"/>
              </a:ext>
            </a:extLst>
          </p:cNvPr>
          <p:cNvSpPr>
            <a:spLocks noGrp="1"/>
          </p:cNvSpPr>
          <p:nvPr>
            <p:ph sz="quarter" idx="13"/>
          </p:nvPr>
        </p:nvSpPr>
        <p:spPr>
          <a:xfrm>
            <a:off x="457200" y="1556327"/>
            <a:ext cx="8229600" cy="252534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A process of systematically selecting representative elements of a population</a:t>
            </a:r>
          </a:p>
          <a:p>
            <a:pPr marL="255651" lvl="0" indent="-255651">
              <a:spcAft>
                <a:spcPct val="0"/>
              </a:spcAft>
              <a:buSzPts val="2400"/>
              <a:tabLst/>
            </a:pPr>
            <a:r>
              <a:rPr lang="en-US" altLang="en-US" dirty="0">
                <a:solidFill>
                  <a:srgbClr val="000000"/>
                </a:solidFill>
                <a:cs typeface="Arial" panose="020B0604020202020204" pitchFamily="34" charset="0"/>
              </a:rPr>
              <a:t>Involves two key decisions:</a:t>
            </a:r>
          </a:p>
          <a:p>
            <a:pPr marL="741553" lvl="1" indent="-284353">
              <a:spcAft>
                <a:spcPct val="0"/>
              </a:spcAft>
              <a:buSzPts val="2400"/>
            </a:pPr>
            <a:r>
              <a:rPr lang="en-US" altLang="en-US" dirty="0">
                <a:solidFill>
                  <a:srgbClr val="000000"/>
                </a:solidFill>
                <a:cs typeface="Arial" panose="020B0604020202020204" pitchFamily="34" charset="0"/>
              </a:rPr>
              <a:t>What to examine</a:t>
            </a:r>
          </a:p>
          <a:p>
            <a:pPr marL="741553" lvl="1" indent="-284353">
              <a:spcAft>
                <a:spcPct val="0"/>
              </a:spcAft>
              <a:buSzPts val="2400"/>
            </a:pPr>
            <a:r>
              <a:rPr lang="en-US" altLang="en-US" dirty="0">
                <a:solidFill>
                  <a:srgbClr val="000000"/>
                </a:solidFill>
                <a:cs typeface="Arial" panose="020B0604020202020204" pitchFamily="34" charset="0"/>
              </a:rPr>
              <a:t>Which people to consider</a:t>
            </a:r>
          </a:p>
        </p:txBody>
      </p:sp>
    </p:spTree>
    <p:extLst>
      <p:ext uri="{BB962C8B-B14F-4D97-AF65-F5344CB8AC3E}">
        <p14:creationId xmlns:p14="http://schemas.microsoft.com/office/powerpoint/2010/main" val="377228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BE37-14C2-E9D0-0BBF-8301465F0877}"/>
              </a:ext>
            </a:extLst>
          </p:cNvPr>
          <p:cNvSpPr>
            <a:spLocks noGrp="1"/>
          </p:cNvSpPr>
          <p:nvPr>
            <p:ph type="title"/>
          </p:nvPr>
        </p:nvSpPr>
        <p:spPr/>
        <p:txBody>
          <a:bodyPr/>
          <a:lstStyle/>
          <a:p>
            <a:r>
              <a:rPr lang="en-US" altLang="en-US" dirty="0">
                <a:sym typeface="Arial"/>
              </a:rPr>
              <a:t>Need for Sampling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C04AF2E4-34C8-BE2E-8117-60BF17C1633C}"/>
              </a:ext>
            </a:extLst>
          </p:cNvPr>
          <p:cNvSpPr>
            <a:spLocks noGrp="1"/>
          </p:cNvSpPr>
          <p:nvPr>
            <p:ph sz="quarter" idx="13"/>
          </p:nvPr>
        </p:nvSpPr>
        <p:spPr>
          <a:xfrm>
            <a:off x="457200" y="1556327"/>
            <a:ext cx="8229600" cy="2459082"/>
          </a:xfrm>
        </p:spPr>
        <p:txBody>
          <a:bodyPr/>
          <a:lstStyle/>
          <a:p>
            <a:pPr marL="255600">
              <a:buSzPts val="2400"/>
            </a:pPr>
            <a:r>
              <a:rPr lang="en-US" altLang="en-US" dirty="0">
                <a:solidFill>
                  <a:srgbClr val="000000"/>
                </a:solidFill>
                <a:cs typeface="Arial" panose="020B0604020202020204" pitchFamily="34" charset="0"/>
              </a:rPr>
              <a:t>The reasons systems analysts do sampling are to</a:t>
            </a:r>
          </a:p>
          <a:p>
            <a:pPr marL="741553" lvl="1" indent="-284353">
              <a:spcAft>
                <a:spcPct val="0"/>
              </a:spcAft>
              <a:buSzPts val="2400"/>
            </a:pPr>
            <a:r>
              <a:rPr lang="en-US" altLang="en-US" dirty="0">
                <a:solidFill>
                  <a:srgbClr val="000000"/>
                </a:solidFill>
                <a:cs typeface="Arial" panose="020B0604020202020204" pitchFamily="34" charset="0"/>
              </a:rPr>
              <a:t>Contain costs</a:t>
            </a:r>
          </a:p>
          <a:p>
            <a:pPr marL="741553" lvl="1" indent="-284353">
              <a:spcAft>
                <a:spcPct val="0"/>
              </a:spcAft>
              <a:buSzPts val="2400"/>
            </a:pPr>
            <a:r>
              <a:rPr lang="en-US" altLang="en-US" dirty="0">
                <a:solidFill>
                  <a:srgbClr val="000000"/>
                </a:solidFill>
                <a:cs typeface="Arial" panose="020B0604020202020204" pitchFamily="34" charset="0"/>
              </a:rPr>
              <a:t>Speed up data gathering</a:t>
            </a:r>
          </a:p>
          <a:p>
            <a:pPr marL="741553" lvl="1" indent="-284353">
              <a:spcAft>
                <a:spcPct val="0"/>
              </a:spcAft>
              <a:buSzPts val="2400"/>
            </a:pPr>
            <a:r>
              <a:rPr lang="en-US" altLang="en-US" dirty="0">
                <a:solidFill>
                  <a:srgbClr val="000000"/>
                </a:solidFill>
                <a:cs typeface="Arial" panose="020B0604020202020204" pitchFamily="34" charset="0"/>
              </a:rPr>
              <a:t>Improve effectiveness</a:t>
            </a:r>
          </a:p>
          <a:p>
            <a:pPr marL="741553" lvl="1" indent="-284353">
              <a:spcAft>
                <a:spcPct val="0"/>
              </a:spcAft>
              <a:buSzPts val="2400"/>
            </a:pPr>
            <a:r>
              <a:rPr lang="en-US" dirty="0">
                <a:solidFill>
                  <a:srgbClr val="000000"/>
                </a:solidFill>
                <a:cs typeface="Arial" panose="020B0604020202020204" pitchFamily="34" charset="0"/>
              </a:rPr>
              <a:t>Data gathering bias can be reduced by sampling</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42295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E7E83-2997-9FFC-A9C0-F2B862FDACD8}"/>
              </a:ext>
            </a:extLst>
          </p:cNvPr>
          <p:cNvSpPr>
            <a:spLocks noGrp="1"/>
          </p:cNvSpPr>
          <p:nvPr>
            <p:ph type="title"/>
          </p:nvPr>
        </p:nvSpPr>
        <p:spPr/>
        <p:txBody>
          <a:bodyPr/>
          <a:lstStyle/>
          <a:p>
            <a:r>
              <a:rPr lang="en-US" altLang="en-US" dirty="0">
                <a:sym typeface="Arial"/>
              </a:rPr>
              <a:t>Need for Sampling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1268472B-0CAD-9681-0E7C-58BC9B6ECEC5}"/>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Too costly to</a:t>
            </a:r>
          </a:p>
          <a:p>
            <a:pPr marL="741553" lvl="1" indent="-284353">
              <a:spcAft>
                <a:spcPct val="0"/>
              </a:spcAft>
              <a:buSzPts val="2400"/>
            </a:pPr>
            <a:r>
              <a:rPr lang="en-US" altLang="en-US" dirty="0">
                <a:solidFill>
                  <a:srgbClr val="000000"/>
                </a:solidFill>
                <a:cs typeface="Arial" panose="020B0604020202020204" pitchFamily="34" charset="0"/>
              </a:rPr>
              <a:t>Examine every scrap of paper</a:t>
            </a:r>
          </a:p>
          <a:p>
            <a:pPr marL="741553" lvl="1" indent="-284353">
              <a:spcAft>
                <a:spcPct val="0"/>
              </a:spcAft>
              <a:buSzPts val="2400"/>
            </a:pPr>
            <a:r>
              <a:rPr lang="en-US" altLang="en-US" dirty="0">
                <a:solidFill>
                  <a:srgbClr val="000000"/>
                </a:solidFill>
                <a:cs typeface="Arial" panose="020B0604020202020204" pitchFamily="34" charset="0"/>
              </a:rPr>
              <a:t>Talk with everyone</a:t>
            </a:r>
          </a:p>
          <a:p>
            <a:pPr marL="741553" lvl="1" indent="-284353">
              <a:spcAft>
                <a:spcPct val="0"/>
              </a:spcAft>
              <a:buSzPts val="2400"/>
            </a:pPr>
            <a:r>
              <a:rPr lang="en-US" altLang="en-US" dirty="0">
                <a:solidFill>
                  <a:srgbClr val="000000"/>
                </a:solidFill>
                <a:cs typeface="Arial" panose="020B0604020202020204" pitchFamily="34" charset="0"/>
              </a:rPr>
              <a:t>Read every Web page from the organization</a:t>
            </a:r>
          </a:p>
        </p:txBody>
      </p:sp>
    </p:spTree>
    <p:extLst>
      <p:ext uri="{BB962C8B-B14F-4D97-AF65-F5344CB8AC3E}">
        <p14:creationId xmlns:p14="http://schemas.microsoft.com/office/powerpoint/2010/main" val="1668699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D58A-D0C7-1C75-C74E-5BBD30A37D5D}"/>
              </a:ext>
            </a:extLst>
          </p:cNvPr>
          <p:cNvSpPr>
            <a:spLocks noGrp="1"/>
          </p:cNvSpPr>
          <p:nvPr>
            <p:ph type="title"/>
          </p:nvPr>
        </p:nvSpPr>
        <p:spPr/>
        <p:txBody>
          <a:bodyPr/>
          <a:lstStyle/>
          <a:p>
            <a:r>
              <a:rPr lang="en-US" altLang="en-US" dirty="0">
                <a:sym typeface="Arial"/>
              </a:rPr>
              <a:t>Sampling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6BD4EC7C-B292-9EB9-01BC-373F08F3ACE1}"/>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Sampling helps accelerate the process by gathering selected data rather than all data for the entire population</a:t>
            </a:r>
          </a:p>
          <a:p>
            <a:pPr marL="255651" lvl="0" indent="-255651">
              <a:spcAft>
                <a:spcPct val="0"/>
              </a:spcAft>
              <a:buSzPts val="2400"/>
              <a:tabLst/>
            </a:pPr>
            <a:r>
              <a:rPr lang="en-US" altLang="en-US" dirty="0">
                <a:solidFill>
                  <a:srgbClr val="000000"/>
                </a:solidFill>
                <a:cs typeface="Arial" panose="020B0604020202020204" pitchFamily="34" charset="0"/>
              </a:rPr>
              <a:t>The systems analyst is spared the burden of analyzing data from the entire population</a:t>
            </a:r>
          </a:p>
        </p:txBody>
      </p:sp>
    </p:spTree>
    <p:extLst>
      <p:ext uri="{BB962C8B-B14F-4D97-AF65-F5344CB8AC3E}">
        <p14:creationId xmlns:p14="http://schemas.microsoft.com/office/powerpoint/2010/main" val="1848915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6A45-1002-F9C9-B90E-8A56FF82406F}"/>
              </a:ext>
            </a:extLst>
          </p:cNvPr>
          <p:cNvSpPr>
            <a:spLocks noGrp="1"/>
          </p:cNvSpPr>
          <p:nvPr>
            <p:ph type="title"/>
          </p:nvPr>
        </p:nvSpPr>
        <p:spPr/>
        <p:txBody>
          <a:bodyPr/>
          <a:lstStyle/>
          <a:p>
            <a:r>
              <a:rPr lang="en-US" altLang="en-US" dirty="0">
                <a:sym typeface="Arial"/>
              </a:rPr>
              <a:t>Sampling Effectiveness</a:t>
            </a:r>
            <a:endParaRPr lang="en-US" dirty="0"/>
          </a:p>
        </p:txBody>
      </p:sp>
      <p:sp>
        <p:nvSpPr>
          <p:cNvPr id="3" name="Content Placeholder 2">
            <a:extLst>
              <a:ext uri="{FF2B5EF4-FFF2-40B4-BE49-F238E27FC236}">
                <a16:creationId xmlns:a16="http://schemas.microsoft.com/office/drawing/2014/main" id="{7B70AD2E-D097-0EC6-A734-E69CC84777B0}"/>
              </a:ext>
            </a:extLst>
          </p:cNvPr>
          <p:cNvSpPr>
            <a:spLocks noGrp="1"/>
          </p:cNvSpPr>
          <p:nvPr>
            <p:ph sz="quarter" idx="13"/>
          </p:nvPr>
        </p:nvSpPr>
        <p:spPr>
          <a:xfrm>
            <a:off x="457200" y="1556327"/>
            <a:ext cx="8229600" cy="280363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Sampling can help improve effectiveness if information that is more accurate can be obtained</a:t>
            </a:r>
          </a:p>
          <a:p>
            <a:pPr marL="255651" lvl="0" indent="-255651">
              <a:spcAft>
                <a:spcPct val="0"/>
              </a:spcAft>
              <a:buSzPts val="2400"/>
              <a:tabLst/>
            </a:pPr>
            <a:r>
              <a:rPr lang="en-US" altLang="en-US" dirty="0">
                <a:solidFill>
                  <a:srgbClr val="000000"/>
                </a:solidFill>
                <a:cs typeface="Arial" panose="020B0604020202020204" pitchFamily="34" charset="0"/>
              </a:rPr>
              <a:t>This is accomplished by talking to fewer employees but asking them questions that are more detailed</a:t>
            </a:r>
          </a:p>
          <a:p>
            <a:pPr marL="255651" lvl="0" indent="-255651">
              <a:spcAft>
                <a:spcPct val="0"/>
              </a:spcAft>
              <a:buSzPts val="2400"/>
              <a:tabLst/>
            </a:pPr>
            <a:r>
              <a:rPr lang="en-US" altLang="en-US" dirty="0">
                <a:solidFill>
                  <a:srgbClr val="000000"/>
                </a:solidFill>
                <a:cs typeface="Arial" panose="020B0604020202020204" pitchFamily="34" charset="0"/>
              </a:rPr>
              <a:t>If fewer people are interviewed, the systems analyst has more time to follow up on missing or incomplete data</a:t>
            </a:r>
          </a:p>
        </p:txBody>
      </p:sp>
    </p:spTree>
    <p:extLst>
      <p:ext uri="{BB962C8B-B14F-4D97-AF65-F5344CB8AC3E}">
        <p14:creationId xmlns:p14="http://schemas.microsoft.com/office/powerpoint/2010/main" val="3928896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46D5-89E8-484F-84EE-1A7CB6C7F5C9}"/>
              </a:ext>
            </a:extLst>
          </p:cNvPr>
          <p:cNvSpPr>
            <a:spLocks noGrp="1"/>
          </p:cNvSpPr>
          <p:nvPr>
            <p:ph type="title"/>
          </p:nvPr>
        </p:nvSpPr>
        <p:spPr/>
        <p:txBody>
          <a:bodyPr/>
          <a:lstStyle/>
          <a:p>
            <a:r>
              <a:rPr lang="en-US" altLang="en-US" dirty="0">
                <a:sym typeface="Arial"/>
              </a:rPr>
              <a:t>Sampling Bias</a:t>
            </a:r>
            <a:endParaRPr lang="en-US" dirty="0"/>
          </a:p>
        </p:txBody>
      </p:sp>
      <p:sp>
        <p:nvSpPr>
          <p:cNvPr id="3" name="Content Placeholder 2">
            <a:extLst>
              <a:ext uri="{FF2B5EF4-FFF2-40B4-BE49-F238E27FC236}">
                <a16:creationId xmlns:a16="http://schemas.microsoft.com/office/drawing/2014/main" id="{8CB0C2CC-2B87-46D3-8457-BF2F6453B612}"/>
              </a:ext>
            </a:extLst>
          </p:cNvPr>
          <p:cNvSpPr>
            <a:spLocks noGrp="1"/>
          </p:cNvSpPr>
          <p:nvPr>
            <p:ph sz="quarter" idx="13"/>
          </p:nvPr>
        </p:nvSpPr>
        <p:spPr>
          <a:xfrm>
            <a:off x="457200" y="1556327"/>
            <a:ext cx="8229600" cy="2247047"/>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Data gathering bias can be reduced by sampling</a:t>
            </a:r>
          </a:p>
          <a:p>
            <a:pPr marL="255651" lvl="0" indent="-255651">
              <a:spcAft>
                <a:spcPct val="0"/>
              </a:spcAft>
              <a:buSzPts val="2400"/>
              <a:tabLst/>
            </a:pPr>
            <a:r>
              <a:rPr lang="en-US" altLang="en-US" dirty="0">
                <a:solidFill>
                  <a:srgbClr val="000000"/>
                </a:solidFill>
                <a:cs typeface="Arial" panose="020B0604020202020204" pitchFamily="34" charset="0"/>
              </a:rPr>
              <a:t>When the systems analyst asks for an opinion about a permanent feature of the installed information system, the executive interviewed may provide a biased evaluation because there is little possibility of changing it</a:t>
            </a:r>
          </a:p>
        </p:txBody>
      </p:sp>
    </p:spTree>
    <p:extLst>
      <p:ext uri="{BB962C8B-B14F-4D97-AF65-F5344CB8AC3E}">
        <p14:creationId xmlns:p14="http://schemas.microsoft.com/office/powerpoint/2010/main" val="207838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2B0A-E425-4BC0-A5E1-06BE5113B42E}"/>
              </a:ext>
            </a:extLst>
          </p:cNvPr>
          <p:cNvSpPr>
            <a:spLocks noGrp="1"/>
          </p:cNvSpPr>
          <p:nvPr>
            <p:ph type="title"/>
          </p:nvPr>
        </p:nvSpPr>
        <p:spPr/>
        <p:txBody>
          <a:bodyPr/>
          <a:lstStyle/>
          <a:p>
            <a:r>
              <a:rPr lang="en-US" altLang="en-US" dirty="0">
                <a:sym typeface="Arial"/>
              </a:rPr>
              <a:t>Sampling Design</a:t>
            </a:r>
            <a:endParaRPr lang="en-US" dirty="0"/>
          </a:p>
        </p:txBody>
      </p:sp>
      <p:sp>
        <p:nvSpPr>
          <p:cNvPr id="3" name="Content Placeholder 2">
            <a:extLst>
              <a:ext uri="{FF2B5EF4-FFF2-40B4-BE49-F238E27FC236}">
                <a16:creationId xmlns:a16="http://schemas.microsoft.com/office/drawing/2014/main" id="{CBF1F9A2-FBCE-425E-9A63-E2A659EAA3ED}"/>
              </a:ext>
            </a:extLst>
          </p:cNvPr>
          <p:cNvSpPr>
            <a:spLocks noGrp="1"/>
          </p:cNvSpPr>
          <p:nvPr>
            <p:ph sz="quarter" idx="13"/>
          </p:nvPr>
        </p:nvSpPr>
        <p:spPr>
          <a:xfrm>
            <a:off x="457200" y="1556327"/>
            <a:ext cx="8229600" cy="27108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To design a good sample, a systems analyst must follow four steps:</a:t>
            </a:r>
          </a:p>
          <a:p>
            <a:pPr marL="741553" lvl="1" indent="-284353">
              <a:spcAft>
                <a:spcPct val="0"/>
              </a:spcAft>
              <a:buSzPts val="2400"/>
            </a:pPr>
            <a:r>
              <a:rPr lang="en-US" altLang="en-US" dirty="0">
                <a:solidFill>
                  <a:srgbClr val="000000"/>
                </a:solidFill>
                <a:cs typeface="Arial" panose="020B0604020202020204" pitchFamily="34" charset="0"/>
              </a:rPr>
              <a:t>Determining the data to be collected or described</a:t>
            </a:r>
          </a:p>
          <a:p>
            <a:pPr marL="741553" lvl="1" indent="-284353">
              <a:spcAft>
                <a:spcPct val="0"/>
              </a:spcAft>
              <a:buSzPts val="2400"/>
            </a:pPr>
            <a:r>
              <a:rPr lang="en-US" altLang="en-US" dirty="0">
                <a:solidFill>
                  <a:srgbClr val="000000"/>
                </a:solidFill>
                <a:cs typeface="Arial" panose="020B0604020202020204" pitchFamily="34" charset="0"/>
              </a:rPr>
              <a:t>Determining the population to be sampled</a:t>
            </a:r>
          </a:p>
          <a:p>
            <a:pPr marL="741553" lvl="1" indent="-284353">
              <a:spcAft>
                <a:spcPct val="0"/>
              </a:spcAft>
              <a:buSzPts val="2400"/>
            </a:pPr>
            <a:r>
              <a:rPr lang="en-US" altLang="en-US" dirty="0">
                <a:solidFill>
                  <a:srgbClr val="000000"/>
                </a:solidFill>
                <a:cs typeface="Arial" panose="020B0604020202020204" pitchFamily="34" charset="0"/>
              </a:rPr>
              <a:t>Choosing the type of sample</a:t>
            </a:r>
          </a:p>
          <a:p>
            <a:pPr marL="741553" lvl="1" indent="-284353">
              <a:spcAft>
                <a:spcPct val="0"/>
              </a:spcAft>
              <a:buSzPts val="2400"/>
            </a:pPr>
            <a:r>
              <a:rPr lang="en-US" altLang="en-US" dirty="0">
                <a:solidFill>
                  <a:srgbClr val="000000"/>
                </a:solidFill>
                <a:cs typeface="Arial" panose="020B0604020202020204" pitchFamily="34" charset="0"/>
              </a:rPr>
              <a:t>Deciding on the sample size</a:t>
            </a:r>
          </a:p>
        </p:txBody>
      </p:sp>
    </p:spTree>
    <p:extLst>
      <p:ext uri="{BB962C8B-B14F-4D97-AF65-F5344CB8AC3E}">
        <p14:creationId xmlns:p14="http://schemas.microsoft.com/office/powerpoint/2010/main" val="867481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620B-46A1-4087-AB5A-3671B4707055}"/>
              </a:ext>
            </a:extLst>
          </p:cNvPr>
          <p:cNvSpPr>
            <a:spLocks noGrp="1"/>
          </p:cNvSpPr>
          <p:nvPr>
            <p:ph type="title"/>
          </p:nvPr>
        </p:nvSpPr>
        <p:spPr>
          <a:xfrm>
            <a:off x="457200" y="215371"/>
            <a:ext cx="7859707" cy="1097279"/>
          </a:xfrm>
        </p:spPr>
        <p:txBody>
          <a:bodyPr/>
          <a:lstStyle/>
          <a:p>
            <a:r>
              <a:rPr lang="en-US" altLang="en-US" sz="3200" dirty="0">
                <a:sym typeface="Arial"/>
              </a:rPr>
              <a:t>Figure 5.1 Four Main Types of Samples A System Analyst Has Available</a:t>
            </a:r>
            <a:endParaRPr lang="en-US" sz="3200" dirty="0"/>
          </a:p>
        </p:txBody>
      </p:sp>
      <p:pic>
        <p:nvPicPr>
          <p:cNvPr id="5" name="Picture 4" descr="A table shows four main types of samples available for a systems analyst. Long description in notes, press F6.">
            <a:extLst>
              <a:ext uri="{FF2B5EF4-FFF2-40B4-BE49-F238E27FC236}">
                <a16:creationId xmlns:a16="http://schemas.microsoft.com/office/drawing/2014/main" id="{69ADBA93-DD08-4B09-B6C2-19D64AD0F7B8}"/>
              </a:ext>
            </a:extLst>
          </p:cNvPr>
          <p:cNvPicPr>
            <a:picLocks noChangeAspect="1"/>
          </p:cNvPicPr>
          <p:nvPr/>
        </p:nvPicPr>
        <p:blipFill rotWithShape="1">
          <a:blip r:embed="rId3"/>
          <a:srcRect b="3348"/>
          <a:stretch/>
        </p:blipFill>
        <p:spPr>
          <a:xfrm>
            <a:off x="827093" y="1691574"/>
            <a:ext cx="7489814" cy="4152635"/>
          </a:xfrm>
          <a:prstGeom prst="rect">
            <a:avLst/>
          </a:prstGeom>
        </p:spPr>
      </p:pic>
    </p:spTree>
    <p:extLst>
      <p:ext uri="{BB962C8B-B14F-4D97-AF65-F5344CB8AC3E}">
        <p14:creationId xmlns:p14="http://schemas.microsoft.com/office/powerpoint/2010/main" val="588335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5E5A6-B608-4B37-B3DF-D3700BD56A4C}"/>
              </a:ext>
            </a:extLst>
          </p:cNvPr>
          <p:cNvSpPr>
            <a:spLocks noGrp="1"/>
          </p:cNvSpPr>
          <p:nvPr>
            <p:ph type="title"/>
          </p:nvPr>
        </p:nvSpPr>
        <p:spPr/>
        <p:txBody>
          <a:bodyPr/>
          <a:lstStyle/>
          <a:p>
            <a:r>
              <a:rPr lang="en-US" altLang="en-US" dirty="0">
                <a:sym typeface="Arial"/>
              </a:rPr>
              <a:t>Four Main Types of Samples</a:t>
            </a:r>
            <a:endParaRPr lang="en-US" dirty="0"/>
          </a:p>
        </p:txBody>
      </p:sp>
      <p:sp>
        <p:nvSpPr>
          <p:cNvPr id="3" name="Content Placeholder 2">
            <a:extLst>
              <a:ext uri="{FF2B5EF4-FFF2-40B4-BE49-F238E27FC236}">
                <a16:creationId xmlns:a16="http://schemas.microsoft.com/office/drawing/2014/main" id="{CEDA562D-1DC8-443C-B5B4-D250B31DFD14}"/>
              </a:ext>
            </a:extLst>
          </p:cNvPr>
          <p:cNvSpPr>
            <a:spLocks noGrp="1"/>
          </p:cNvSpPr>
          <p:nvPr>
            <p:ph sz="quarter" idx="13"/>
          </p:nvPr>
        </p:nvSpPr>
        <p:spPr>
          <a:xfrm>
            <a:off x="457200" y="1556327"/>
            <a:ext cx="8229600" cy="226029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Convenience</a:t>
            </a:r>
          </a:p>
          <a:p>
            <a:pPr marL="255651" lvl="0" indent="-255651">
              <a:spcAft>
                <a:spcPct val="0"/>
              </a:spcAft>
              <a:buSzPts val="2400"/>
              <a:tabLst/>
            </a:pPr>
            <a:r>
              <a:rPr lang="en-US" altLang="en-US" dirty="0">
                <a:solidFill>
                  <a:srgbClr val="000000"/>
                </a:solidFill>
                <a:cs typeface="Arial" panose="020B0604020202020204" pitchFamily="34" charset="0"/>
              </a:rPr>
              <a:t>Purposive</a:t>
            </a:r>
          </a:p>
          <a:p>
            <a:pPr marL="255651" lvl="0" indent="-255651">
              <a:spcAft>
                <a:spcPct val="0"/>
              </a:spcAft>
              <a:buSzPts val="2400"/>
              <a:tabLst/>
            </a:pPr>
            <a:r>
              <a:rPr lang="en-US" altLang="en-US" dirty="0">
                <a:solidFill>
                  <a:srgbClr val="000000"/>
                </a:solidFill>
                <a:cs typeface="Arial" panose="020B0604020202020204" pitchFamily="34" charset="0"/>
              </a:rPr>
              <a:t>Simple random</a:t>
            </a:r>
          </a:p>
          <a:p>
            <a:pPr marL="255651" lvl="0" indent="-255651">
              <a:spcAft>
                <a:spcPct val="0"/>
              </a:spcAft>
              <a:buSzPts val="2400"/>
              <a:tabLst/>
            </a:pPr>
            <a:r>
              <a:rPr lang="en-US" altLang="en-US" dirty="0">
                <a:solidFill>
                  <a:srgbClr val="000000"/>
                </a:solidFill>
                <a:cs typeface="Arial" panose="020B0604020202020204" pitchFamily="34" charset="0"/>
              </a:rPr>
              <a:t>Complex random</a:t>
            </a:r>
          </a:p>
        </p:txBody>
      </p:sp>
    </p:spTree>
    <p:extLst>
      <p:ext uri="{BB962C8B-B14F-4D97-AF65-F5344CB8AC3E}">
        <p14:creationId xmlns:p14="http://schemas.microsoft.com/office/powerpoint/2010/main" val="1214829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8FBD-A996-4872-A18C-529CBECF968A}"/>
              </a:ext>
            </a:extLst>
          </p:cNvPr>
          <p:cNvSpPr>
            <a:spLocks noGrp="1"/>
          </p:cNvSpPr>
          <p:nvPr>
            <p:ph type="title"/>
          </p:nvPr>
        </p:nvSpPr>
        <p:spPr/>
        <p:txBody>
          <a:bodyPr/>
          <a:lstStyle/>
          <a:p>
            <a:r>
              <a:rPr lang="en-US" altLang="en-US" dirty="0">
                <a:sym typeface="Arial"/>
              </a:rPr>
              <a:t>Convenience Samples</a:t>
            </a:r>
            <a:endParaRPr lang="en-US" dirty="0"/>
          </a:p>
        </p:txBody>
      </p:sp>
      <p:sp>
        <p:nvSpPr>
          <p:cNvPr id="3" name="Content Placeholder 2">
            <a:extLst>
              <a:ext uri="{FF2B5EF4-FFF2-40B4-BE49-F238E27FC236}">
                <a16:creationId xmlns:a16="http://schemas.microsoft.com/office/drawing/2014/main" id="{D4D48114-D2E5-49EB-9EC6-275D3A668A1C}"/>
              </a:ext>
            </a:extLst>
          </p:cNvPr>
          <p:cNvSpPr>
            <a:spLocks noGrp="1"/>
          </p:cNvSpPr>
          <p:nvPr>
            <p:ph sz="quarter" idx="13"/>
          </p:nvPr>
        </p:nvSpPr>
        <p:spPr>
          <a:xfrm>
            <a:off x="457200" y="1556327"/>
            <a:ext cx="8229600" cy="2233795"/>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Convenience samples are unrestricted, nonprobability samples</a:t>
            </a:r>
          </a:p>
          <a:p>
            <a:pPr marL="255651" lvl="0" indent="-255651">
              <a:spcAft>
                <a:spcPct val="0"/>
              </a:spcAft>
              <a:buSzPts val="2400"/>
              <a:tabLst/>
            </a:pPr>
            <a:r>
              <a:rPr lang="en-US" altLang="en-US" dirty="0">
                <a:solidFill>
                  <a:srgbClr val="000000"/>
                </a:solidFill>
                <a:cs typeface="Arial" panose="020B0604020202020204" pitchFamily="34" charset="0"/>
              </a:rPr>
              <a:t>This sample is the easiest to arrange</a:t>
            </a:r>
          </a:p>
          <a:p>
            <a:pPr marL="255651" lvl="0" indent="-255651">
              <a:spcAft>
                <a:spcPct val="0"/>
              </a:spcAft>
              <a:buSzPts val="2400"/>
              <a:tabLst/>
            </a:pPr>
            <a:r>
              <a:rPr lang="en-US" altLang="en-US" dirty="0">
                <a:solidFill>
                  <a:srgbClr val="000000"/>
                </a:solidFill>
                <a:cs typeface="Arial" panose="020B0604020202020204" pitchFamily="34" charset="0"/>
              </a:rPr>
              <a:t>The most unreliable</a:t>
            </a:r>
          </a:p>
        </p:txBody>
      </p:sp>
    </p:spTree>
    <p:extLst>
      <p:ext uri="{BB962C8B-B14F-4D97-AF65-F5344CB8AC3E}">
        <p14:creationId xmlns:p14="http://schemas.microsoft.com/office/powerpoint/2010/main" val="4186651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F227-8E2B-47AB-94D7-257653F88A00}"/>
              </a:ext>
            </a:extLst>
          </p:cNvPr>
          <p:cNvSpPr>
            <a:spLocks noGrp="1"/>
          </p:cNvSpPr>
          <p:nvPr>
            <p:ph type="title"/>
          </p:nvPr>
        </p:nvSpPr>
        <p:spPr/>
        <p:txBody>
          <a:bodyPr/>
          <a:lstStyle/>
          <a:p>
            <a:r>
              <a:rPr lang="en-US" altLang="en-US" dirty="0">
                <a:sym typeface="Arial"/>
              </a:rPr>
              <a:t>Purposive Sample</a:t>
            </a:r>
            <a:endParaRPr lang="en-US" dirty="0"/>
          </a:p>
        </p:txBody>
      </p:sp>
      <p:sp>
        <p:nvSpPr>
          <p:cNvPr id="3" name="Content Placeholder 2">
            <a:extLst>
              <a:ext uri="{FF2B5EF4-FFF2-40B4-BE49-F238E27FC236}">
                <a16:creationId xmlns:a16="http://schemas.microsoft.com/office/drawing/2014/main" id="{AF0D797F-A6E6-4E69-8710-647325EC0840}"/>
              </a:ext>
            </a:extLst>
          </p:cNvPr>
          <p:cNvSpPr>
            <a:spLocks noGrp="1"/>
          </p:cNvSpPr>
          <p:nvPr>
            <p:ph sz="quarter" idx="13"/>
          </p:nvPr>
        </p:nvSpPr>
        <p:spPr>
          <a:xfrm>
            <a:off x="457200" y="1556327"/>
            <a:ext cx="8229600" cy="3042177"/>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A purposive sample is based on judgment</a:t>
            </a:r>
          </a:p>
          <a:p>
            <a:pPr marL="255651" lvl="0" indent="-255651">
              <a:spcAft>
                <a:spcPct val="0"/>
              </a:spcAft>
              <a:buSzPts val="2400"/>
              <a:tabLst/>
            </a:pPr>
            <a:r>
              <a:rPr lang="en-US" altLang="en-US" dirty="0">
                <a:solidFill>
                  <a:srgbClr val="000000"/>
                </a:solidFill>
                <a:cs typeface="Arial" panose="020B0604020202020204" pitchFamily="34" charset="0"/>
              </a:rPr>
              <a:t>Choose a group of individuals who appear knowledgeable and are interested in the new information system</a:t>
            </a:r>
          </a:p>
          <a:p>
            <a:pPr marL="255651" lvl="0" indent="-255651">
              <a:spcAft>
                <a:spcPct val="0"/>
              </a:spcAft>
              <a:buSzPts val="2400"/>
              <a:tabLst/>
            </a:pPr>
            <a:r>
              <a:rPr lang="en-US" altLang="en-US" dirty="0">
                <a:solidFill>
                  <a:srgbClr val="000000"/>
                </a:solidFill>
                <a:cs typeface="Arial" panose="020B0604020202020204" pitchFamily="34" charset="0"/>
              </a:rPr>
              <a:t>A nonprobability sample</a:t>
            </a:r>
          </a:p>
          <a:p>
            <a:pPr marL="255651" lvl="0" indent="-255651">
              <a:spcAft>
                <a:spcPct val="0"/>
              </a:spcAft>
              <a:buSzPts val="2400"/>
              <a:tabLst/>
            </a:pPr>
            <a:r>
              <a:rPr lang="en-US" altLang="en-US" dirty="0">
                <a:solidFill>
                  <a:srgbClr val="000000"/>
                </a:solidFill>
                <a:cs typeface="Arial" panose="020B0604020202020204" pitchFamily="34" charset="0"/>
              </a:rPr>
              <a:t>Only moderately reliable</a:t>
            </a:r>
          </a:p>
        </p:txBody>
      </p:sp>
    </p:spTree>
    <p:extLst>
      <p:ext uri="{BB962C8B-B14F-4D97-AF65-F5344CB8AC3E}">
        <p14:creationId xmlns:p14="http://schemas.microsoft.com/office/powerpoint/2010/main" val="2398835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7E19-399F-49E2-9D65-5C56635FFFCB}"/>
              </a:ext>
            </a:extLst>
          </p:cNvPr>
          <p:cNvSpPr>
            <a:spLocks noGrp="1"/>
          </p:cNvSpPr>
          <p:nvPr>
            <p:ph type="title"/>
          </p:nvPr>
        </p:nvSpPr>
        <p:spPr/>
        <p:txBody>
          <a:bodyPr/>
          <a:lstStyle/>
          <a:p>
            <a:r>
              <a:rPr lang="en-US" altLang="en-US" dirty="0">
                <a:sym typeface="Arial"/>
              </a:rPr>
              <a:t>Complex Random Samples</a:t>
            </a:r>
            <a:endParaRPr lang="en-US" dirty="0"/>
          </a:p>
        </p:txBody>
      </p:sp>
      <p:sp>
        <p:nvSpPr>
          <p:cNvPr id="3" name="Content Placeholder 2">
            <a:extLst>
              <a:ext uri="{FF2B5EF4-FFF2-40B4-BE49-F238E27FC236}">
                <a16:creationId xmlns:a16="http://schemas.microsoft.com/office/drawing/2014/main" id="{0912374F-D740-4976-957D-D661912898AB}"/>
              </a:ext>
            </a:extLst>
          </p:cNvPr>
          <p:cNvSpPr>
            <a:spLocks noGrp="1"/>
          </p:cNvSpPr>
          <p:nvPr>
            <p:ph sz="quarter" idx="13"/>
          </p:nvPr>
        </p:nvSpPr>
        <p:spPr>
          <a:xfrm>
            <a:off x="457200" y="1556327"/>
            <a:ext cx="8229600" cy="219403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The complex random samples that are most appropriate for a systems analyst are</a:t>
            </a:r>
          </a:p>
          <a:p>
            <a:pPr marL="741553" lvl="1" indent="-284353">
              <a:spcAft>
                <a:spcPct val="0"/>
              </a:spcAft>
              <a:buSzPts val="2400"/>
            </a:pPr>
            <a:r>
              <a:rPr lang="en-US" altLang="en-US" dirty="0">
                <a:solidFill>
                  <a:srgbClr val="000000"/>
                </a:solidFill>
                <a:cs typeface="Arial" panose="020B0604020202020204" pitchFamily="34" charset="0"/>
              </a:rPr>
              <a:t>Systematic sampling</a:t>
            </a:r>
          </a:p>
          <a:p>
            <a:pPr marL="741553" lvl="1" indent="-284353">
              <a:spcAft>
                <a:spcPct val="0"/>
              </a:spcAft>
              <a:buSzPts val="2400"/>
            </a:pPr>
            <a:r>
              <a:rPr lang="en-US" altLang="en-US" dirty="0">
                <a:solidFill>
                  <a:srgbClr val="000000"/>
                </a:solidFill>
                <a:cs typeface="Arial" panose="020B0604020202020204" pitchFamily="34" charset="0"/>
              </a:rPr>
              <a:t>Stratified sampling</a:t>
            </a:r>
          </a:p>
          <a:p>
            <a:pPr marL="741553" lvl="1" indent="-284353">
              <a:spcAft>
                <a:spcPct val="0"/>
              </a:spcAft>
              <a:buSzPts val="2400"/>
            </a:pPr>
            <a:r>
              <a:rPr lang="en-US" altLang="en-US" dirty="0">
                <a:solidFill>
                  <a:srgbClr val="000000"/>
                </a:solidFill>
                <a:cs typeface="Arial" panose="020B0604020202020204" pitchFamily="34" charset="0"/>
              </a:rPr>
              <a:t>Cluster sampling</a:t>
            </a:r>
          </a:p>
        </p:txBody>
      </p:sp>
    </p:spTree>
    <p:extLst>
      <p:ext uri="{BB962C8B-B14F-4D97-AF65-F5344CB8AC3E}">
        <p14:creationId xmlns:p14="http://schemas.microsoft.com/office/powerpoint/2010/main" val="699275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85B8E-1909-48BB-B7D8-72058F945BDE}"/>
              </a:ext>
            </a:extLst>
          </p:cNvPr>
          <p:cNvSpPr>
            <a:spLocks noGrp="1"/>
          </p:cNvSpPr>
          <p:nvPr>
            <p:ph type="title"/>
          </p:nvPr>
        </p:nvSpPr>
        <p:spPr/>
        <p:txBody>
          <a:bodyPr/>
          <a:lstStyle/>
          <a:p>
            <a:r>
              <a:rPr lang="en-US" altLang="en-US" dirty="0">
                <a:sym typeface="Arial"/>
              </a:rPr>
              <a:t>The Sample Size Decision</a:t>
            </a:r>
            <a:endParaRPr lang="en-US" dirty="0"/>
          </a:p>
        </p:txBody>
      </p:sp>
      <p:sp>
        <p:nvSpPr>
          <p:cNvPr id="3" name="Content Placeholder 2">
            <a:extLst>
              <a:ext uri="{FF2B5EF4-FFF2-40B4-BE49-F238E27FC236}">
                <a16:creationId xmlns:a16="http://schemas.microsoft.com/office/drawing/2014/main" id="{F2CD1F98-9D30-4968-9F25-B5E64847B965}"/>
              </a:ext>
            </a:extLst>
          </p:cNvPr>
          <p:cNvSpPr>
            <a:spLocks noGrp="1"/>
          </p:cNvSpPr>
          <p:nvPr>
            <p:ph sz="quarter" idx="13"/>
          </p:nvPr>
        </p:nvSpPr>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Determine the attribute</a:t>
            </a:r>
          </a:p>
          <a:p>
            <a:pPr marL="255651" lvl="0" indent="-255651">
              <a:spcAft>
                <a:spcPct val="0"/>
              </a:spcAft>
              <a:buSzPts val="2400"/>
              <a:tabLst/>
            </a:pPr>
            <a:r>
              <a:rPr lang="en-US" altLang="en-US" dirty="0">
                <a:solidFill>
                  <a:srgbClr val="000000"/>
                </a:solidFill>
                <a:cs typeface="Arial" panose="020B0604020202020204" pitchFamily="34" charset="0"/>
              </a:rPr>
              <a:t>Locate the database or reports in which the attribute can be found</a:t>
            </a:r>
          </a:p>
          <a:p>
            <a:pPr marL="255651" lvl="0" indent="-255651">
              <a:spcAft>
                <a:spcPct val="0"/>
              </a:spcAft>
              <a:buSzPts val="2400"/>
              <a:tabLst/>
            </a:pPr>
            <a:r>
              <a:rPr lang="en-US" altLang="en-US" dirty="0">
                <a:solidFill>
                  <a:srgbClr val="000000"/>
                </a:solidFill>
                <a:cs typeface="Arial" panose="020B0604020202020204" pitchFamily="34" charset="0"/>
              </a:rPr>
              <a:t>Examine the attribute</a:t>
            </a:r>
          </a:p>
          <a:p>
            <a:pPr marL="255651" lvl="0" indent="-255651">
              <a:spcAft>
                <a:spcPct val="0"/>
              </a:spcAft>
              <a:buSzPts val="2400"/>
              <a:tabLst/>
            </a:pPr>
            <a:r>
              <a:rPr lang="en-US" altLang="en-US" dirty="0">
                <a:solidFill>
                  <a:srgbClr val="000000"/>
                </a:solidFill>
                <a:cs typeface="Arial" panose="020B0604020202020204" pitchFamily="34" charset="0"/>
              </a:rPr>
              <a:t>Make the subjective decision regarding the acceptable interval estimate</a:t>
            </a:r>
          </a:p>
          <a:p>
            <a:pPr marL="255651" lvl="0" indent="-255651">
              <a:spcAft>
                <a:spcPct val="0"/>
              </a:spcAft>
              <a:buSzPts val="2400"/>
              <a:tabLst/>
            </a:pPr>
            <a:r>
              <a:rPr lang="en-US" altLang="en-US" dirty="0">
                <a:solidFill>
                  <a:srgbClr val="000000"/>
                </a:solidFill>
                <a:cs typeface="Arial" panose="020B0604020202020204" pitchFamily="34" charset="0"/>
              </a:rPr>
              <a:t>Choose the confidence level</a:t>
            </a:r>
          </a:p>
          <a:p>
            <a:pPr marL="255651" lvl="0" indent="-255651">
              <a:spcAft>
                <a:spcPct val="0"/>
              </a:spcAft>
              <a:buSzPts val="2400"/>
              <a:tabLst/>
            </a:pPr>
            <a:r>
              <a:rPr lang="en-US" altLang="en-US" dirty="0">
                <a:solidFill>
                  <a:srgbClr val="000000"/>
                </a:solidFill>
                <a:cs typeface="Arial" panose="020B0604020202020204" pitchFamily="34" charset="0"/>
              </a:rPr>
              <a:t>Calculate the standard error</a:t>
            </a:r>
          </a:p>
          <a:p>
            <a:pPr marL="255651" lvl="0" indent="-255651">
              <a:spcAft>
                <a:spcPct val="0"/>
              </a:spcAft>
              <a:buSzPts val="2400"/>
              <a:tabLst/>
            </a:pPr>
            <a:r>
              <a:rPr lang="en-US" altLang="en-US" dirty="0">
                <a:solidFill>
                  <a:srgbClr val="000000"/>
                </a:solidFill>
                <a:cs typeface="Arial" panose="020B0604020202020204" pitchFamily="34" charset="0"/>
              </a:rPr>
              <a:t>Determine the sample size</a:t>
            </a:r>
          </a:p>
        </p:txBody>
      </p:sp>
    </p:spTree>
    <p:extLst>
      <p:ext uri="{BB962C8B-B14F-4D97-AF65-F5344CB8AC3E}">
        <p14:creationId xmlns:p14="http://schemas.microsoft.com/office/powerpoint/2010/main" val="357273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C098-699D-4A7E-B9F5-EBE79975E7BE}"/>
              </a:ext>
            </a:extLst>
          </p:cNvPr>
          <p:cNvSpPr>
            <a:spLocks noGrp="1"/>
          </p:cNvSpPr>
          <p:nvPr>
            <p:ph type="title"/>
          </p:nvPr>
        </p:nvSpPr>
        <p:spPr>
          <a:xfrm>
            <a:off x="457200" y="92765"/>
            <a:ext cx="8229600" cy="1219885"/>
          </a:xfrm>
        </p:spPr>
        <p:txBody>
          <a:bodyPr/>
          <a:lstStyle/>
          <a:p>
            <a:r>
              <a:rPr lang="en-US" altLang="en-US" sz="2400" dirty="0">
                <a:sym typeface="Arial"/>
              </a:rPr>
              <a:t>Figure 5.2 A System Analysis can use a Table of Area under a Normal Curve to Look up a Value Once the Confidence Level is Decided</a:t>
            </a:r>
            <a:endParaRPr lang="en-US" sz="2400" dirty="0"/>
          </a:p>
        </p:txBody>
      </p:sp>
      <p:pic>
        <p:nvPicPr>
          <p:cNvPr id="5" name="Picture 4" descr="A table shows Confidence levels and Confidence coefficient (z value) at different confidence levels. Long description in notes, press F6.">
            <a:extLst>
              <a:ext uri="{FF2B5EF4-FFF2-40B4-BE49-F238E27FC236}">
                <a16:creationId xmlns:a16="http://schemas.microsoft.com/office/drawing/2014/main" id="{0D6D4EB5-DCAA-4F4D-A360-4B65C45D6DBF}"/>
              </a:ext>
            </a:extLst>
          </p:cNvPr>
          <p:cNvPicPr>
            <a:picLocks noChangeAspect="1"/>
          </p:cNvPicPr>
          <p:nvPr/>
        </p:nvPicPr>
        <p:blipFill rotWithShape="1">
          <a:blip r:embed="rId3"/>
          <a:srcRect b="3274"/>
          <a:stretch/>
        </p:blipFill>
        <p:spPr>
          <a:xfrm>
            <a:off x="1212756" y="1761238"/>
            <a:ext cx="6718489" cy="4149232"/>
          </a:xfrm>
          <a:prstGeom prst="rect">
            <a:avLst/>
          </a:prstGeom>
        </p:spPr>
      </p:pic>
    </p:spTree>
    <p:extLst>
      <p:ext uri="{BB962C8B-B14F-4D97-AF65-F5344CB8AC3E}">
        <p14:creationId xmlns:p14="http://schemas.microsoft.com/office/powerpoint/2010/main" val="947721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E2B0-0AFF-4C5B-80F6-A8F85EE9E234}"/>
              </a:ext>
            </a:extLst>
          </p:cNvPr>
          <p:cNvSpPr>
            <a:spLocks noGrp="1"/>
          </p:cNvSpPr>
          <p:nvPr>
            <p:ph type="title"/>
          </p:nvPr>
        </p:nvSpPr>
        <p:spPr/>
        <p:txBody>
          <a:bodyPr/>
          <a:lstStyle/>
          <a:p>
            <a:r>
              <a:rPr lang="en-US" altLang="en-US" sz="3200" dirty="0">
                <a:sym typeface="Arial"/>
              </a:rPr>
              <a:t>Calculate the Standard Error of the Proportion</a:t>
            </a:r>
            <a:endParaRPr lang="en-US" sz="3200" dirty="0"/>
          </a:p>
        </p:txBody>
      </p:sp>
      <p:graphicFrame>
        <p:nvGraphicFramePr>
          <p:cNvPr id="4" name="Object 3" descr="sigma sub p = start fraction i over z end fraction">
            <a:extLst>
              <a:ext uri="{FF2B5EF4-FFF2-40B4-BE49-F238E27FC236}">
                <a16:creationId xmlns:a16="http://schemas.microsoft.com/office/drawing/2014/main" id="{EA295AC9-66D0-42CF-9F47-FE15E2E8E4DB}"/>
              </a:ext>
            </a:extLst>
          </p:cNvPr>
          <p:cNvGraphicFramePr>
            <a:graphicFrameLocks noChangeAspect="1"/>
          </p:cNvGraphicFramePr>
          <p:nvPr>
            <p:extLst>
              <p:ext uri="{D42A27DB-BD31-4B8C-83A1-F6EECF244321}">
                <p14:modId xmlns:p14="http://schemas.microsoft.com/office/powerpoint/2010/main" val="2695710486"/>
              </p:ext>
            </p:extLst>
          </p:nvPr>
        </p:nvGraphicFramePr>
        <p:xfrm>
          <a:off x="4037253" y="1951592"/>
          <a:ext cx="1069494" cy="827566"/>
        </p:xfrm>
        <a:graphic>
          <a:graphicData uri="http://schemas.openxmlformats.org/presentationml/2006/ole">
            <mc:AlternateContent xmlns:mc="http://schemas.openxmlformats.org/markup-compatibility/2006">
              <mc:Choice xmlns:v="urn:schemas-microsoft-com:vml" Requires="v">
                <p:oleObj spid="_x0000_s1042" name="Equation" r:id="rId3" imgW="507960" imgH="393480" progId="Equation.DSMT4">
                  <p:embed/>
                </p:oleObj>
              </mc:Choice>
              <mc:Fallback>
                <p:oleObj name="Equation" r:id="rId3" imgW="507960" imgH="393480" progId="Equation.DSMT4">
                  <p:embed/>
                  <p:pic>
                    <p:nvPicPr>
                      <p:cNvPr id="20" name="Object 19">
                        <a:extLst>
                          <a:ext uri="{FF2B5EF4-FFF2-40B4-BE49-F238E27FC236}">
                            <a16:creationId xmlns:a16="http://schemas.microsoft.com/office/drawing/2014/main" id="{AFDB4566-DD41-42E7-85E7-8328AF13DD80}"/>
                          </a:ext>
                        </a:extLst>
                      </p:cNvPr>
                      <p:cNvPicPr/>
                      <p:nvPr/>
                    </p:nvPicPr>
                    <p:blipFill>
                      <a:blip r:embed="rId4"/>
                      <a:stretch>
                        <a:fillRect/>
                      </a:stretch>
                    </p:blipFill>
                    <p:spPr>
                      <a:xfrm>
                        <a:off x="4037253" y="1951592"/>
                        <a:ext cx="1069494" cy="827566"/>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2441F0E8-688F-461A-A14A-D3FCF7B56613}"/>
              </a:ext>
            </a:extLst>
          </p:cNvPr>
          <p:cNvSpPr>
            <a:spLocks noGrp="1"/>
          </p:cNvSpPr>
          <p:nvPr>
            <p:ph sz="quarter" idx="13"/>
          </p:nvPr>
        </p:nvSpPr>
        <p:spPr>
          <a:xfrm>
            <a:off x="457200" y="3292360"/>
            <a:ext cx="8229600" cy="1319395"/>
          </a:xfrm>
        </p:spPr>
        <p:txBody>
          <a:bodyPr/>
          <a:lstStyle/>
          <a:p>
            <a:pPr marL="0" lvl="0" indent="0">
              <a:spcBef>
                <a:spcPts val="0"/>
              </a:spcBef>
              <a:buSzPts val="2400"/>
              <a:buNone/>
            </a:pPr>
            <a:r>
              <a:rPr lang="en-US" altLang="en-US" i="1" dirty="0">
                <a:solidFill>
                  <a:srgbClr val="000000"/>
                </a:solidFill>
                <a:cs typeface="Arial" panose="020B0604020202020204" pitchFamily="34" charset="0"/>
              </a:rPr>
              <a:t>i</a:t>
            </a:r>
            <a:r>
              <a:rPr lang="en-US" altLang="en-US" b="1"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 interval estimate</a:t>
            </a:r>
          </a:p>
          <a:p>
            <a:pPr marL="0" lvl="0" indent="0">
              <a:spcBef>
                <a:spcPts val="0"/>
              </a:spcBef>
              <a:buSzPts val="2400"/>
              <a:buNone/>
            </a:pPr>
            <a:r>
              <a:rPr lang="en-US" altLang="en-US" i="1" dirty="0">
                <a:solidFill>
                  <a:srgbClr val="000000"/>
                </a:solidFill>
                <a:cs typeface="Arial" panose="020B0604020202020204" pitchFamily="34" charset="0"/>
              </a:rPr>
              <a:t>z</a:t>
            </a:r>
            <a:r>
              <a:rPr lang="en-US" altLang="en-US" b="1"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 confidence coefficient found in the confidence level lookup table</a:t>
            </a:r>
            <a:endParaRPr lang="en-US" altLang="en-US" baseline="-25000" dirty="0">
              <a:solidFill>
                <a:srgbClr val="000000"/>
              </a:solidFill>
              <a:cs typeface="Arial" panose="020B0604020202020204" pitchFamily="34" charset="0"/>
            </a:endParaRPr>
          </a:p>
        </p:txBody>
      </p:sp>
    </p:spTree>
    <p:extLst>
      <p:ext uri="{BB962C8B-B14F-4D97-AF65-F5344CB8AC3E}">
        <p14:creationId xmlns:p14="http://schemas.microsoft.com/office/powerpoint/2010/main" val="2068406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3F19-9EE2-48FA-BB3E-80E20CAD54AE}"/>
              </a:ext>
            </a:extLst>
          </p:cNvPr>
          <p:cNvSpPr>
            <a:spLocks noGrp="1"/>
          </p:cNvSpPr>
          <p:nvPr>
            <p:ph type="title"/>
          </p:nvPr>
        </p:nvSpPr>
        <p:spPr/>
        <p:txBody>
          <a:bodyPr/>
          <a:lstStyle/>
          <a:p>
            <a:r>
              <a:rPr lang="en-US" altLang="en-US" dirty="0">
                <a:sym typeface="Arial"/>
              </a:rPr>
              <a:t>Determine the Sample Size</a:t>
            </a:r>
            <a:endParaRPr lang="en-US" dirty="0"/>
          </a:p>
        </p:txBody>
      </p:sp>
      <p:graphicFrame>
        <p:nvGraphicFramePr>
          <p:cNvPr id="7" name="Object 6" descr="N equals p left parenthesis 1 minus p right parenthesis over sigma sub phi to the second power plus 1">
            <a:extLst>
              <a:ext uri="{FF2B5EF4-FFF2-40B4-BE49-F238E27FC236}">
                <a16:creationId xmlns:a16="http://schemas.microsoft.com/office/drawing/2014/main" id="{6DF7A7F3-2D49-4C22-BD9A-D3E755419927}"/>
              </a:ext>
            </a:extLst>
          </p:cNvPr>
          <p:cNvGraphicFramePr>
            <a:graphicFrameLocks noChangeAspect="1"/>
          </p:cNvGraphicFramePr>
          <p:nvPr>
            <p:extLst>
              <p:ext uri="{D42A27DB-BD31-4B8C-83A1-F6EECF244321}">
                <p14:modId xmlns:p14="http://schemas.microsoft.com/office/powerpoint/2010/main" val="2039245200"/>
              </p:ext>
            </p:extLst>
          </p:nvPr>
        </p:nvGraphicFramePr>
        <p:xfrm>
          <a:off x="3515519" y="1884363"/>
          <a:ext cx="2112962" cy="962025"/>
        </p:xfrm>
        <a:graphic>
          <a:graphicData uri="http://schemas.openxmlformats.org/presentationml/2006/ole">
            <mc:AlternateContent xmlns:mc="http://schemas.openxmlformats.org/markup-compatibility/2006">
              <mc:Choice xmlns:v="urn:schemas-microsoft-com:vml" Requires="v">
                <p:oleObj spid="_x0000_s2104" name="Equation" r:id="rId3" imgW="1002960" imgH="457200" progId="Equation.DSMT4">
                  <p:embed/>
                </p:oleObj>
              </mc:Choice>
              <mc:Fallback>
                <p:oleObj name="Equation" r:id="rId3" imgW="1002960" imgH="457200" progId="Equation.DSMT4">
                  <p:embed/>
                  <p:pic>
                    <p:nvPicPr>
                      <p:cNvPr id="4" name="Object 3">
                        <a:extLst>
                          <a:ext uri="{FF2B5EF4-FFF2-40B4-BE49-F238E27FC236}">
                            <a16:creationId xmlns:a16="http://schemas.microsoft.com/office/drawing/2014/main" id="{EA295AC9-66D0-42CF-9F47-FE15E2E8E4DB}"/>
                          </a:ext>
                        </a:extLst>
                      </p:cNvPr>
                      <p:cNvPicPr/>
                      <p:nvPr/>
                    </p:nvPicPr>
                    <p:blipFill>
                      <a:blip r:embed="rId4"/>
                      <a:stretch>
                        <a:fillRect/>
                      </a:stretch>
                    </p:blipFill>
                    <p:spPr>
                      <a:xfrm>
                        <a:off x="3515519" y="1884363"/>
                        <a:ext cx="2112962" cy="962025"/>
                      </a:xfrm>
                      <a:prstGeom prst="rect">
                        <a:avLst/>
                      </a:prstGeom>
                    </p:spPr>
                  </p:pic>
                </p:oleObj>
              </mc:Fallback>
            </mc:AlternateContent>
          </a:graphicData>
        </a:graphic>
      </p:graphicFrame>
      <p:graphicFrame>
        <p:nvGraphicFramePr>
          <p:cNvPr id="8" name="Object 7" descr="sigma sub phi = ">
            <a:extLst>
              <a:ext uri="{FF2B5EF4-FFF2-40B4-BE49-F238E27FC236}">
                <a16:creationId xmlns:a16="http://schemas.microsoft.com/office/drawing/2014/main" id="{F06A2B1E-0035-40AE-8CF3-7084023625E6}"/>
              </a:ext>
            </a:extLst>
          </p:cNvPr>
          <p:cNvGraphicFramePr>
            <a:graphicFrameLocks noChangeAspect="1"/>
          </p:cNvGraphicFramePr>
          <p:nvPr>
            <p:extLst>
              <p:ext uri="{D42A27DB-BD31-4B8C-83A1-F6EECF244321}">
                <p14:modId xmlns:p14="http://schemas.microsoft.com/office/powerpoint/2010/main" val="2784465932"/>
              </p:ext>
            </p:extLst>
          </p:nvPr>
        </p:nvGraphicFramePr>
        <p:xfrm>
          <a:off x="811213" y="3040063"/>
          <a:ext cx="701675" cy="490537"/>
        </p:xfrm>
        <a:graphic>
          <a:graphicData uri="http://schemas.openxmlformats.org/presentationml/2006/ole">
            <mc:AlternateContent xmlns:mc="http://schemas.openxmlformats.org/markup-compatibility/2006">
              <mc:Choice xmlns:v="urn:schemas-microsoft-com:vml" Requires="v">
                <p:oleObj spid="_x0000_s2105" name="Equation" r:id="rId5" imgW="342720" imgH="241200" progId="Equation.DSMT4">
                  <p:embed/>
                </p:oleObj>
              </mc:Choice>
              <mc:Fallback>
                <p:oleObj name="Equation" r:id="rId5" imgW="342720" imgH="241200" progId="Equation.DSMT4">
                  <p:embed/>
                  <p:pic>
                    <p:nvPicPr>
                      <p:cNvPr id="7" name="Object 6">
                        <a:extLst>
                          <a:ext uri="{FF2B5EF4-FFF2-40B4-BE49-F238E27FC236}">
                            <a16:creationId xmlns:a16="http://schemas.microsoft.com/office/drawing/2014/main" id="{6DF7A7F3-2D49-4C22-BD9A-D3E755419927}"/>
                          </a:ext>
                        </a:extLst>
                      </p:cNvPr>
                      <p:cNvPicPr/>
                      <p:nvPr/>
                    </p:nvPicPr>
                    <p:blipFill>
                      <a:blip r:embed="rId6"/>
                      <a:stretch>
                        <a:fillRect/>
                      </a:stretch>
                    </p:blipFill>
                    <p:spPr>
                      <a:xfrm>
                        <a:off x="811213" y="3040063"/>
                        <a:ext cx="701675" cy="49053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724BD1F-6C4F-4007-B096-E00C9E3A1650}"/>
              </a:ext>
            </a:extLst>
          </p:cNvPr>
          <p:cNvSpPr>
            <a:spLocks noGrp="1"/>
          </p:cNvSpPr>
          <p:nvPr>
            <p:ph sz="quarter" idx="13"/>
          </p:nvPr>
        </p:nvSpPr>
        <p:spPr>
          <a:xfrm>
            <a:off x="1619546" y="3008242"/>
            <a:ext cx="2236840" cy="504000"/>
          </a:xfrm>
        </p:spPr>
        <p:txBody>
          <a:bodyPr lIns="0"/>
          <a:lstStyle/>
          <a:p>
            <a:pPr marL="432" indent="0">
              <a:buNone/>
            </a:pPr>
            <a:r>
              <a:rPr lang="en-US" altLang="en-US" dirty="0">
                <a:solidFill>
                  <a:srgbClr val="000000"/>
                </a:solidFill>
                <a:cs typeface="Arial" panose="020B0604020202020204" pitchFamily="34" charset="0"/>
              </a:rPr>
              <a:t>standard error</a:t>
            </a:r>
            <a:endParaRPr lang="en-US" dirty="0">
              <a:cs typeface="Arial" panose="020B0604020202020204" pitchFamily="34" charset="0"/>
            </a:endParaRPr>
          </a:p>
        </p:txBody>
      </p:sp>
      <p:graphicFrame>
        <p:nvGraphicFramePr>
          <p:cNvPr id="9" name="Object 8" descr="phi =">
            <a:extLst>
              <a:ext uri="{FF2B5EF4-FFF2-40B4-BE49-F238E27FC236}">
                <a16:creationId xmlns:a16="http://schemas.microsoft.com/office/drawing/2014/main" id="{F19DEB11-713D-421D-82F7-415BC41DA581}"/>
              </a:ext>
            </a:extLst>
          </p:cNvPr>
          <p:cNvGraphicFramePr>
            <a:graphicFrameLocks noChangeAspect="1"/>
          </p:cNvGraphicFramePr>
          <p:nvPr>
            <p:extLst>
              <p:ext uri="{D42A27DB-BD31-4B8C-83A1-F6EECF244321}">
                <p14:modId xmlns:p14="http://schemas.microsoft.com/office/powerpoint/2010/main" val="3299764417"/>
              </p:ext>
            </p:extLst>
          </p:nvPr>
        </p:nvGraphicFramePr>
        <p:xfrm>
          <a:off x="843793" y="3761823"/>
          <a:ext cx="571500" cy="336550"/>
        </p:xfrm>
        <a:graphic>
          <a:graphicData uri="http://schemas.openxmlformats.org/presentationml/2006/ole">
            <mc:AlternateContent xmlns:mc="http://schemas.openxmlformats.org/markup-compatibility/2006">
              <mc:Choice xmlns:v="urn:schemas-microsoft-com:vml" Requires="v">
                <p:oleObj spid="_x0000_s2106" name="Equation" r:id="rId7" imgW="279360" imgH="164880" progId="Equation.DSMT4">
                  <p:embed/>
                </p:oleObj>
              </mc:Choice>
              <mc:Fallback>
                <p:oleObj name="Equation" r:id="rId7" imgW="279360" imgH="164880" progId="Equation.DSMT4">
                  <p:embed/>
                  <p:pic>
                    <p:nvPicPr>
                      <p:cNvPr id="8" name="Object 7">
                        <a:extLst>
                          <a:ext uri="{FF2B5EF4-FFF2-40B4-BE49-F238E27FC236}">
                            <a16:creationId xmlns:a16="http://schemas.microsoft.com/office/drawing/2014/main" id="{F06A2B1E-0035-40AE-8CF3-7084023625E6}"/>
                          </a:ext>
                        </a:extLst>
                      </p:cNvPr>
                      <p:cNvPicPr/>
                      <p:nvPr/>
                    </p:nvPicPr>
                    <p:blipFill>
                      <a:blip r:embed="rId8"/>
                      <a:stretch>
                        <a:fillRect/>
                      </a:stretch>
                    </p:blipFill>
                    <p:spPr>
                      <a:xfrm>
                        <a:off x="843793" y="3761823"/>
                        <a:ext cx="571500" cy="3365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4E7029B-D6A6-44A4-8405-6AEE07E835B1}"/>
              </a:ext>
            </a:extLst>
          </p:cNvPr>
          <p:cNvSpPr>
            <a:spLocks noGrp="1"/>
          </p:cNvSpPr>
          <p:nvPr>
            <p:ph sz="quarter" idx="14"/>
          </p:nvPr>
        </p:nvSpPr>
        <p:spPr>
          <a:xfrm>
            <a:off x="1526782" y="3619914"/>
            <a:ext cx="7128000" cy="576000"/>
          </a:xfrm>
        </p:spPr>
        <p:txBody>
          <a:bodyPr lIns="0"/>
          <a:lstStyle/>
          <a:p>
            <a:pPr marL="432" indent="0">
              <a:buNone/>
            </a:pPr>
            <a:r>
              <a:rPr lang="en-US" altLang="en-US" dirty="0">
                <a:solidFill>
                  <a:srgbClr val="000000"/>
                </a:solidFill>
                <a:cs typeface="Arial" panose="020B0604020202020204" pitchFamily="34" charset="0"/>
              </a:rPr>
              <a:t>the proportion of the population having the attribute</a:t>
            </a:r>
            <a:endParaRPr 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625245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23EFA-EF18-4BE1-BEB6-EA127503E2C9}"/>
              </a:ext>
            </a:extLst>
          </p:cNvPr>
          <p:cNvSpPr>
            <a:spLocks noGrp="1"/>
          </p:cNvSpPr>
          <p:nvPr>
            <p:ph type="title"/>
          </p:nvPr>
        </p:nvSpPr>
        <p:spPr/>
        <p:txBody>
          <a:bodyPr/>
          <a:lstStyle/>
          <a:p>
            <a:r>
              <a:rPr lang="en-US" altLang="en-US" dirty="0">
                <a:sym typeface="Arial"/>
              </a:rPr>
              <a:t>Example: A. Sembly Company</a:t>
            </a:r>
            <a:endParaRPr lang="en-US" dirty="0"/>
          </a:p>
        </p:txBody>
      </p:sp>
      <p:sp>
        <p:nvSpPr>
          <p:cNvPr id="4" name="Content Placeholder 3">
            <a:extLst>
              <a:ext uri="{FF2B5EF4-FFF2-40B4-BE49-F238E27FC236}">
                <a16:creationId xmlns:a16="http://schemas.microsoft.com/office/drawing/2014/main" id="{A071E9E0-F412-4698-9E2B-76EFA013E850}"/>
              </a:ext>
            </a:extLst>
          </p:cNvPr>
          <p:cNvSpPr>
            <a:spLocks noGrp="1"/>
          </p:cNvSpPr>
          <p:nvPr>
            <p:ph sz="quarter" idx="13"/>
          </p:nvPr>
        </p:nvSpPr>
        <p:spPr>
          <a:xfrm>
            <a:off x="457200" y="1552575"/>
            <a:ext cx="8218488" cy="165600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Determine that you are looking for orders with mistakes</a:t>
            </a:r>
          </a:p>
          <a:p>
            <a:pPr marL="255651" lvl="0" indent="-255651">
              <a:spcAft>
                <a:spcPct val="0"/>
              </a:spcAft>
              <a:buSzPts val="2400"/>
              <a:tabLst/>
            </a:pPr>
            <a:r>
              <a:rPr lang="en-US" altLang="en-US" dirty="0">
                <a:solidFill>
                  <a:srgbClr val="000000"/>
                </a:solidFill>
                <a:cs typeface="Arial" panose="020B0604020202020204" pitchFamily="34" charset="0"/>
              </a:rPr>
              <a:t>Locate order forms from the past six months</a:t>
            </a:r>
          </a:p>
          <a:p>
            <a:pPr marL="255651" lvl="0" indent="-255651">
              <a:spcAft>
                <a:spcPct val="0"/>
              </a:spcAft>
              <a:buSzPts val="2400"/>
              <a:tabLst/>
            </a:pPr>
            <a:r>
              <a:rPr lang="en-US" altLang="en-US" dirty="0">
                <a:solidFill>
                  <a:srgbClr val="000000"/>
                </a:solidFill>
                <a:cs typeface="Arial" panose="020B0604020202020204" pitchFamily="34" charset="0"/>
              </a:rPr>
              <a:t>Examine order forms and conclude that p = 5%</a:t>
            </a:r>
          </a:p>
        </p:txBody>
      </p:sp>
      <p:sp>
        <p:nvSpPr>
          <p:cNvPr id="5" name="Content Placeholder 4">
            <a:extLst>
              <a:ext uri="{FF2B5EF4-FFF2-40B4-BE49-F238E27FC236}">
                <a16:creationId xmlns:a16="http://schemas.microsoft.com/office/drawing/2014/main" id="{0ACFE5CD-95FF-4B0E-8BB8-EDBFB9274631}"/>
              </a:ext>
            </a:extLst>
          </p:cNvPr>
          <p:cNvSpPr>
            <a:spLocks noGrp="1"/>
          </p:cNvSpPr>
          <p:nvPr>
            <p:ph sz="quarter" idx="14"/>
          </p:nvPr>
        </p:nvSpPr>
        <p:spPr>
          <a:xfrm>
            <a:off x="448065" y="3290200"/>
            <a:ext cx="6084000" cy="432000"/>
          </a:xfrm>
        </p:spPr>
        <p:txBody>
          <a:bodyPr tIns="0"/>
          <a:lstStyle/>
          <a:p>
            <a:r>
              <a:rPr lang="en-US" altLang="en-US" dirty="0">
                <a:solidFill>
                  <a:srgbClr val="000000"/>
                </a:solidFill>
                <a:cs typeface="Arial" panose="020B0604020202020204" pitchFamily="34" charset="0"/>
              </a:rPr>
              <a:t>Subjective decision of acceptable interval</a:t>
            </a:r>
          </a:p>
        </p:txBody>
      </p:sp>
      <p:graphicFrame>
        <p:nvGraphicFramePr>
          <p:cNvPr id="18" name="Object 17" descr="i = + or minus 0.02">
            <a:extLst>
              <a:ext uri="{FF2B5EF4-FFF2-40B4-BE49-F238E27FC236}">
                <a16:creationId xmlns:a16="http://schemas.microsoft.com/office/drawing/2014/main" id="{0F8DBBA9-A27F-4A3B-A7C1-AF1DD3A08BBF}"/>
              </a:ext>
            </a:extLst>
          </p:cNvPr>
          <p:cNvGraphicFramePr>
            <a:graphicFrameLocks noChangeAspect="1"/>
          </p:cNvGraphicFramePr>
          <p:nvPr>
            <p:extLst>
              <p:ext uri="{D42A27DB-BD31-4B8C-83A1-F6EECF244321}">
                <p14:modId xmlns:p14="http://schemas.microsoft.com/office/powerpoint/2010/main" val="158204608"/>
              </p:ext>
            </p:extLst>
          </p:nvPr>
        </p:nvGraphicFramePr>
        <p:xfrm>
          <a:off x="6623261" y="3277567"/>
          <a:ext cx="1363662" cy="374650"/>
        </p:xfrm>
        <a:graphic>
          <a:graphicData uri="http://schemas.openxmlformats.org/presentationml/2006/ole">
            <mc:AlternateContent xmlns:mc="http://schemas.openxmlformats.org/markup-compatibility/2006">
              <mc:Choice xmlns:v="urn:schemas-microsoft-com:vml" Requires="v">
                <p:oleObj spid="_x0000_s3110" name="Equation" r:id="rId4" imgW="647640" imgH="177480" progId="Equation.DSMT4">
                  <p:embed/>
                </p:oleObj>
              </mc:Choice>
              <mc:Fallback>
                <p:oleObj name="Equation" r:id="rId4" imgW="647640" imgH="177480" progId="Equation.DSMT4">
                  <p:embed/>
                  <p:pic>
                    <p:nvPicPr>
                      <p:cNvPr id="7" name="Object 6">
                        <a:extLst>
                          <a:ext uri="{FF2B5EF4-FFF2-40B4-BE49-F238E27FC236}">
                            <a16:creationId xmlns:a16="http://schemas.microsoft.com/office/drawing/2014/main" id="{6DF7A7F3-2D49-4C22-BD9A-D3E755419927}"/>
                          </a:ext>
                        </a:extLst>
                      </p:cNvPr>
                      <p:cNvPicPr/>
                      <p:nvPr/>
                    </p:nvPicPr>
                    <p:blipFill>
                      <a:blip r:embed="rId5"/>
                      <a:stretch>
                        <a:fillRect/>
                      </a:stretch>
                    </p:blipFill>
                    <p:spPr>
                      <a:xfrm>
                        <a:off x="6623261" y="3277567"/>
                        <a:ext cx="1363662" cy="37465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8C891C0-A38D-496C-8EA0-6C444FE6A41F}"/>
              </a:ext>
            </a:extLst>
          </p:cNvPr>
          <p:cNvSpPr>
            <a:spLocks noGrp="1"/>
          </p:cNvSpPr>
          <p:nvPr>
            <p:ph sz="quarter" idx="15"/>
          </p:nvPr>
        </p:nvSpPr>
        <p:spPr>
          <a:xfrm>
            <a:off x="448068" y="3801617"/>
            <a:ext cx="8214367" cy="432000"/>
          </a:xfrm>
        </p:spPr>
        <p:txBody>
          <a:bodyPr tIns="0"/>
          <a:lstStyle/>
          <a:p>
            <a:r>
              <a:rPr lang="en-US" altLang="en-US" dirty="0">
                <a:cs typeface="Arial" panose="020B0604020202020204" pitchFamily="34" charset="0"/>
              </a:rPr>
              <a:t>Look up confidence coefficient </a:t>
            </a:r>
            <a:r>
              <a:rPr lang="en-US" altLang="en-US" i="1" dirty="0">
                <a:cs typeface="Arial" panose="020B0604020202020204" pitchFamily="34" charset="0"/>
              </a:rPr>
              <a:t>z</a:t>
            </a:r>
            <a:r>
              <a:rPr lang="en-US" altLang="en-US" dirty="0">
                <a:cs typeface="Arial" panose="020B0604020202020204" pitchFamily="34" charset="0"/>
              </a:rPr>
              <a:t> - value = 1.96</a:t>
            </a:r>
          </a:p>
        </p:txBody>
      </p:sp>
      <p:sp>
        <p:nvSpPr>
          <p:cNvPr id="7" name="Content Placeholder 6">
            <a:extLst>
              <a:ext uri="{FF2B5EF4-FFF2-40B4-BE49-F238E27FC236}">
                <a16:creationId xmlns:a16="http://schemas.microsoft.com/office/drawing/2014/main" id="{64018AD6-ADFA-40F3-9AF0-B0A223373492}"/>
              </a:ext>
            </a:extLst>
          </p:cNvPr>
          <p:cNvSpPr>
            <a:spLocks noGrp="1"/>
          </p:cNvSpPr>
          <p:nvPr>
            <p:ph sz="quarter" idx="16"/>
          </p:nvPr>
        </p:nvSpPr>
        <p:spPr>
          <a:xfrm>
            <a:off x="448062" y="4383067"/>
            <a:ext cx="1764000" cy="432000"/>
          </a:xfrm>
        </p:spPr>
        <p:txBody>
          <a:bodyPr tIns="0"/>
          <a:lstStyle/>
          <a:p>
            <a:r>
              <a:rPr lang="en-US" altLang="en-US" dirty="0">
                <a:cs typeface="Arial" panose="020B0604020202020204" pitchFamily="34" charset="0"/>
              </a:rPr>
              <a:t>Calculate</a:t>
            </a:r>
            <a:endParaRPr lang="en-US" dirty="0">
              <a:cs typeface="Arial" panose="020B0604020202020204" pitchFamily="34" charset="0"/>
            </a:endParaRPr>
          </a:p>
        </p:txBody>
      </p:sp>
      <p:graphicFrame>
        <p:nvGraphicFramePr>
          <p:cNvPr id="19" name="Object 18" descr="sigma sub p = start fraction i over z end fraction = start fraction 0.02 over 1.96 end fraction = 0.0102">
            <a:extLst>
              <a:ext uri="{FF2B5EF4-FFF2-40B4-BE49-F238E27FC236}">
                <a16:creationId xmlns:a16="http://schemas.microsoft.com/office/drawing/2014/main" id="{1272DD5D-972A-458E-95A0-F6BF2F1AEE1B}"/>
              </a:ext>
            </a:extLst>
          </p:cNvPr>
          <p:cNvGraphicFramePr>
            <a:graphicFrameLocks noChangeAspect="1"/>
          </p:cNvGraphicFramePr>
          <p:nvPr>
            <p:extLst>
              <p:ext uri="{D42A27DB-BD31-4B8C-83A1-F6EECF244321}">
                <p14:modId xmlns:p14="http://schemas.microsoft.com/office/powerpoint/2010/main" val="3621087621"/>
              </p:ext>
            </p:extLst>
          </p:nvPr>
        </p:nvGraphicFramePr>
        <p:xfrm>
          <a:off x="2281817" y="4294208"/>
          <a:ext cx="2878361" cy="713779"/>
        </p:xfrm>
        <a:graphic>
          <a:graphicData uri="http://schemas.openxmlformats.org/presentationml/2006/ole">
            <mc:AlternateContent xmlns:mc="http://schemas.openxmlformats.org/markup-compatibility/2006">
              <mc:Choice xmlns:v="urn:schemas-microsoft-com:vml" Requires="v">
                <p:oleObj spid="_x0000_s3111" name="Equation" r:id="rId6" imgW="1587240" imgH="393480" progId="Equation.DSMT4">
                  <p:embed/>
                </p:oleObj>
              </mc:Choice>
              <mc:Fallback>
                <p:oleObj name="Equation" r:id="rId6" imgW="1587240" imgH="393480" progId="Equation.DSMT4">
                  <p:embed/>
                  <p:pic>
                    <p:nvPicPr>
                      <p:cNvPr id="18" name="Object 17">
                        <a:extLst>
                          <a:ext uri="{FF2B5EF4-FFF2-40B4-BE49-F238E27FC236}">
                            <a16:creationId xmlns:a16="http://schemas.microsoft.com/office/drawing/2014/main" id="{0F8DBBA9-A27F-4A3B-A7C1-AF1DD3A08BBF}"/>
                          </a:ext>
                        </a:extLst>
                      </p:cNvPr>
                      <p:cNvPicPr/>
                      <p:nvPr/>
                    </p:nvPicPr>
                    <p:blipFill>
                      <a:blip r:embed="rId7"/>
                      <a:stretch>
                        <a:fillRect/>
                      </a:stretch>
                    </p:blipFill>
                    <p:spPr>
                      <a:xfrm>
                        <a:off x="2281817" y="4294208"/>
                        <a:ext cx="2878361" cy="713779"/>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CCD7648B-A22E-4BBB-8D8D-3A208971D2AD}"/>
              </a:ext>
            </a:extLst>
          </p:cNvPr>
          <p:cNvSpPr>
            <a:spLocks noGrp="1"/>
          </p:cNvSpPr>
          <p:nvPr>
            <p:ph sz="quarter" idx="17"/>
          </p:nvPr>
        </p:nvSpPr>
        <p:spPr>
          <a:xfrm>
            <a:off x="461319" y="5201065"/>
            <a:ext cx="5422646" cy="432000"/>
          </a:xfrm>
        </p:spPr>
        <p:txBody>
          <a:bodyPr tIns="0"/>
          <a:lstStyle/>
          <a:p>
            <a:r>
              <a:rPr lang="en-US" altLang="en-US" dirty="0">
                <a:cs typeface="Arial" panose="020B0604020202020204" pitchFamily="34" charset="0"/>
              </a:rPr>
              <a:t>Determine n; n = 458</a:t>
            </a:r>
          </a:p>
        </p:txBody>
      </p:sp>
    </p:spTree>
    <p:extLst>
      <p:ext uri="{BB962C8B-B14F-4D97-AF65-F5344CB8AC3E}">
        <p14:creationId xmlns:p14="http://schemas.microsoft.com/office/powerpoint/2010/main" val="468923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94DB-A56F-4ECF-AA3D-22BBAA9C2CF6}"/>
              </a:ext>
            </a:extLst>
          </p:cNvPr>
          <p:cNvSpPr>
            <a:spLocks noGrp="1"/>
          </p:cNvSpPr>
          <p:nvPr>
            <p:ph type="title"/>
          </p:nvPr>
        </p:nvSpPr>
        <p:spPr/>
        <p:txBody>
          <a:bodyPr/>
          <a:lstStyle/>
          <a:p>
            <a:r>
              <a:rPr lang="en-US" altLang="en-US" dirty="0">
                <a:sym typeface="Arial"/>
              </a:rPr>
              <a:t>Investigation</a:t>
            </a:r>
            <a:endParaRPr lang="en-US" dirty="0"/>
          </a:p>
        </p:txBody>
      </p:sp>
      <p:sp>
        <p:nvSpPr>
          <p:cNvPr id="3" name="Content Placeholder 2">
            <a:extLst>
              <a:ext uri="{FF2B5EF4-FFF2-40B4-BE49-F238E27FC236}">
                <a16:creationId xmlns:a16="http://schemas.microsoft.com/office/drawing/2014/main" id="{455193A7-EE31-4FDE-81E8-C4F1B9353253}"/>
              </a:ext>
            </a:extLst>
          </p:cNvPr>
          <p:cNvSpPr>
            <a:spLocks noGrp="1"/>
          </p:cNvSpPr>
          <p:nvPr>
            <p:ph sz="quarter" idx="13"/>
          </p:nvPr>
        </p:nvSpPr>
        <p:spPr>
          <a:xfrm>
            <a:off x="457200" y="1556327"/>
            <a:ext cx="8229600" cy="2017136"/>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The act of discovery and analysis of data</a:t>
            </a:r>
          </a:p>
          <a:p>
            <a:pPr marL="255651" lvl="0" indent="-255651">
              <a:spcAft>
                <a:spcPct val="0"/>
              </a:spcAft>
              <a:buSzPts val="2400"/>
              <a:tabLst/>
            </a:pPr>
            <a:r>
              <a:rPr lang="en-US" altLang="en-US" dirty="0">
                <a:solidFill>
                  <a:srgbClr val="000000"/>
                </a:solidFill>
                <a:cs typeface="Arial" panose="020B0604020202020204" pitchFamily="34" charset="0"/>
              </a:rPr>
              <a:t>Hard data</a:t>
            </a:r>
          </a:p>
          <a:p>
            <a:pPr marL="741553" lvl="1" indent="-284353">
              <a:spcAft>
                <a:spcPct val="0"/>
              </a:spcAft>
              <a:buSzPts val="2400"/>
            </a:pPr>
            <a:r>
              <a:rPr lang="en-US" altLang="en-US" dirty="0">
                <a:solidFill>
                  <a:srgbClr val="000000"/>
                </a:solidFill>
                <a:cs typeface="Arial" panose="020B0604020202020204" pitchFamily="34" charset="0"/>
              </a:rPr>
              <a:t>Quantitative</a:t>
            </a:r>
          </a:p>
          <a:p>
            <a:pPr marL="741553" lvl="1" indent="-284353">
              <a:spcAft>
                <a:spcPct val="0"/>
              </a:spcAft>
              <a:buSzPts val="2400"/>
            </a:pPr>
            <a:r>
              <a:rPr lang="en-US" altLang="en-US" dirty="0">
                <a:solidFill>
                  <a:srgbClr val="000000"/>
                </a:solidFill>
                <a:cs typeface="Arial" panose="020B0604020202020204" pitchFamily="34" charset="0"/>
              </a:rPr>
              <a:t>Qualitative</a:t>
            </a:r>
          </a:p>
        </p:txBody>
      </p:sp>
    </p:spTree>
    <p:extLst>
      <p:ext uri="{BB962C8B-B14F-4D97-AF65-F5344CB8AC3E}">
        <p14:creationId xmlns:p14="http://schemas.microsoft.com/office/powerpoint/2010/main" val="424402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8756-E1BA-48E4-ABCD-8DC8117A882E}"/>
              </a:ext>
            </a:extLst>
          </p:cNvPr>
          <p:cNvSpPr>
            <a:spLocks noGrp="1"/>
          </p:cNvSpPr>
          <p:nvPr>
            <p:ph type="title"/>
          </p:nvPr>
        </p:nvSpPr>
        <p:spPr/>
        <p:txBody>
          <a:bodyPr/>
          <a:lstStyle/>
          <a:p>
            <a:r>
              <a:rPr lang="en-US" altLang="en-US" dirty="0">
                <a:sym typeface="Arial"/>
              </a:rPr>
              <a:t>Analyzing Quantitative Documents</a:t>
            </a:r>
            <a:endParaRPr lang="en-US" dirty="0"/>
          </a:p>
        </p:txBody>
      </p:sp>
      <p:sp>
        <p:nvSpPr>
          <p:cNvPr id="3" name="Content Placeholder 2">
            <a:extLst>
              <a:ext uri="{FF2B5EF4-FFF2-40B4-BE49-F238E27FC236}">
                <a16:creationId xmlns:a16="http://schemas.microsoft.com/office/drawing/2014/main" id="{9BCC7509-4A1B-4AC0-A87A-3D46550FCAF8}"/>
              </a:ext>
            </a:extLst>
          </p:cNvPr>
          <p:cNvSpPr>
            <a:spLocks noGrp="1"/>
          </p:cNvSpPr>
          <p:nvPr>
            <p:ph sz="quarter" idx="13"/>
          </p:nvPr>
        </p:nvSpPr>
        <p:spPr>
          <a:xfrm>
            <a:off x="457200" y="1556327"/>
            <a:ext cx="8229600" cy="288315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Reports used for decision making</a:t>
            </a:r>
          </a:p>
          <a:p>
            <a:pPr marL="255651" lvl="0" indent="-255651">
              <a:spcAft>
                <a:spcPct val="0"/>
              </a:spcAft>
              <a:buSzPts val="2400"/>
              <a:tabLst/>
            </a:pPr>
            <a:r>
              <a:rPr lang="en-US" altLang="en-US" dirty="0">
                <a:solidFill>
                  <a:srgbClr val="000000"/>
                </a:solidFill>
                <a:cs typeface="Arial" panose="020B0604020202020204" pitchFamily="34" charset="0"/>
              </a:rPr>
              <a:t>Performance reports</a:t>
            </a:r>
          </a:p>
          <a:p>
            <a:pPr marL="255651" lvl="0" indent="-255651">
              <a:spcAft>
                <a:spcPct val="0"/>
              </a:spcAft>
              <a:buSzPts val="2400"/>
              <a:tabLst/>
            </a:pPr>
            <a:r>
              <a:rPr lang="en-US" altLang="en-US" dirty="0">
                <a:solidFill>
                  <a:srgbClr val="000000"/>
                </a:solidFill>
                <a:cs typeface="Arial" panose="020B0604020202020204" pitchFamily="34" charset="0"/>
              </a:rPr>
              <a:t>Records</a:t>
            </a:r>
          </a:p>
          <a:p>
            <a:pPr marL="255651" lvl="0" indent="-255651">
              <a:spcAft>
                <a:spcPct val="0"/>
              </a:spcAft>
              <a:buSzPts val="2400"/>
              <a:tabLst/>
            </a:pPr>
            <a:r>
              <a:rPr lang="en-US" altLang="en-US" dirty="0">
                <a:solidFill>
                  <a:srgbClr val="000000"/>
                </a:solidFill>
                <a:cs typeface="Arial" panose="020B0604020202020204" pitchFamily="34" charset="0"/>
              </a:rPr>
              <a:t>Data capture forms</a:t>
            </a:r>
          </a:p>
          <a:p>
            <a:pPr marL="255651" lvl="0" indent="-255651">
              <a:spcAft>
                <a:spcPct val="0"/>
              </a:spcAft>
              <a:buSzPts val="2400"/>
              <a:tabLst/>
            </a:pPr>
            <a:r>
              <a:rPr lang="en-US" altLang="en-US" dirty="0">
                <a:solidFill>
                  <a:srgbClr val="000000"/>
                </a:solidFill>
                <a:cs typeface="Arial" panose="020B0604020202020204" pitchFamily="34" charset="0"/>
              </a:rPr>
              <a:t>Ecommerce and other transactions</a:t>
            </a:r>
          </a:p>
        </p:txBody>
      </p:sp>
    </p:spTree>
    <p:extLst>
      <p:ext uri="{BB962C8B-B14F-4D97-AF65-F5344CB8AC3E}">
        <p14:creationId xmlns:p14="http://schemas.microsoft.com/office/powerpoint/2010/main" val="1778097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CBB-D7EA-4462-8D44-680681A48346}"/>
              </a:ext>
            </a:extLst>
          </p:cNvPr>
          <p:cNvSpPr>
            <a:spLocks noGrp="1"/>
          </p:cNvSpPr>
          <p:nvPr>
            <p:ph type="title"/>
          </p:nvPr>
        </p:nvSpPr>
        <p:spPr/>
        <p:txBody>
          <a:bodyPr/>
          <a:lstStyle/>
          <a:p>
            <a:r>
              <a:rPr lang="en-US" altLang="en-US" dirty="0">
                <a:sym typeface="Arial"/>
              </a:rPr>
              <a:t>Reports Used for Decision Making</a:t>
            </a:r>
            <a:endParaRPr lang="en-US" dirty="0"/>
          </a:p>
        </p:txBody>
      </p:sp>
      <p:sp>
        <p:nvSpPr>
          <p:cNvPr id="3" name="Content Placeholder 2">
            <a:extLst>
              <a:ext uri="{FF2B5EF4-FFF2-40B4-BE49-F238E27FC236}">
                <a16:creationId xmlns:a16="http://schemas.microsoft.com/office/drawing/2014/main" id="{FDC635DB-EAC5-461A-861E-A665BEF53090}"/>
              </a:ext>
            </a:extLst>
          </p:cNvPr>
          <p:cNvSpPr>
            <a:spLocks noGrp="1"/>
          </p:cNvSpPr>
          <p:nvPr>
            <p:ph sz="quarter" idx="13"/>
          </p:nvPr>
        </p:nvSpPr>
        <p:spPr>
          <a:xfrm>
            <a:off x="457200" y="1556327"/>
            <a:ext cx="8229600" cy="1756716"/>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Sales reports</a:t>
            </a:r>
          </a:p>
          <a:p>
            <a:pPr marL="255651" lvl="0" indent="-255651">
              <a:spcAft>
                <a:spcPct val="0"/>
              </a:spcAft>
              <a:buSzPts val="2400"/>
              <a:tabLst/>
            </a:pPr>
            <a:r>
              <a:rPr lang="en-US" altLang="en-US" dirty="0">
                <a:solidFill>
                  <a:srgbClr val="000000"/>
                </a:solidFill>
                <a:cs typeface="Arial" panose="020B0604020202020204" pitchFamily="34" charset="0"/>
              </a:rPr>
              <a:t>Production reports</a:t>
            </a:r>
          </a:p>
          <a:p>
            <a:pPr marL="255651" lvl="0" indent="-255651">
              <a:spcAft>
                <a:spcPct val="0"/>
              </a:spcAft>
              <a:buSzPts val="2400"/>
              <a:tabLst/>
            </a:pPr>
            <a:r>
              <a:rPr lang="en-US" altLang="en-US" dirty="0">
                <a:solidFill>
                  <a:srgbClr val="000000"/>
                </a:solidFill>
                <a:cs typeface="Arial" panose="020B0604020202020204" pitchFamily="34" charset="0"/>
              </a:rPr>
              <a:t>Summary reports</a:t>
            </a:r>
          </a:p>
        </p:txBody>
      </p:sp>
    </p:spTree>
    <p:extLst>
      <p:ext uri="{BB962C8B-B14F-4D97-AF65-F5344CB8AC3E}">
        <p14:creationId xmlns:p14="http://schemas.microsoft.com/office/powerpoint/2010/main" val="2515095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016EE-683E-476B-A865-2F112C217ADA}"/>
              </a:ext>
            </a:extLst>
          </p:cNvPr>
          <p:cNvSpPr>
            <a:spLocks noGrp="1"/>
          </p:cNvSpPr>
          <p:nvPr>
            <p:ph type="title"/>
          </p:nvPr>
        </p:nvSpPr>
        <p:spPr/>
        <p:txBody>
          <a:bodyPr/>
          <a:lstStyle/>
          <a:p>
            <a:r>
              <a:rPr lang="en-US" altLang="en-US" sz="3200" dirty="0">
                <a:sym typeface="Arial"/>
              </a:rPr>
              <a:t>Figure 5.3 A Performance Report Showing Improvement</a:t>
            </a:r>
            <a:endParaRPr lang="en-US" sz="3200" dirty="0"/>
          </a:p>
        </p:txBody>
      </p:sp>
      <p:pic>
        <p:nvPicPr>
          <p:cNvPr id="5" name="Picture 4" descr="A table shows a performance report showing improvement. Long description in notes, press F6.">
            <a:extLst>
              <a:ext uri="{FF2B5EF4-FFF2-40B4-BE49-F238E27FC236}">
                <a16:creationId xmlns:a16="http://schemas.microsoft.com/office/drawing/2014/main" id="{042CCD11-A71A-47E7-B2CB-C1AA50A563E3}"/>
              </a:ext>
            </a:extLst>
          </p:cNvPr>
          <p:cNvPicPr>
            <a:picLocks noChangeAspect="1"/>
          </p:cNvPicPr>
          <p:nvPr/>
        </p:nvPicPr>
        <p:blipFill rotWithShape="1">
          <a:blip r:embed="rId3"/>
          <a:srcRect b="2325"/>
          <a:stretch/>
        </p:blipFill>
        <p:spPr>
          <a:xfrm>
            <a:off x="1657064" y="1579882"/>
            <a:ext cx="5829872" cy="4681992"/>
          </a:xfrm>
          <a:prstGeom prst="rect">
            <a:avLst/>
          </a:prstGeom>
        </p:spPr>
      </p:pic>
    </p:spTree>
    <p:extLst>
      <p:ext uri="{BB962C8B-B14F-4D97-AF65-F5344CB8AC3E}">
        <p14:creationId xmlns:p14="http://schemas.microsoft.com/office/powerpoint/2010/main" val="879512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E675-562E-47C3-85F2-D7CBAFFADC47}"/>
              </a:ext>
            </a:extLst>
          </p:cNvPr>
          <p:cNvSpPr>
            <a:spLocks noGrp="1"/>
          </p:cNvSpPr>
          <p:nvPr>
            <p:ph type="title"/>
          </p:nvPr>
        </p:nvSpPr>
        <p:spPr/>
        <p:txBody>
          <a:bodyPr/>
          <a:lstStyle/>
          <a:p>
            <a:r>
              <a:rPr lang="en-US" altLang="en-US" sz="3200" dirty="0">
                <a:sym typeface="Arial"/>
              </a:rPr>
              <a:t>Figure 5.4 A Manually Completed Payment Record</a:t>
            </a:r>
            <a:endParaRPr lang="en-US" sz="3200" dirty="0"/>
          </a:p>
        </p:txBody>
      </p:sp>
      <p:pic>
        <p:nvPicPr>
          <p:cNvPr id="7" name="Picture 6" descr="An illustration shows manually completed payment record. Long description in notes, press F6.">
            <a:extLst>
              <a:ext uri="{FF2B5EF4-FFF2-40B4-BE49-F238E27FC236}">
                <a16:creationId xmlns:a16="http://schemas.microsoft.com/office/drawing/2014/main" id="{BD72CD9F-AF09-48FF-837A-F07E7078AB5F}"/>
              </a:ext>
            </a:extLst>
          </p:cNvPr>
          <p:cNvPicPr>
            <a:picLocks noChangeAspect="1"/>
          </p:cNvPicPr>
          <p:nvPr/>
        </p:nvPicPr>
        <p:blipFill rotWithShape="1">
          <a:blip r:embed="rId3"/>
          <a:srcRect b="2325"/>
          <a:stretch/>
        </p:blipFill>
        <p:spPr>
          <a:xfrm>
            <a:off x="1978887" y="1550308"/>
            <a:ext cx="5186226" cy="4662403"/>
          </a:xfrm>
          <a:prstGeom prst="rect">
            <a:avLst/>
          </a:prstGeom>
        </p:spPr>
      </p:pic>
    </p:spTree>
    <p:extLst>
      <p:ext uri="{BB962C8B-B14F-4D97-AF65-F5344CB8AC3E}">
        <p14:creationId xmlns:p14="http://schemas.microsoft.com/office/powerpoint/2010/main" val="1822896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7C19-26AA-4D81-8FB0-3035D73D31A0}"/>
              </a:ext>
            </a:extLst>
          </p:cNvPr>
          <p:cNvSpPr>
            <a:spLocks noGrp="1"/>
          </p:cNvSpPr>
          <p:nvPr>
            <p:ph type="title"/>
          </p:nvPr>
        </p:nvSpPr>
        <p:spPr/>
        <p:txBody>
          <a:bodyPr/>
          <a:lstStyle/>
          <a:p>
            <a:r>
              <a:rPr lang="en-US" altLang="en-US" dirty="0">
                <a:sym typeface="Arial"/>
              </a:rPr>
              <a:t>Records</a:t>
            </a:r>
            <a:endParaRPr lang="en-US" dirty="0"/>
          </a:p>
        </p:txBody>
      </p:sp>
      <p:sp>
        <p:nvSpPr>
          <p:cNvPr id="3" name="Content Placeholder 2">
            <a:extLst>
              <a:ext uri="{FF2B5EF4-FFF2-40B4-BE49-F238E27FC236}">
                <a16:creationId xmlns:a16="http://schemas.microsoft.com/office/drawing/2014/main" id="{D1E1D06E-9206-4EAD-BCA3-07FADBE8428C}"/>
              </a:ext>
            </a:extLst>
          </p:cNvPr>
          <p:cNvSpPr>
            <a:spLocks noGrp="1"/>
          </p:cNvSpPr>
          <p:nvPr>
            <p:ph sz="quarter" idx="13"/>
          </p:nvPr>
        </p:nvSpPr>
        <p:spPr>
          <a:xfrm>
            <a:off x="457200" y="1556327"/>
            <a:ext cx="8229600" cy="432763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Records provide periodic updates of what is occurring in the business</a:t>
            </a:r>
          </a:p>
          <a:p>
            <a:pPr marL="255651" lvl="0" indent="-255651">
              <a:spcAft>
                <a:spcPct val="0"/>
              </a:spcAft>
              <a:buSzPts val="2400"/>
              <a:tabLst/>
            </a:pPr>
            <a:r>
              <a:rPr lang="en-US" altLang="en-US" dirty="0">
                <a:solidFill>
                  <a:srgbClr val="000000"/>
                </a:solidFill>
                <a:cs typeface="Arial" panose="020B0604020202020204" pitchFamily="34" charset="0"/>
              </a:rPr>
              <a:t>There are several ways to inspect a record:</a:t>
            </a:r>
          </a:p>
          <a:p>
            <a:pPr marL="741553" lvl="1" indent="-284353">
              <a:spcAft>
                <a:spcPct val="0"/>
              </a:spcAft>
              <a:buSzPts val="2400"/>
            </a:pPr>
            <a:r>
              <a:rPr lang="en-US" altLang="en-US" dirty="0">
                <a:solidFill>
                  <a:srgbClr val="000000"/>
                </a:solidFill>
                <a:cs typeface="Arial" panose="020B0604020202020204" pitchFamily="34" charset="0"/>
              </a:rPr>
              <a:t>Checking for errors in amounts and totals</a:t>
            </a:r>
          </a:p>
          <a:p>
            <a:pPr marL="741553" lvl="1" indent="-284353">
              <a:spcAft>
                <a:spcPct val="0"/>
              </a:spcAft>
              <a:buSzPts val="2400"/>
            </a:pPr>
            <a:r>
              <a:rPr lang="en-US" altLang="en-US" dirty="0">
                <a:solidFill>
                  <a:srgbClr val="000000"/>
                </a:solidFill>
                <a:cs typeface="Arial" panose="020B0604020202020204" pitchFamily="34" charset="0"/>
              </a:rPr>
              <a:t>Looking for opportunities for improving the recording form design</a:t>
            </a:r>
          </a:p>
          <a:p>
            <a:pPr marL="741553" lvl="1" indent="-284353">
              <a:spcAft>
                <a:spcPct val="0"/>
              </a:spcAft>
              <a:buSzPts val="2400"/>
            </a:pPr>
            <a:r>
              <a:rPr lang="en-US" altLang="en-US" dirty="0">
                <a:solidFill>
                  <a:srgbClr val="000000"/>
                </a:solidFill>
                <a:cs typeface="Arial" panose="020B0604020202020204" pitchFamily="34" charset="0"/>
              </a:rPr>
              <a:t>Observing the number and type of transactions</a:t>
            </a:r>
          </a:p>
          <a:p>
            <a:pPr marL="741553" lvl="1" indent="-284353">
              <a:spcAft>
                <a:spcPct val="0"/>
              </a:spcAft>
              <a:buSzPts val="2400"/>
            </a:pPr>
            <a:r>
              <a:rPr lang="en-US" altLang="en-US" dirty="0">
                <a:solidFill>
                  <a:srgbClr val="000000"/>
                </a:solidFill>
                <a:cs typeface="Arial" panose="020B0604020202020204" pitchFamily="34" charset="0"/>
              </a:rPr>
              <a:t>Watching for instances in which the computer can simplify the work (calculations and other data manipulation)</a:t>
            </a:r>
          </a:p>
        </p:txBody>
      </p:sp>
    </p:spTree>
    <p:extLst>
      <p:ext uri="{BB962C8B-B14F-4D97-AF65-F5344CB8AC3E}">
        <p14:creationId xmlns:p14="http://schemas.microsoft.com/office/powerpoint/2010/main" val="1463640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C3BB-DF95-4959-9DE6-7C2DDAFE600E}"/>
              </a:ext>
            </a:extLst>
          </p:cNvPr>
          <p:cNvSpPr>
            <a:spLocks noGrp="1"/>
          </p:cNvSpPr>
          <p:nvPr>
            <p:ph type="title"/>
          </p:nvPr>
        </p:nvSpPr>
        <p:spPr/>
        <p:txBody>
          <a:bodyPr/>
          <a:lstStyle/>
          <a:p>
            <a:r>
              <a:rPr lang="en-US" altLang="en-US" dirty="0">
                <a:sym typeface="Arial"/>
              </a:rPr>
              <a:t>Data Capture Forms</a:t>
            </a:r>
            <a:endParaRPr lang="en-US" dirty="0"/>
          </a:p>
        </p:txBody>
      </p:sp>
      <p:sp>
        <p:nvSpPr>
          <p:cNvPr id="3" name="Content Placeholder 2">
            <a:extLst>
              <a:ext uri="{FF2B5EF4-FFF2-40B4-BE49-F238E27FC236}">
                <a16:creationId xmlns:a16="http://schemas.microsoft.com/office/drawing/2014/main" id="{C7D5A756-0E18-4A8B-B693-3B8B9E358E49}"/>
              </a:ext>
            </a:extLst>
          </p:cNvPr>
          <p:cNvSpPr>
            <a:spLocks noGrp="1"/>
          </p:cNvSpPr>
          <p:nvPr>
            <p:ph sz="quarter" idx="13"/>
          </p:nvPr>
        </p:nvSpPr>
        <p:spPr>
          <a:xfrm>
            <a:off x="457200" y="1556327"/>
            <a:ext cx="8229600" cy="263136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Collect examples of all the forms in use</a:t>
            </a:r>
          </a:p>
          <a:p>
            <a:pPr marL="255651" lvl="0" indent="-255651">
              <a:spcAft>
                <a:spcPct val="0"/>
              </a:spcAft>
              <a:buSzPts val="2400"/>
              <a:tabLst/>
            </a:pPr>
            <a:r>
              <a:rPr lang="en-US" altLang="en-US" dirty="0">
                <a:solidFill>
                  <a:srgbClr val="000000"/>
                </a:solidFill>
                <a:cs typeface="Arial" panose="020B0604020202020204" pitchFamily="34" charset="0"/>
              </a:rPr>
              <a:t>Note the type of form</a:t>
            </a:r>
          </a:p>
          <a:p>
            <a:pPr marL="255651" lvl="0" indent="-255651">
              <a:spcAft>
                <a:spcPct val="0"/>
              </a:spcAft>
              <a:buSzPts val="2400"/>
              <a:tabLst/>
            </a:pPr>
            <a:r>
              <a:rPr lang="en-US" altLang="en-US" dirty="0">
                <a:solidFill>
                  <a:srgbClr val="000000"/>
                </a:solidFill>
                <a:cs typeface="Arial" panose="020B0604020202020204" pitchFamily="34" charset="0"/>
              </a:rPr>
              <a:t>Document the intended distribution pattern</a:t>
            </a:r>
          </a:p>
          <a:p>
            <a:pPr marL="255651" lvl="0" indent="-255651">
              <a:spcAft>
                <a:spcPct val="0"/>
              </a:spcAft>
              <a:buSzPts val="2400"/>
              <a:tabLst/>
            </a:pPr>
            <a:r>
              <a:rPr lang="en-US" altLang="en-US" dirty="0">
                <a:solidFill>
                  <a:srgbClr val="000000"/>
                </a:solidFill>
                <a:cs typeface="Arial" panose="020B0604020202020204" pitchFamily="34" charset="0"/>
              </a:rPr>
              <a:t>Compare the intended distribution pattern with who actually receives the form</a:t>
            </a:r>
          </a:p>
        </p:txBody>
      </p:sp>
    </p:spTree>
    <p:extLst>
      <p:ext uri="{BB962C8B-B14F-4D97-AF65-F5344CB8AC3E}">
        <p14:creationId xmlns:p14="http://schemas.microsoft.com/office/powerpoint/2010/main" val="2831454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0CF6-90CE-4772-A764-CD8E21C6ABC2}"/>
              </a:ext>
            </a:extLst>
          </p:cNvPr>
          <p:cNvSpPr>
            <a:spLocks noGrp="1"/>
          </p:cNvSpPr>
          <p:nvPr>
            <p:ph type="title"/>
          </p:nvPr>
        </p:nvSpPr>
        <p:spPr/>
        <p:txBody>
          <a:bodyPr/>
          <a:lstStyle/>
          <a:p>
            <a:r>
              <a:rPr lang="en-US" altLang="en-US" sz="2800" dirty="0">
                <a:sym typeface="Arial"/>
              </a:rPr>
              <a:t>Figure 5.5 Questions to Ask about Official and Bootleg Forms That Are Already Filled out</a:t>
            </a:r>
            <a:endParaRPr lang="en-US" sz="2800" dirty="0"/>
          </a:p>
        </p:txBody>
      </p:sp>
      <p:pic>
        <p:nvPicPr>
          <p:cNvPr id="5" name="Picture 4" descr="An illustration shows a formal complex form and a simpler bootleg form. Long description in notes, press F6.">
            <a:extLst>
              <a:ext uri="{FF2B5EF4-FFF2-40B4-BE49-F238E27FC236}">
                <a16:creationId xmlns:a16="http://schemas.microsoft.com/office/drawing/2014/main" id="{043B3CC7-6697-4E42-A26F-B4149210D0A6}"/>
              </a:ext>
            </a:extLst>
          </p:cNvPr>
          <p:cNvPicPr>
            <a:picLocks noChangeAspect="1"/>
          </p:cNvPicPr>
          <p:nvPr/>
        </p:nvPicPr>
        <p:blipFill rotWithShape="1">
          <a:blip r:embed="rId3"/>
          <a:srcRect b="2456"/>
          <a:stretch/>
        </p:blipFill>
        <p:spPr>
          <a:xfrm>
            <a:off x="2995412" y="1675956"/>
            <a:ext cx="3153177" cy="4441471"/>
          </a:xfrm>
          <a:prstGeom prst="rect">
            <a:avLst/>
          </a:prstGeom>
        </p:spPr>
      </p:pic>
    </p:spTree>
    <p:extLst>
      <p:ext uri="{BB962C8B-B14F-4D97-AF65-F5344CB8AC3E}">
        <p14:creationId xmlns:p14="http://schemas.microsoft.com/office/powerpoint/2010/main" val="2298651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9FB9-1EF9-4A3D-85EF-2A2CE3F5D56C}"/>
              </a:ext>
            </a:extLst>
          </p:cNvPr>
          <p:cNvSpPr>
            <a:spLocks noGrp="1"/>
          </p:cNvSpPr>
          <p:nvPr>
            <p:ph type="title"/>
          </p:nvPr>
        </p:nvSpPr>
        <p:spPr/>
        <p:txBody>
          <a:bodyPr/>
          <a:lstStyle/>
          <a:p>
            <a:r>
              <a:rPr lang="en-US" altLang="en-US" dirty="0">
                <a:sym typeface="Arial"/>
              </a:rPr>
              <a:t>Questions to Ask about Forms</a:t>
            </a:r>
            <a:endParaRPr lang="en-US" dirty="0"/>
          </a:p>
        </p:txBody>
      </p:sp>
      <p:sp>
        <p:nvSpPr>
          <p:cNvPr id="3" name="Content Placeholder 2">
            <a:extLst>
              <a:ext uri="{FF2B5EF4-FFF2-40B4-BE49-F238E27FC236}">
                <a16:creationId xmlns:a16="http://schemas.microsoft.com/office/drawing/2014/main" id="{BA2F27A2-F306-4411-9EC1-66AFF22EBF87}"/>
              </a:ext>
            </a:extLst>
          </p:cNvPr>
          <p:cNvSpPr>
            <a:spLocks noGrp="1"/>
          </p:cNvSpPr>
          <p:nvPr>
            <p:ph sz="quarter" idx="13"/>
          </p:nvPr>
        </p:nvSpPr>
        <p:spPr>
          <a:xfrm>
            <a:off x="457200" y="1556327"/>
            <a:ext cx="8229600" cy="4420403"/>
          </a:xfrm>
        </p:spPr>
        <p:txBody>
          <a:bodyPr/>
          <a:lstStyle/>
          <a:p>
            <a:pPr marL="255651" lvl="0" indent="-255651">
              <a:spcAft>
                <a:spcPct val="0"/>
              </a:spcAft>
              <a:tabLst/>
            </a:pPr>
            <a:r>
              <a:rPr lang="en-US" altLang="en-US" sz="2200" dirty="0">
                <a:solidFill>
                  <a:srgbClr val="000000"/>
                </a:solidFill>
                <a:cs typeface="Arial" panose="020B0604020202020204" pitchFamily="34" charset="0"/>
              </a:rPr>
              <a:t>Is the form filled out in its entirety?</a:t>
            </a:r>
          </a:p>
          <a:p>
            <a:pPr marL="255651" lvl="0" indent="-255651">
              <a:spcAft>
                <a:spcPct val="0"/>
              </a:spcAft>
              <a:tabLst/>
            </a:pPr>
            <a:r>
              <a:rPr lang="en-US" altLang="en-US" sz="2200" dirty="0">
                <a:solidFill>
                  <a:srgbClr val="000000"/>
                </a:solidFill>
                <a:cs typeface="Arial" panose="020B0604020202020204" pitchFamily="34" charset="0"/>
              </a:rPr>
              <a:t>Are there forms that are never used?</a:t>
            </a:r>
          </a:p>
          <a:p>
            <a:pPr marL="255651" lvl="0" indent="-255651">
              <a:spcAft>
                <a:spcPct val="0"/>
              </a:spcAft>
              <a:tabLst/>
            </a:pPr>
            <a:r>
              <a:rPr lang="en-US" altLang="en-US" sz="2200" dirty="0">
                <a:solidFill>
                  <a:srgbClr val="000000"/>
                </a:solidFill>
                <a:cs typeface="Arial" panose="020B0604020202020204" pitchFamily="34" charset="0"/>
              </a:rPr>
              <a:t>Are all copies of forms circulated to the proper people or filed appropriately?</a:t>
            </a:r>
          </a:p>
          <a:p>
            <a:pPr marL="255651" lvl="0" indent="-255651">
              <a:spcAft>
                <a:spcPct val="0"/>
              </a:spcAft>
              <a:tabLst/>
            </a:pPr>
            <a:r>
              <a:rPr lang="en-US" altLang="en-US" sz="2200" dirty="0">
                <a:solidFill>
                  <a:srgbClr val="000000"/>
                </a:solidFill>
                <a:cs typeface="Arial" panose="020B0604020202020204" pitchFamily="34" charset="0"/>
              </a:rPr>
              <a:t>Check on permissions and functioning form links.</a:t>
            </a:r>
          </a:p>
          <a:p>
            <a:pPr marL="255651" lvl="0" indent="-255651">
              <a:spcAft>
                <a:spcPct val="0"/>
              </a:spcAft>
              <a:tabLst/>
            </a:pPr>
            <a:r>
              <a:rPr lang="en-US" altLang="en-US" sz="2200" dirty="0">
                <a:solidFill>
                  <a:srgbClr val="000000"/>
                </a:solidFill>
                <a:cs typeface="Arial" panose="020B0604020202020204" pitchFamily="34" charset="0"/>
              </a:rPr>
              <a:t>Can people who must access online forms do so?</a:t>
            </a:r>
          </a:p>
          <a:p>
            <a:pPr marL="255651" lvl="0" indent="-255651">
              <a:spcAft>
                <a:spcPct val="0"/>
              </a:spcAft>
              <a:tabLst/>
            </a:pPr>
            <a:r>
              <a:rPr lang="en-US" altLang="en-US" sz="2200" dirty="0">
                <a:solidFill>
                  <a:srgbClr val="000000"/>
                </a:solidFill>
                <a:cs typeface="Arial" panose="020B0604020202020204" pitchFamily="34" charset="0"/>
              </a:rPr>
              <a:t>If there is a paper form that is offered as an alternative to a Web-based form, compare the completion rates for both.</a:t>
            </a:r>
          </a:p>
          <a:p>
            <a:pPr marL="255651" lvl="0" indent="-255651">
              <a:spcAft>
                <a:spcPct val="0"/>
              </a:spcAft>
              <a:tabLst/>
            </a:pPr>
            <a:r>
              <a:rPr lang="en-US" altLang="en-US" sz="2200" dirty="0">
                <a:solidFill>
                  <a:srgbClr val="000000"/>
                </a:solidFill>
                <a:cs typeface="Arial" panose="020B0604020202020204" pitchFamily="34" charset="0"/>
              </a:rPr>
              <a:t>Are “unofficial” forms being used on a regular basis?</a:t>
            </a:r>
          </a:p>
        </p:txBody>
      </p:sp>
    </p:spTree>
    <p:extLst>
      <p:ext uri="{BB962C8B-B14F-4D97-AF65-F5344CB8AC3E}">
        <p14:creationId xmlns:p14="http://schemas.microsoft.com/office/powerpoint/2010/main" val="2729805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E3452-2036-4C3E-AB38-270CAC5FD31C}"/>
              </a:ext>
            </a:extLst>
          </p:cNvPr>
          <p:cNvSpPr>
            <a:spLocks noGrp="1"/>
          </p:cNvSpPr>
          <p:nvPr>
            <p:ph type="title"/>
          </p:nvPr>
        </p:nvSpPr>
        <p:spPr/>
        <p:txBody>
          <a:bodyPr/>
          <a:lstStyle/>
          <a:p>
            <a:r>
              <a:rPr lang="en-US" altLang="en-US" sz="3200" dirty="0">
                <a:sym typeface="Arial"/>
              </a:rPr>
              <a:t>Analyzing Qualitative Documents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7AFA7F18-B304-4756-8507-39AD8D525D98}"/>
              </a:ext>
            </a:extLst>
          </p:cNvPr>
          <p:cNvSpPr>
            <a:spLocks noGrp="1"/>
          </p:cNvSpPr>
          <p:nvPr>
            <p:ph sz="quarter" idx="13"/>
          </p:nvPr>
        </p:nvSpPr>
        <p:spPr>
          <a:xfrm>
            <a:off x="457200" y="1556327"/>
            <a:ext cx="8229600" cy="317469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Key or guiding metaphors</a:t>
            </a:r>
          </a:p>
          <a:p>
            <a:pPr marL="255651" lvl="0" indent="-255651">
              <a:spcAft>
                <a:spcPct val="0"/>
              </a:spcAft>
              <a:buSzPts val="2400"/>
              <a:tabLst/>
            </a:pPr>
            <a:r>
              <a:rPr lang="en-US" altLang="en-US" dirty="0">
                <a:solidFill>
                  <a:srgbClr val="000000"/>
                </a:solidFill>
                <a:cs typeface="Arial" panose="020B0604020202020204" pitchFamily="34" charset="0"/>
              </a:rPr>
              <a:t>Insiders versus outsiders mentality</a:t>
            </a:r>
          </a:p>
          <a:p>
            <a:pPr marL="255651" lvl="0" indent="-255651">
              <a:spcAft>
                <a:spcPct val="0"/>
              </a:spcAft>
              <a:buSzPts val="2400"/>
              <a:tabLst/>
            </a:pPr>
            <a:r>
              <a:rPr lang="en-US" altLang="en-US" dirty="0">
                <a:solidFill>
                  <a:srgbClr val="000000"/>
                </a:solidFill>
                <a:cs typeface="Arial" panose="020B0604020202020204" pitchFamily="34" charset="0"/>
              </a:rPr>
              <a:t>What is considered good versus evil</a:t>
            </a:r>
          </a:p>
          <a:p>
            <a:pPr marL="255651" lvl="0" indent="-255651">
              <a:spcAft>
                <a:spcPct val="0"/>
              </a:spcAft>
              <a:buSzPts val="2400"/>
              <a:tabLst/>
            </a:pPr>
            <a:r>
              <a:rPr lang="en-US" altLang="en-US" dirty="0">
                <a:solidFill>
                  <a:srgbClr val="000000"/>
                </a:solidFill>
                <a:cs typeface="Arial" panose="020B0604020202020204" pitchFamily="34" charset="0"/>
              </a:rPr>
              <a:t>Graphics, logos, and icons in common areas or web pages</a:t>
            </a:r>
          </a:p>
          <a:p>
            <a:pPr marL="255651" lvl="0" indent="-255651">
              <a:spcAft>
                <a:spcPct val="0"/>
              </a:spcAft>
              <a:buSzPts val="2400"/>
              <a:tabLst/>
            </a:pPr>
            <a:r>
              <a:rPr lang="en-US" altLang="en-US" dirty="0">
                <a:solidFill>
                  <a:srgbClr val="000000"/>
                </a:solidFill>
                <a:cs typeface="Arial" panose="020B0604020202020204" pitchFamily="34" charset="0"/>
              </a:rPr>
              <a:t>Sense of humor</a:t>
            </a:r>
          </a:p>
        </p:txBody>
      </p:sp>
    </p:spTree>
    <p:extLst>
      <p:ext uri="{BB962C8B-B14F-4D97-AF65-F5344CB8AC3E}">
        <p14:creationId xmlns:p14="http://schemas.microsoft.com/office/powerpoint/2010/main" val="1627785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1234B-9768-4917-95FE-438FEDCC6B30}"/>
              </a:ext>
            </a:extLst>
          </p:cNvPr>
          <p:cNvSpPr>
            <a:spLocks noGrp="1"/>
          </p:cNvSpPr>
          <p:nvPr>
            <p:ph type="title"/>
          </p:nvPr>
        </p:nvSpPr>
        <p:spPr/>
        <p:txBody>
          <a:bodyPr/>
          <a:lstStyle/>
          <a:p>
            <a:r>
              <a:rPr lang="en-US" altLang="en-US" sz="3200" dirty="0">
                <a:sym typeface="Arial"/>
              </a:rPr>
              <a:t>Analyzing Qualitative Documents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9F0D31F3-14F8-4028-B3A1-E35EEB55B793}"/>
              </a:ext>
            </a:extLst>
          </p:cNvPr>
          <p:cNvSpPr>
            <a:spLocks noGrp="1"/>
          </p:cNvSpPr>
          <p:nvPr>
            <p:ph sz="quarter" idx="13"/>
          </p:nvPr>
        </p:nvSpPr>
        <p:spPr>
          <a:xfrm>
            <a:off x="457200" y="1556327"/>
            <a:ext cx="8229600" cy="343974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Email messages</a:t>
            </a:r>
          </a:p>
          <a:p>
            <a:pPr marL="255651" lvl="0" indent="-255651">
              <a:spcAft>
                <a:spcPct val="0"/>
              </a:spcAft>
              <a:buSzPts val="2400"/>
              <a:tabLst/>
            </a:pPr>
            <a:r>
              <a:rPr lang="en-US" altLang="en-US" dirty="0">
                <a:solidFill>
                  <a:srgbClr val="000000"/>
                </a:solidFill>
                <a:cs typeface="Arial" panose="020B0604020202020204" pitchFamily="34" charset="0"/>
              </a:rPr>
              <a:t>Memos</a:t>
            </a:r>
          </a:p>
          <a:p>
            <a:pPr marL="255651" lvl="0" indent="-255651">
              <a:spcAft>
                <a:spcPct val="0"/>
              </a:spcAft>
              <a:buSzPts val="2400"/>
              <a:tabLst/>
            </a:pPr>
            <a:r>
              <a:rPr lang="en-US" altLang="en-US" dirty="0">
                <a:solidFill>
                  <a:srgbClr val="000000"/>
                </a:solidFill>
                <a:cs typeface="Arial" panose="020B0604020202020204" pitchFamily="34" charset="0"/>
              </a:rPr>
              <a:t>Signs or posters on bulletin boards</a:t>
            </a:r>
          </a:p>
          <a:p>
            <a:pPr marL="255651" lvl="0" indent="-255651">
              <a:spcAft>
                <a:spcPct val="0"/>
              </a:spcAft>
              <a:buSzPts val="2400"/>
              <a:tabLst/>
            </a:pPr>
            <a:r>
              <a:rPr lang="en-US" altLang="en-US" dirty="0">
                <a:solidFill>
                  <a:srgbClr val="000000"/>
                </a:solidFill>
                <a:cs typeface="Arial" panose="020B0604020202020204" pitchFamily="34" charset="0"/>
              </a:rPr>
              <a:t>Corporate Web sites (note the interactivity of Web sites)</a:t>
            </a:r>
          </a:p>
          <a:p>
            <a:pPr marL="255651" lvl="0" indent="-255651">
              <a:spcAft>
                <a:spcPct val="0"/>
              </a:spcAft>
              <a:buSzPts val="2400"/>
              <a:tabLst/>
            </a:pPr>
            <a:r>
              <a:rPr lang="en-US" altLang="en-US" dirty="0">
                <a:solidFill>
                  <a:srgbClr val="000000"/>
                </a:solidFill>
                <a:cs typeface="Arial" panose="020B0604020202020204" pitchFamily="34" charset="0"/>
              </a:rPr>
              <a:t>Manuals</a:t>
            </a:r>
          </a:p>
          <a:p>
            <a:pPr marL="255651" lvl="0" indent="-255651">
              <a:spcAft>
                <a:spcPct val="0"/>
              </a:spcAft>
              <a:buSzPts val="2400"/>
              <a:tabLst/>
            </a:pPr>
            <a:r>
              <a:rPr lang="en-US" altLang="en-US" dirty="0">
                <a:solidFill>
                  <a:srgbClr val="000000"/>
                </a:solidFill>
                <a:cs typeface="Arial" panose="020B0604020202020204" pitchFamily="34" charset="0"/>
              </a:rPr>
              <a:t>Policy handbooks</a:t>
            </a:r>
          </a:p>
        </p:txBody>
      </p:sp>
    </p:spTree>
    <p:extLst>
      <p:ext uri="{BB962C8B-B14F-4D97-AF65-F5344CB8AC3E}">
        <p14:creationId xmlns:p14="http://schemas.microsoft.com/office/powerpoint/2010/main" val="60422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AFE9-6751-4332-A960-06913DFE56FE}"/>
              </a:ext>
            </a:extLst>
          </p:cNvPr>
          <p:cNvSpPr>
            <a:spLocks noGrp="1"/>
          </p:cNvSpPr>
          <p:nvPr>
            <p:ph type="title"/>
          </p:nvPr>
        </p:nvSpPr>
        <p:spPr/>
        <p:txBody>
          <a:bodyPr/>
          <a:lstStyle/>
          <a:p>
            <a:r>
              <a:rPr lang="en-US" altLang="en-US" sz="2400" dirty="0">
                <a:sym typeface="Arial"/>
              </a:rPr>
              <a:t>Figure 5.6 Analysis of Memos Provides Insight into the Metaphors That Guide the Organization’s Thinking</a:t>
            </a:r>
            <a:endParaRPr lang="en-US" sz="2400" dirty="0"/>
          </a:p>
        </p:txBody>
      </p:sp>
      <p:pic>
        <p:nvPicPr>
          <p:cNvPr id="5" name="Picture 4" descr="An illustration shows sample memo with phrases highlighted. Long description in notes, press F6.">
            <a:extLst>
              <a:ext uri="{FF2B5EF4-FFF2-40B4-BE49-F238E27FC236}">
                <a16:creationId xmlns:a16="http://schemas.microsoft.com/office/drawing/2014/main" id="{C80B666F-C37A-4FA2-8E04-1693F0397B7B}"/>
              </a:ext>
            </a:extLst>
          </p:cNvPr>
          <p:cNvPicPr>
            <a:picLocks noChangeAspect="1"/>
          </p:cNvPicPr>
          <p:nvPr/>
        </p:nvPicPr>
        <p:blipFill rotWithShape="1">
          <a:blip r:embed="rId3"/>
          <a:srcRect b="3020"/>
          <a:stretch/>
        </p:blipFill>
        <p:spPr>
          <a:xfrm>
            <a:off x="1953085" y="1586738"/>
            <a:ext cx="5237830" cy="4641709"/>
          </a:xfrm>
          <a:prstGeom prst="rect">
            <a:avLst/>
          </a:prstGeom>
        </p:spPr>
      </p:pic>
    </p:spTree>
    <p:extLst>
      <p:ext uri="{BB962C8B-B14F-4D97-AF65-F5344CB8AC3E}">
        <p14:creationId xmlns:p14="http://schemas.microsoft.com/office/powerpoint/2010/main" val="13231431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3453C-56D3-4109-BAC2-3CB95E45D919}"/>
              </a:ext>
            </a:extLst>
          </p:cNvPr>
          <p:cNvSpPr>
            <a:spLocks noGrp="1"/>
          </p:cNvSpPr>
          <p:nvPr>
            <p:ph type="title"/>
          </p:nvPr>
        </p:nvSpPr>
        <p:spPr/>
        <p:txBody>
          <a:bodyPr/>
          <a:lstStyle/>
          <a:p>
            <a:r>
              <a:rPr lang="en-US" dirty="0">
                <a:sym typeface="Arial"/>
              </a:rPr>
              <a:t>Text Analytics </a:t>
            </a:r>
            <a:r>
              <a:rPr lang="en-US" sz="2000" b="0" dirty="0">
                <a:sym typeface="Arial"/>
              </a:rPr>
              <a:t>(1 of 3)</a:t>
            </a:r>
            <a:endParaRPr lang="en-US" sz="2000" b="0" dirty="0"/>
          </a:p>
        </p:txBody>
      </p:sp>
      <p:sp>
        <p:nvSpPr>
          <p:cNvPr id="3" name="Content Placeholder 2">
            <a:extLst>
              <a:ext uri="{FF2B5EF4-FFF2-40B4-BE49-F238E27FC236}">
                <a16:creationId xmlns:a16="http://schemas.microsoft.com/office/drawing/2014/main" id="{1FCEC51A-1680-4B36-8ED1-C5E94E76B420}"/>
              </a:ext>
            </a:extLst>
          </p:cNvPr>
          <p:cNvSpPr>
            <a:spLocks noGrp="1"/>
          </p:cNvSpPr>
          <p:nvPr>
            <p:ph sz="quarter" idx="13"/>
          </p:nvPr>
        </p:nvSpPr>
        <p:spPr>
          <a:xfrm>
            <a:off x="457200" y="1556327"/>
            <a:ext cx="8229600" cy="3002421"/>
          </a:xfrm>
        </p:spPr>
        <p:txBody>
          <a:bodyPr/>
          <a:lstStyle/>
          <a:p>
            <a:pPr marL="255651" lvl="0" indent="-255651">
              <a:spcAft>
                <a:spcPct val="0"/>
              </a:spcAft>
              <a:buSzPts val="2400"/>
              <a:tabLst/>
            </a:pPr>
            <a:r>
              <a:rPr lang="en-US" dirty="0">
                <a:solidFill>
                  <a:srgbClr val="000000"/>
                </a:solidFill>
                <a:cs typeface="Arial" panose="020B0604020202020204" pitchFamily="34" charset="0"/>
              </a:rPr>
              <a:t>Software that can analyze unstructured qualitative data from any source including:</a:t>
            </a:r>
          </a:p>
          <a:p>
            <a:pPr marL="741553" lvl="1" indent="-284353">
              <a:spcAft>
                <a:spcPct val="0"/>
              </a:spcAft>
              <a:buSzPts val="2400"/>
            </a:pPr>
            <a:r>
              <a:rPr lang="en-US" dirty="0">
                <a:solidFill>
                  <a:srgbClr val="000000"/>
                </a:solidFill>
                <a:cs typeface="Arial" panose="020B0604020202020204" pitchFamily="34" charset="0"/>
              </a:rPr>
              <a:t>Transcripts of interviews</a:t>
            </a:r>
          </a:p>
          <a:p>
            <a:pPr marL="741553" lvl="1" indent="-284353">
              <a:spcAft>
                <a:spcPct val="0"/>
              </a:spcAft>
              <a:buSzPts val="2400"/>
            </a:pPr>
            <a:r>
              <a:rPr lang="en-US" dirty="0">
                <a:solidFill>
                  <a:srgbClr val="000000"/>
                </a:solidFill>
                <a:cs typeface="Arial" panose="020B0604020202020204" pitchFamily="34" charset="0"/>
              </a:rPr>
              <a:t>Written reports</a:t>
            </a:r>
          </a:p>
          <a:p>
            <a:pPr marL="741553" lvl="1" indent="-284353">
              <a:spcAft>
                <a:spcPct val="0"/>
              </a:spcAft>
              <a:buSzPts val="2400"/>
            </a:pPr>
            <a:r>
              <a:rPr lang="en-US" dirty="0">
                <a:solidFill>
                  <a:srgbClr val="000000"/>
                </a:solidFill>
                <a:cs typeface="Arial" panose="020B0604020202020204" pitchFamily="34" charset="0"/>
              </a:rPr>
              <a:t>Customers’ communication collected through email, wikis, blogs, chat rooms, and other social networking sites</a:t>
            </a:r>
          </a:p>
        </p:txBody>
      </p:sp>
    </p:spTree>
    <p:extLst>
      <p:ext uri="{BB962C8B-B14F-4D97-AF65-F5344CB8AC3E}">
        <p14:creationId xmlns:p14="http://schemas.microsoft.com/office/powerpoint/2010/main" val="3352132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7380E-11DA-448A-B322-1342B6DA3DDC}"/>
              </a:ext>
            </a:extLst>
          </p:cNvPr>
          <p:cNvSpPr>
            <a:spLocks noGrp="1"/>
          </p:cNvSpPr>
          <p:nvPr>
            <p:ph type="title"/>
          </p:nvPr>
        </p:nvSpPr>
        <p:spPr/>
        <p:txBody>
          <a:bodyPr/>
          <a:lstStyle/>
          <a:p>
            <a:r>
              <a:rPr lang="en-US" dirty="0">
                <a:sym typeface="Arial"/>
              </a:rPr>
              <a:t>Text Analytics </a:t>
            </a:r>
            <a:r>
              <a:rPr lang="en-US" sz="2000" b="0" dirty="0">
                <a:sym typeface="Arial"/>
              </a:rPr>
              <a:t>(2 of 3)</a:t>
            </a:r>
            <a:endParaRPr lang="en-US" sz="2000" b="0" dirty="0"/>
          </a:p>
        </p:txBody>
      </p:sp>
      <p:sp>
        <p:nvSpPr>
          <p:cNvPr id="3" name="Content Placeholder 2">
            <a:extLst>
              <a:ext uri="{FF2B5EF4-FFF2-40B4-BE49-F238E27FC236}">
                <a16:creationId xmlns:a16="http://schemas.microsoft.com/office/drawing/2014/main" id="{F6242997-CC11-437A-A74E-CBE1D10116D1}"/>
              </a:ext>
            </a:extLst>
          </p:cNvPr>
          <p:cNvSpPr>
            <a:spLocks noGrp="1"/>
          </p:cNvSpPr>
          <p:nvPr>
            <p:ph sz="quarter" idx="13"/>
          </p:nvPr>
        </p:nvSpPr>
        <p:spPr>
          <a:xfrm>
            <a:off x="457200" y="1556327"/>
            <a:ext cx="8229600" cy="3240960"/>
          </a:xfrm>
        </p:spPr>
        <p:txBody>
          <a:bodyPr/>
          <a:lstStyle/>
          <a:p>
            <a:pPr marL="255651" lvl="0" indent="-255651">
              <a:spcAft>
                <a:spcPct val="0"/>
              </a:spcAft>
              <a:buSzPts val="2400"/>
              <a:tabLst/>
            </a:pPr>
            <a:r>
              <a:rPr lang="en-US" dirty="0">
                <a:solidFill>
                  <a:srgbClr val="000000"/>
                </a:solidFill>
                <a:cs typeface="Arial" panose="020B0604020202020204" pitchFamily="34" charset="0"/>
              </a:rPr>
              <a:t>Unstructured, qualitative, or “soft” data are generated through:</a:t>
            </a:r>
          </a:p>
          <a:p>
            <a:pPr marL="741553" lvl="1" indent="-284353">
              <a:spcAft>
                <a:spcPct val="0"/>
              </a:spcAft>
              <a:buSzPts val="2400"/>
            </a:pPr>
            <a:r>
              <a:rPr lang="en-US" dirty="0">
                <a:solidFill>
                  <a:srgbClr val="000000"/>
                </a:solidFill>
                <a:cs typeface="Arial" panose="020B0604020202020204" pitchFamily="34" charset="0"/>
              </a:rPr>
              <a:t>Blogs</a:t>
            </a:r>
          </a:p>
          <a:p>
            <a:pPr marL="741553" lvl="1" indent="-284353">
              <a:spcAft>
                <a:spcPct val="0"/>
              </a:spcAft>
              <a:buSzPts val="2400"/>
            </a:pPr>
            <a:r>
              <a:rPr lang="en-US" dirty="0">
                <a:solidFill>
                  <a:srgbClr val="000000"/>
                </a:solidFill>
                <a:cs typeface="Arial" panose="020B0604020202020204" pitchFamily="34" charset="0"/>
              </a:rPr>
              <a:t>Chat rooms</a:t>
            </a:r>
          </a:p>
          <a:p>
            <a:pPr marL="741553" lvl="1" indent="-284353">
              <a:spcAft>
                <a:spcPct val="0"/>
              </a:spcAft>
              <a:buSzPts val="2400"/>
            </a:pPr>
            <a:r>
              <a:rPr lang="en-US" dirty="0">
                <a:solidFill>
                  <a:srgbClr val="000000"/>
                </a:solidFill>
                <a:cs typeface="Arial" panose="020B0604020202020204" pitchFamily="34" charset="0"/>
              </a:rPr>
              <a:t>Questionnaires using open-ended questions</a:t>
            </a:r>
          </a:p>
          <a:p>
            <a:pPr marL="741553" lvl="1" indent="-284353">
              <a:spcAft>
                <a:spcPct val="0"/>
              </a:spcAft>
              <a:buSzPts val="2400"/>
            </a:pPr>
            <a:r>
              <a:rPr lang="en-US" dirty="0">
                <a:solidFill>
                  <a:srgbClr val="000000"/>
                </a:solidFill>
                <a:cs typeface="Arial" panose="020B0604020202020204" pitchFamily="34" charset="0"/>
              </a:rPr>
              <a:t>Online discussions conducted on the Web</a:t>
            </a:r>
          </a:p>
          <a:p>
            <a:pPr marL="741553" lvl="1" indent="-284353">
              <a:spcAft>
                <a:spcPct val="0"/>
              </a:spcAft>
              <a:buSzPts val="2400"/>
            </a:pPr>
            <a:r>
              <a:rPr lang="en-US" dirty="0">
                <a:solidFill>
                  <a:srgbClr val="000000"/>
                </a:solidFill>
                <a:cs typeface="Arial" panose="020B0604020202020204" pitchFamily="34" charset="0"/>
              </a:rPr>
              <a:t>Exchanges occurring on social media</a:t>
            </a:r>
          </a:p>
        </p:txBody>
      </p:sp>
    </p:spTree>
    <p:extLst>
      <p:ext uri="{BB962C8B-B14F-4D97-AF65-F5344CB8AC3E}">
        <p14:creationId xmlns:p14="http://schemas.microsoft.com/office/powerpoint/2010/main" val="2367594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07A0D-B261-4F20-A170-5698743FF494}"/>
              </a:ext>
            </a:extLst>
          </p:cNvPr>
          <p:cNvSpPr>
            <a:spLocks noGrp="1"/>
          </p:cNvSpPr>
          <p:nvPr>
            <p:ph type="title"/>
          </p:nvPr>
        </p:nvSpPr>
        <p:spPr/>
        <p:txBody>
          <a:bodyPr/>
          <a:lstStyle/>
          <a:p>
            <a:r>
              <a:rPr lang="en-US" dirty="0">
                <a:sym typeface="Arial"/>
              </a:rPr>
              <a:t>Text Analytics Can Help</a:t>
            </a:r>
            <a:endParaRPr lang="en-US" dirty="0"/>
          </a:p>
        </p:txBody>
      </p:sp>
      <p:sp>
        <p:nvSpPr>
          <p:cNvPr id="3" name="Content Placeholder 2">
            <a:extLst>
              <a:ext uri="{FF2B5EF4-FFF2-40B4-BE49-F238E27FC236}">
                <a16:creationId xmlns:a16="http://schemas.microsoft.com/office/drawing/2014/main" id="{2D7DBBDB-CDCE-4673-9641-596524972686}"/>
              </a:ext>
            </a:extLst>
          </p:cNvPr>
          <p:cNvSpPr>
            <a:spLocks noGrp="1"/>
          </p:cNvSpPr>
          <p:nvPr>
            <p:ph sz="quarter" idx="13"/>
          </p:nvPr>
        </p:nvSpPr>
        <p:spPr>
          <a:xfrm>
            <a:off x="457200" y="1556327"/>
            <a:ext cx="8229600" cy="2300056"/>
          </a:xfrm>
        </p:spPr>
        <p:txBody>
          <a:bodyPr/>
          <a:lstStyle/>
          <a:p>
            <a:pPr marL="255651" lvl="0" indent="-255651">
              <a:spcAft>
                <a:spcPct val="0"/>
              </a:spcAft>
              <a:buSzPts val="2400"/>
              <a:tabLst/>
            </a:pPr>
            <a:r>
              <a:rPr lang="en-US" dirty="0">
                <a:solidFill>
                  <a:srgbClr val="000000"/>
                </a:solidFill>
                <a:cs typeface="Arial" panose="020B0604020202020204" pitchFamily="34" charset="0"/>
              </a:rPr>
              <a:t>Text analytics can realize valuable insights into</a:t>
            </a:r>
          </a:p>
          <a:p>
            <a:pPr marL="741553" lvl="1" indent="-284353">
              <a:spcAft>
                <a:spcPct val="0"/>
              </a:spcAft>
              <a:buSzPts val="2400"/>
            </a:pPr>
            <a:r>
              <a:rPr lang="en-US" dirty="0">
                <a:solidFill>
                  <a:srgbClr val="000000"/>
                </a:solidFill>
                <a:cs typeface="Arial" panose="020B0604020202020204" pitchFamily="34" charset="0"/>
              </a:rPr>
              <a:t>What customers are thinking about the organization, the values and actions of the company</a:t>
            </a:r>
          </a:p>
          <a:p>
            <a:pPr marL="741553" lvl="1" indent="-284353">
              <a:spcAft>
                <a:spcPct val="0"/>
              </a:spcAft>
              <a:buSzPts val="2400"/>
            </a:pPr>
            <a:r>
              <a:rPr lang="en-US" dirty="0">
                <a:solidFill>
                  <a:srgbClr val="000000"/>
                </a:solidFill>
                <a:cs typeface="Arial" panose="020B0604020202020204" pitchFamily="34" charset="0"/>
              </a:rPr>
              <a:t>Customer or vendor motivations for beginning, maintaining, improving, or discontinuing a relationship</a:t>
            </a:r>
          </a:p>
        </p:txBody>
      </p:sp>
    </p:spTree>
    <p:extLst>
      <p:ext uri="{BB962C8B-B14F-4D97-AF65-F5344CB8AC3E}">
        <p14:creationId xmlns:p14="http://schemas.microsoft.com/office/powerpoint/2010/main" val="2826260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A216-CC21-412E-B43D-4E51959CDEB3}"/>
              </a:ext>
            </a:extLst>
          </p:cNvPr>
          <p:cNvSpPr>
            <a:spLocks noGrp="1"/>
          </p:cNvSpPr>
          <p:nvPr>
            <p:ph type="title"/>
          </p:nvPr>
        </p:nvSpPr>
        <p:spPr>
          <a:xfrm>
            <a:off x="457200" y="215371"/>
            <a:ext cx="8498541" cy="1097279"/>
          </a:xfrm>
        </p:spPr>
        <p:txBody>
          <a:bodyPr/>
          <a:lstStyle/>
          <a:p>
            <a:r>
              <a:rPr lang="en-US" sz="3000" dirty="0">
                <a:sym typeface="Arial"/>
              </a:rPr>
              <a:t>Figure 5.7 Concept Map Showing Prominence and Relationships of Concepts</a:t>
            </a:r>
            <a:endParaRPr lang="en-US" sz="3000" dirty="0"/>
          </a:p>
        </p:txBody>
      </p:sp>
      <p:pic>
        <p:nvPicPr>
          <p:cNvPr id="5" name="Picture 4" descr="An illustration shows a concept map depicting prominence and relationships of concepts in open source communities project interview data. Long description in notes, press F6.">
            <a:extLst>
              <a:ext uri="{FF2B5EF4-FFF2-40B4-BE49-F238E27FC236}">
                <a16:creationId xmlns:a16="http://schemas.microsoft.com/office/drawing/2014/main" id="{4073A241-B50B-45FD-B14B-7B5370FDCED9}"/>
              </a:ext>
            </a:extLst>
          </p:cNvPr>
          <p:cNvPicPr>
            <a:picLocks noChangeAspect="1"/>
          </p:cNvPicPr>
          <p:nvPr/>
        </p:nvPicPr>
        <p:blipFill rotWithShape="1">
          <a:blip r:embed="rId3"/>
          <a:srcRect b="2107"/>
          <a:stretch/>
        </p:blipFill>
        <p:spPr>
          <a:xfrm>
            <a:off x="1425475" y="1687685"/>
            <a:ext cx="6293050" cy="4345106"/>
          </a:xfrm>
          <a:prstGeom prst="rect">
            <a:avLst/>
          </a:prstGeom>
        </p:spPr>
      </p:pic>
    </p:spTree>
    <p:extLst>
      <p:ext uri="{BB962C8B-B14F-4D97-AF65-F5344CB8AC3E}">
        <p14:creationId xmlns:p14="http://schemas.microsoft.com/office/powerpoint/2010/main" val="520420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3F3E3-E496-428A-B95B-EEB137E23AB4}"/>
              </a:ext>
            </a:extLst>
          </p:cNvPr>
          <p:cNvSpPr>
            <a:spLocks noGrp="1"/>
          </p:cNvSpPr>
          <p:nvPr>
            <p:ph type="title"/>
          </p:nvPr>
        </p:nvSpPr>
        <p:spPr/>
        <p:txBody>
          <a:bodyPr/>
          <a:lstStyle/>
          <a:p>
            <a:r>
              <a:rPr lang="en-US" sz="3200" dirty="0">
                <a:sym typeface="Arial"/>
              </a:rPr>
              <a:t>Figure 5.8 Ranked Concepts for Categories Overview</a:t>
            </a:r>
            <a:endParaRPr lang="en-US" sz="3200" dirty="0"/>
          </a:p>
        </p:txBody>
      </p:sp>
      <p:pic>
        <p:nvPicPr>
          <p:cNvPr id="5" name="Picture 4" descr="An illustration shows ranked concepts for categories overview for the Open Source Communities project using the Leximancer Insight Dashboard. Long description in notes, press F6.">
            <a:extLst>
              <a:ext uri="{FF2B5EF4-FFF2-40B4-BE49-F238E27FC236}">
                <a16:creationId xmlns:a16="http://schemas.microsoft.com/office/drawing/2014/main" id="{2E008FCF-64C3-4B08-970B-CD8813A6814E}"/>
              </a:ext>
            </a:extLst>
          </p:cNvPr>
          <p:cNvPicPr>
            <a:picLocks noChangeAspect="1"/>
          </p:cNvPicPr>
          <p:nvPr/>
        </p:nvPicPr>
        <p:blipFill rotWithShape="1">
          <a:blip r:embed="rId3"/>
          <a:srcRect b="2682"/>
          <a:stretch/>
        </p:blipFill>
        <p:spPr>
          <a:xfrm>
            <a:off x="695673" y="1679205"/>
            <a:ext cx="7752655" cy="4261396"/>
          </a:xfrm>
          <a:prstGeom prst="rect">
            <a:avLst/>
          </a:prstGeom>
        </p:spPr>
      </p:pic>
    </p:spTree>
    <p:extLst>
      <p:ext uri="{BB962C8B-B14F-4D97-AF65-F5344CB8AC3E}">
        <p14:creationId xmlns:p14="http://schemas.microsoft.com/office/powerpoint/2010/main" val="2625083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6C46-4606-4C1B-9449-67E46650764E}"/>
              </a:ext>
            </a:extLst>
          </p:cNvPr>
          <p:cNvSpPr>
            <a:spLocks noGrp="1"/>
          </p:cNvSpPr>
          <p:nvPr>
            <p:ph type="title"/>
          </p:nvPr>
        </p:nvSpPr>
        <p:spPr/>
        <p:txBody>
          <a:bodyPr/>
          <a:lstStyle/>
          <a:p>
            <a:r>
              <a:rPr lang="en-US" dirty="0">
                <a:sym typeface="Arial"/>
              </a:rPr>
              <a:t>Text Analytics </a:t>
            </a:r>
            <a:r>
              <a:rPr lang="en-US" sz="2000" b="0" dirty="0">
                <a:sym typeface="Arial"/>
              </a:rPr>
              <a:t>(3 of 3)</a:t>
            </a:r>
            <a:endParaRPr lang="en-US" sz="2000" b="0" dirty="0"/>
          </a:p>
        </p:txBody>
      </p:sp>
      <p:sp>
        <p:nvSpPr>
          <p:cNvPr id="3" name="Content Placeholder 2">
            <a:extLst>
              <a:ext uri="{FF2B5EF4-FFF2-40B4-BE49-F238E27FC236}">
                <a16:creationId xmlns:a16="http://schemas.microsoft.com/office/drawing/2014/main" id="{7304AF77-7F4B-4863-AF7C-122C1B84497E}"/>
              </a:ext>
            </a:extLst>
          </p:cNvPr>
          <p:cNvSpPr>
            <a:spLocks noGrp="1"/>
          </p:cNvSpPr>
          <p:nvPr>
            <p:ph sz="quarter" idx="13"/>
          </p:nvPr>
        </p:nvSpPr>
        <p:spPr>
          <a:xfrm>
            <a:off x="457200" y="1556327"/>
            <a:ext cx="8229600" cy="2339812"/>
          </a:xfrm>
        </p:spPr>
        <p:txBody>
          <a:bodyPr/>
          <a:lstStyle/>
          <a:p>
            <a:pPr marL="255651" lvl="0" indent="-255651">
              <a:spcAft>
                <a:spcPct val="0"/>
              </a:spcAft>
              <a:buSzPts val="2400"/>
              <a:tabLst/>
            </a:pPr>
            <a:r>
              <a:rPr lang="en-US" dirty="0">
                <a:solidFill>
                  <a:srgbClr val="000000"/>
                </a:solidFill>
                <a:cs typeface="Arial" panose="020B0604020202020204" pitchFamily="34" charset="0"/>
              </a:rPr>
              <a:t>Text analytics provide insights for an organization’s members who want to have a rapid and visual yet decidedly qualitative approach to analyzing text data</a:t>
            </a:r>
          </a:p>
          <a:p>
            <a:pPr marL="255651" lvl="0" indent="-255651">
              <a:spcAft>
                <a:spcPct val="0"/>
              </a:spcAft>
              <a:buSzPts val="2400"/>
              <a:tabLst/>
            </a:pPr>
            <a:r>
              <a:rPr lang="en-US" dirty="0">
                <a:solidFill>
                  <a:srgbClr val="000000"/>
                </a:solidFill>
                <a:cs typeface="Arial" panose="020B0604020202020204" pitchFamily="34" charset="0"/>
              </a:rPr>
              <a:t>An important element is to design the human activities surrounding the use of text analytics software</a:t>
            </a:r>
          </a:p>
        </p:txBody>
      </p:sp>
    </p:spTree>
    <p:extLst>
      <p:ext uri="{BB962C8B-B14F-4D97-AF65-F5344CB8AC3E}">
        <p14:creationId xmlns:p14="http://schemas.microsoft.com/office/powerpoint/2010/main" val="284753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2046-B41E-4716-A25F-18DEFCB61E7A}"/>
              </a:ext>
            </a:extLst>
          </p:cNvPr>
          <p:cNvSpPr>
            <a:spLocks noGrp="1"/>
          </p:cNvSpPr>
          <p:nvPr>
            <p:ph type="title"/>
          </p:nvPr>
        </p:nvSpPr>
        <p:spPr/>
        <p:txBody>
          <a:bodyPr/>
          <a:lstStyle/>
          <a:p>
            <a:r>
              <a:rPr lang="en-US" dirty="0"/>
              <a:t>Process Mining</a:t>
            </a:r>
          </a:p>
        </p:txBody>
      </p:sp>
      <p:sp>
        <p:nvSpPr>
          <p:cNvPr id="3" name="Content Placeholder 2">
            <a:extLst>
              <a:ext uri="{FF2B5EF4-FFF2-40B4-BE49-F238E27FC236}">
                <a16:creationId xmlns:a16="http://schemas.microsoft.com/office/drawing/2014/main" id="{7633C0DC-8F5B-4517-90BA-79016E3DF3C7}"/>
              </a:ext>
            </a:extLst>
          </p:cNvPr>
          <p:cNvSpPr>
            <a:spLocks noGrp="1"/>
          </p:cNvSpPr>
          <p:nvPr>
            <p:ph sz="quarter" idx="13"/>
          </p:nvPr>
        </p:nvSpPr>
        <p:spPr>
          <a:xfrm>
            <a:off x="457200" y="1556327"/>
            <a:ext cx="8229600" cy="1663951"/>
          </a:xfrm>
        </p:spPr>
        <p:txBody>
          <a:bodyPr/>
          <a:lstStyle/>
          <a:p>
            <a:r>
              <a:rPr lang="en-US" dirty="0"/>
              <a:t>Automated, unobtrusive process that scans processes from enterprise transaction systems (A</a:t>
            </a:r>
            <a:r>
              <a:rPr lang="en-US" sz="100" dirty="0"/>
              <a:t> </a:t>
            </a:r>
            <a:r>
              <a:rPr lang="en-US" dirty="0"/>
              <a:t>P</a:t>
            </a:r>
            <a:r>
              <a:rPr lang="en-US" sz="100" dirty="0"/>
              <a:t> </a:t>
            </a:r>
            <a:r>
              <a:rPr lang="en-US" dirty="0"/>
              <a:t>I</a:t>
            </a:r>
            <a:r>
              <a:rPr lang="en-US" sz="100" dirty="0"/>
              <a:t> </a:t>
            </a:r>
            <a:r>
              <a:rPr lang="en-US" dirty="0"/>
              <a:t>s) and provides detailed and data-driven information about how key processes are performing and where problems may exist</a:t>
            </a:r>
          </a:p>
        </p:txBody>
      </p:sp>
    </p:spTree>
    <p:extLst>
      <p:ext uri="{BB962C8B-B14F-4D97-AF65-F5344CB8AC3E}">
        <p14:creationId xmlns:p14="http://schemas.microsoft.com/office/powerpoint/2010/main" val="17368768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9F83-12E4-4F62-B826-053A50602549}"/>
              </a:ext>
            </a:extLst>
          </p:cNvPr>
          <p:cNvSpPr>
            <a:spLocks noGrp="1"/>
          </p:cNvSpPr>
          <p:nvPr>
            <p:ph type="title"/>
          </p:nvPr>
        </p:nvSpPr>
        <p:spPr/>
        <p:txBody>
          <a:bodyPr/>
          <a:lstStyle/>
          <a:p>
            <a:r>
              <a:rPr lang="en-US" sz="3000" dirty="0"/>
              <a:t>Four Steps to Process Mining (</a:t>
            </a:r>
            <a:r>
              <a:rPr lang="en-US" sz="3000" dirty="0">
                <a:hlinkClick r:id="rId3" tooltip="https://www.uipath.com/"/>
              </a:rPr>
              <a:t>U</a:t>
            </a:r>
            <a:r>
              <a:rPr lang="en-US" sz="100" dirty="0">
                <a:hlinkClick r:id="rId3" tooltip="https://www.uipath.com/"/>
              </a:rPr>
              <a:t> </a:t>
            </a:r>
            <a:r>
              <a:rPr lang="en-US" sz="3000" dirty="0">
                <a:hlinkClick r:id="rId3" tooltip="https://www.uipath.com/"/>
              </a:rPr>
              <a:t>I</a:t>
            </a:r>
            <a:r>
              <a:rPr lang="en-US" sz="100" dirty="0">
                <a:hlinkClick r:id="rId3" tooltip="https://www.uipath.com/"/>
              </a:rPr>
              <a:t> </a:t>
            </a:r>
            <a:r>
              <a:rPr lang="en-US" sz="3000" dirty="0" smtClean="0">
                <a:hlinkClick r:id="rId3" tooltip="https://www.uipath.com/"/>
              </a:rPr>
              <a:t>Path.com</a:t>
            </a:r>
            <a:r>
              <a:rPr lang="en-US" sz="3000" dirty="0" smtClean="0"/>
              <a:t>)</a:t>
            </a:r>
            <a:endParaRPr lang="en-US" sz="3000" dirty="0"/>
          </a:p>
        </p:txBody>
      </p:sp>
      <p:sp>
        <p:nvSpPr>
          <p:cNvPr id="3" name="Content Placeholder 2">
            <a:extLst>
              <a:ext uri="{FF2B5EF4-FFF2-40B4-BE49-F238E27FC236}">
                <a16:creationId xmlns:a16="http://schemas.microsoft.com/office/drawing/2014/main" id="{90F3F78B-D5C6-4A00-81F0-C6D177F5423A}"/>
              </a:ext>
            </a:extLst>
          </p:cNvPr>
          <p:cNvSpPr>
            <a:spLocks noGrp="1"/>
          </p:cNvSpPr>
          <p:nvPr>
            <p:ph sz="quarter" idx="13"/>
          </p:nvPr>
        </p:nvSpPr>
        <p:spPr>
          <a:xfrm>
            <a:off x="457200" y="1556327"/>
            <a:ext cx="8229600" cy="2273551"/>
          </a:xfrm>
        </p:spPr>
        <p:txBody>
          <a:bodyPr/>
          <a:lstStyle/>
          <a:p>
            <a:r>
              <a:rPr lang="en-US" dirty="0"/>
              <a:t>Discover</a:t>
            </a:r>
          </a:p>
          <a:p>
            <a:r>
              <a:rPr lang="en-US" dirty="0"/>
              <a:t>Optimize/Automate</a:t>
            </a:r>
          </a:p>
          <a:p>
            <a:r>
              <a:rPr lang="en-US" dirty="0"/>
              <a:t>Monitor</a:t>
            </a:r>
          </a:p>
          <a:p>
            <a:r>
              <a:rPr lang="en-US" dirty="0" smtClean="0"/>
              <a:t>Act</a:t>
            </a:r>
          </a:p>
        </p:txBody>
      </p:sp>
    </p:spTree>
    <p:extLst>
      <p:ext uri="{BB962C8B-B14F-4D97-AF65-F5344CB8AC3E}">
        <p14:creationId xmlns:p14="http://schemas.microsoft.com/office/powerpoint/2010/main" val="10258829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09B5-C1DC-4202-82D3-38EF6154DD90}"/>
              </a:ext>
            </a:extLst>
          </p:cNvPr>
          <p:cNvSpPr>
            <a:spLocks noGrp="1"/>
          </p:cNvSpPr>
          <p:nvPr>
            <p:ph type="title"/>
          </p:nvPr>
        </p:nvSpPr>
        <p:spPr/>
        <p:txBody>
          <a:bodyPr/>
          <a:lstStyle/>
          <a:p>
            <a:r>
              <a:rPr lang="en-US" dirty="0"/>
              <a:t>Celonis Process Mining</a:t>
            </a:r>
          </a:p>
        </p:txBody>
      </p:sp>
      <p:sp>
        <p:nvSpPr>
          <p:cNvPr id="3" name="Content Placeholder 2">
            <a:extLst>
              <a:ext uri="{FF2B5EF4-FFF2-40B4-BE49-F238E27FC236}">
                <a16:creationId xmlns:a16="http://schemas.microsoft.com/office/drawing/2014/main" id="{100748E0-F9C2-4F4C-BC73-2312C4857BAB}"/>
              </a:ext>
            </a:extLst>
          </p:cNvPr>
          <p:cNvSpPr>
            <a:spLocks noGrp="1"/>
          </p:cNvSpPr>
          <p:nvPr>
            <p:ph sz="quarter" idx="13"/>
          </p:nvPr>
        </p:nvSpPr>
        <p:spPr>
          <a:xfrm>
            <a:off x="457200" y="1556327"/>
            <a:ext cx="8229600" cy="3386734"/>
          </a:xfrm>
        </p:spPr>
        <p:txBody>
          <a:bodyPr/>
          <a:lstStyle/>
          <a:p>
            <a:pPr marL="255600"/>
            <a:r>
              <a:rPr lang="en-US" dirty="0">
                <a:cs typeface="Arial" panose="020B0604020202020204" pitchFamily="34" charset="0"/>
              </a:rPr>
              <a:t>Celonis process mining can help organizations by enabling analysts to:</a:t>
            </a:r>
          </a:p>
          <a:p>
            <a:pPr lvl="1"/>
            <a:r>
              <a:rPr lang="en-US" dirty="0">
                <a:cs typeface="Arial" panose="020B0604020202020204" pitchFamily="34" charset="0"/>
              </a:rPr>
              <a:t>conduct an analysis of root causes of wastefulness and inefficiencies in processes</a:t>
            </a:r>
          </a:p>
          <a:p>
            <a:pPr lvl="1"/>
            <a:r>
              <a:rPr lang="en-US" dirty="0">
                <a:cs typeface="Arial" panose="020B0604020202020204" pitchFamily="34" charset="0"/>
              </a:rPr>
              <a:t>recommend improvements to organizations that mitigate identified wastefulness and inefficiencies</a:t>
            </a:r>
          </a:p>
          <a:p>
            <a:pPr lvl="1"/>
            <a:r>
              <a:rPr lang="en-US" dirty="0">
                <a:cs typeface="Arial" panose="020B0604020202020204" pitchFamily="34" charset="0"/>
              </a:rPr>
              <a:t>provide the quantifiable impacts of proposed changes on the organization</a:t>
            </a:r>
          </a:p>
        </p:txBody>
      </p:sp>
    </p:spTree>
    <p:extLst>
      <p:ext uri="{BB962C8B-B14F-4D97-AF65-F5344CB8AC3E}">
        <p14:creationId xmlns:p14="http://schemas.microsoft.com/office/powerpoint/2010/main" val="33900192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E35C-E6E5-4669-BEAB-D79BEDD77914}"/>
              </a:ext>
            </a:extLst>
          </p:cNvPr>
          <p:cNvSpPr>
            <a:spLocks noGrp="1"/>
          </p:cNvSpPr>
          <p:nvPr>
            <p:ph type="title"/>
          </p:nvPr>
        </p:nvSpPr>
        <p:spPr/>
        <p:txBody>
          <a:bodyPr/>
          <a:lstStyle/>
          <a:p>
            <a:r>
              <a:rPr lang="en-US" sz="3000" dirty="0"/>
              <a:t>Figure 5.9 Screen from Celonis Software Shows Bottlenecks in the Process</a:t>
            </a:r>
          </a:p>
        </p:txBody>
      </p:sp>
      <p:pic>
        <p:nvPicPr>
          <p:cNvPr id="5" name="Picture 4" descr="A screenshot of the Celonis software showing bottlenecks in the process. Long description in notes, press F6.">
            <a:extLst>
              <a:ext uri="{FF2B5EF4-FFF2-40B4-BE49-F238E27FC236}">
                <a16:creationId xmlns:a16="http://schemas.microsoft.com/office/drawing/2014/main" id="{E19FCA7D-3687-4F47-A7DC-5A346B412CB7}"/>
              </a:ext>
            </a:extLst>
          </p:cNvPr>
          <p:cNvPicPr>
            <a:picLocks noChangeAspect="1"/>
          </p:cNvPicPr>
          <p:nvPr/>
        </p:nvPicPr>
        <p:blipFill rotWithShape="1">
          <a:blip r:embed="rId3"/>
          <a:srcRect b="3404"/>
          <a:stretch/>
        </p:blipFill>
        <p:spPr>
          <a:xfrm>
            <a:off x="704850" y="1758121"/>
            <a:ext cx="7734300" cy="4072836"/>
          </a:xfrm>
          <a:prstGeom prst="rect">
            <a:avLst/>
          </a:prstGeom>
        </p:spPr>
      </p:pic>
    </p:spTree>
    <p:extLst>
      <p:ext uri="{BB962C8B-B14F-4D97-AF65-F5344CB8AC3E}">
        <p14:creationId xmlns:p14="http://schemas.microsoft.com/office/powerpoint/2010/main" val="3892755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E35C-E6E5-4669-BEAB-D79BEDD77914}"/>
              </a:ext>
            </a:extLst>
          </p:cNvPr>
          <p:cNvSpPr>
            <a:spLocks noGrp="1"/>
          </p:cNvSpPr>
          <p:nvPr>
            <p:ph type="title"/>
          </p:nvPr>
        </p:nvSpPr>
        <p:spPr/>
        <p:txBody>
          <a:bodyPr/>
          <a:lstStyle/>
          <a:p>
            <a:r>
              <a:rPr lang="en-US" sz="2800" dirty="0"/>
              <a:t>Figure 5.10 Simulation from Celonis Software Shows the Results of Removing Bottlenecks</a:t>
            </a:r>
          </a:p>
        </p:txBody>
      </p:sp>
      <p:pic>
        <p:nvPicPr>
          <p:cNvPr id="5" name="Picture 4" descr="A screenshot of the Celonis software showing the results of removing bottlenecks. Long description in notes, press F6.">
            <a:extLst>
              <a:ext uri="{FF2B5EF4-FFF2-40B4-BE49-F238E27FC236}">
                <a16:creationId xmlns:a16="http://schemas.microsoft.com/office/drawing/2014/main" id="{E19FCA7D-3687-4F47-A7DC-5A346B412CB7}"/>
              </a:ext>
            </a:extLst>
          </p:cNvPr>
          <p:cNvPicPr>
            <a:picLocks noChangeAspect="1"/>
          </p:cNvPicPr>
          <p:nvPr/>
        </p:nvPicPr>
        <p:blipFill rotWithShape="1">
          <a:blip r:embed="rId3"/>
          <a:srcRect b="3254"/>
          <a:stretch/>
        </p:blipFill>
        <p:spPr>
          <a:xfrm>
            <a:off x="912184" y="1758121"/>
            <a:ext cx="7319632" cy="3940314"/>
          </a:xfrm>
          <a:prstGeom prst="rect">
            <a:avLst/>
          </a:prstGeom>
        </p:spPr>
      </p:pic>
    </p:spTree>
    <p:extLst>
      <p:ext uri="{BB962C8B-B14F-4D97-AF65-F5344CB8AC3E}">
        <p14:creationId xmlns:p14="http://schemas.microsoft.com/office/powerpoint/2010/main" val="24531562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ACC61-7AF5-4214-BA2B-F4BC84B6690D}"/>
              </a:ext>
            </a:extLst>
          </p:cNvPr>
          <p:cNvSpPr>
            <a:spLocks noGrp="1"/>
          </p:cNvSpPr>
          <p:nvPr>
            <p:ph type="title"/>
          </p:nvPr>
        </p:nvSpPr>
        <p:spPr/>
        <p:txBody>
          <a:bodyPr/>
          <a:lstStyle/>
          <a:p>
            <a:r>
              <a:rPr lang="en-US" dirty="0"/>
              <a:t>Task Mining</a:t>
            </a:r>
          </a:p>
        </p:txBody>
      </p:sp>
      <p:sp>
        <p:nvSpPr>
          <p:cNvPr id="3" name="Content Placeholder 2">
            <a:extLst>
              <a:ext uri="{FF2B5EF4-FFF2-40B4-BE49-F238E27FC236}">
                <a16:creationId xmlns:a16="http://schemas.microsoft.com/office/drawing/2014/main" id="{D57C97AA-F135-436F-B21A-1BA9D45093B7}"/>
              </a:ext>
            </a:extLst>
          </p:cNvPr>
          <p:cNvSpPr>
            <a:spLocks noGrp="1"/>
          </p:cNvSpPr>
          <p:nvPr>
            <p:ph sz="quarter" idx="13"/>
          </p:nvPr>
        </p:nvSpPr>
        <p:spPr>
          <a:xfrm>
            <a:off x="457200" y="1556327"/>
            <a:ext cx="8229600" cy="1385656"/>
          </a:xfrm>
        </p:spPr>
        <p:txBody>
          <a:bodyPr/>
          <a:lstStyle/>
          <a:p>
            <a:r>
              <a:rPr lang="en-US" dirty="0">
                <a:cs typeface="Arial" panose="020B0604020202020204" pitchFamily="34" charset="0"/>
              </a:rPr>
              <a:t>Uses desktop capture to automatically see what individuals are doing and figure out what processes can be improved</a:t>
            </a:r>
          </a:p>
        </p:txBody>
      </p:sp>
    </p:spTree>
    <p:extLst>
      <p:ext uri="{BB962C8B-B14F-4D97-AF65-F5344CB8AC3E}">
        <p14:creationId xmlns:p14="http://schemas.microsoft.com/office/powerpoint/2010/main" val="2328433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A404-C5F1-40C8-8A4A-68EB5BCE4197}"/>
              </a:ext>
            </a:extLst>
          </p:cNvPr>
          <p:cNvSpPr>
            <a:spLocks noGrp="1"/>
          </p:cNvSpPr>
          <p:nvPr>
            <p:ph type="title"/>
          </p:nvPr>
        </p:nvSpPr>
        <p:spPr/>
        <p:txBody>
          <a:bodyPr/>
          <a:lstStyle/>
          <a:p>
            <a:r>
              <a:rPr lang="en-US" dirty="0"/>
              <a:t>Workforce Analytics </a:t>
            </a:r>
            <a:r>
              <a:rPr lang="en-US" sz="2000" b="0" dirty="0"/>
              <a:t>(1 of 2)</a:t>
            </a:r>
          </a:p>
        </p:txBody>
      </p:sp>
      <p:sp>
        <p:nvSpPr>
          <p:cNvPr id="3" name="Content Placeholder 2">
            <a:extLst>
              <a:ext uri="{FF2B5EF4-FFF2-40B4-BE49-F238E27FC236}">
                <a16:creationId xmlns:a16="http://schemas.microsoft.com/office/drawing/2014/main" id="{F5F6DB0F-7189-4262-8B6A-C393CD83E976}"/>
              </a:ext>
            </a:extLst>
          </p:cNvPr>
          <p:cNvSpPr>
            <a:spLocks noGrp="1"/>
          </p:cNvSpPr>
          <p:nvPr>
            <p:ph sz="quarter" idx="13"/>
          </p:nvPr>
        </p:nvSpPr>
        <p:spPr>
          <a:xfrm>
            <a:off x="457200" y="1556327"/>
            <a:ext cx="8229600" cy="3399986"/>
          </a:xfrm>
        </p:spPr>
        <p:txBody>
          <a:bodyPr/>
          <a:lstStyle/>
          <a:p>
            <a:r>
              <a:rPr lang="en-US" dirty="0"/>
              <a:t>Ensuring the right workers in the right place</a:t>
            </a:r>
          </a:p>
          <a:p>
            <a:r>
              <a:rPr lang="en-US" dirty="0"/>
              <a:t>Balancing workload</a:t>
            </a:r>
          </a:p>
          <a:p>
            <a:r>
              <a:rPr lang="en-US" dirty="0"/>
              <a:t>Comparing workers or team’ performance</a:t>
            </a:r>
          </a:p>
          <a:p>
            <a:r>
              <a:rPr lang="en-US" dirty="0"/>
              <a:t>Understanding bottlenecks in workflow</a:t>
            </a:r>
          </a:p>
          <a:p>
            <a:r>
              <a:rPr lang="en-US" dirty="0"/>
              <a:t>Determining usage of apps</a:t>
            </a:r>
          </a:p>
          <a:p>
            <a:r>
              <a:rPr lang="en-US" dirty="0"/>
              <a:t>Realizing which apps are most productive</a:t>
            </a:r>
          </a:p>
        </p:txBody>
      </p:sp>
    </p:spTree>
    <p:extLst>
      <p:ext uri="{BB962C8B-B14F-4D97-AF65-F5344CB8AC3E}">
        <p14:creationId xmlns:p14="http://schemas.microsoft.com/office/powerpoint/2010/main" val="647471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F67A-3327-4CE5-80A0-DAAEA3EE630D}"/>
              </a:ext>
            </a:extLst>
          </p:cNvPr>
          <p:cNvSpPr>
            <a:spLocks noGrp="1"/>
          </p:cNvSpPr>
          <p:nvPr>
            <p:ph type="title"/>
          </p:nvPr>
        </p:nvSpPr>
        <p:spPr/>
        <p:txBody>
          <a:bodyPr/>
          <a:lstStyle/>
          <a:p>
            <a:r>
              <a:rPr lang="en-US" dirty="0"/>
              <a:t>Workforce Analytics </a:t>
            </a:r>
            <a:r>
              <a:rPr lang="en-US" sz="2000" b="0" dirty="0"/>
              <a:t>(2 of 2)</a:t>
            </a:r>
          </a:p>
        </p:txBody>
      </p:sp>
      <p:sp>
        <p:nvSpPr>
          <p:cNvPr id="3" name="Content Placeholder 2">
            <a:extLst>
              <a:ext uri="{FF2B5EF4-FFF2-40B4-BE49-F238E27FC236}">
                <a16:creationId xmlns:a16="http://schemas.microsoft.com/office/drawing/2014/main" id="{C786F241-6745-4E82-9FF3-D6EA9C62613C}"/>
              </a:ext>
            </a:extLst>
          </p:cNvPr>
          <p:cNvSpPr>
            <a:spLocks noGrp="1"/>
          </p:cNvSpPr>
          <p:nvPr>
            <p:ph sz="quarter" idx="13"/>
          </p:nvPr>
        </p:nvSpPr>
        <p:spPr>
          <a:xfrm>
            <a:off x="457200" y="1556327"/>
            <a:ext cx="8229600" cy="2949412"/>
          </a:xfrm>
        </p:spPr>
        <p:txBody>
          <a:bodyPr/>
          <a:lstStyle/>
          <a:p>
            <a:r>
              <a:rPr lang="en-US" dirty="0"/>
              <a:t>Should not be about surveillance or spying</a:t>
            </a:r>
          </a:p>
          <a:p>
            <a:r>
              <a:rPr lang="en-US" dirty="0"/>
              <a:t>Should be used to</a:t>
            </a:r>
          </a:p>
          <a:p>
            <a:pPr lvl="1"/>
            <a:r>
              <a:rPr lang="en-US" dirty="0"/>
              <a:t>collect data to gain insight on how work is done</a:t>
            </a:r>
          </a:p>
          <a:p>
            <a:pPr lvl="1"/>
            <a:r>
              <a:rPr lang="en-US" dirty="0"/>
              <a:t>determine the best tools and apps to get work done</a:t>
            </a:r>
          </a:p>
          <a:p>
            <a:pPr lvl="1"/>
            <a:r>
              <a:rPr lang="en-US" dirty="0"/>
              <a:t>understand how teams interact </a:t>
            </a:r>
          </a:p>
          <a:p>
            <a:pPr lvl="1"/>
            <a:r>
              <a:rPr lang="en-US" dirty="0"/>
              <a:t>identify where improvements can be made</a:t>
            </a:r>
          </a:p>
        </p:txBody>
      </p:sp>
    </p:spTree>
    <p:extLst>
      <p:ext uri="{BB962C8B-B14F-4D97-AF65-F5344CB8AC3E}">
        <p14:creationId xmlns:p14="http://schemas.microsoft.com/office/powerpoint/2010/main" val="10954933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12E0E-F8F5-424F-8BD1-6029FDEB0642}"/>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sym typeface="Arial"/>
              </a:rPr>
              <a:t>Observation</a:t>
            </a:r>
            <a:endParaRPr lang="en-US" dirty="0"/>
          </a:p>
        </p:txBody>
      </p:sp>
      <p:sp>
        <p:nvSpPr>
          <p:cNvPr id="3" name="Content Placeholder 2">
            <a:extLst>
              <a:ext uri="{FF2B5EF4-FFF2-40B4-BE49-F238E27FC236}">
                <a16:creationId xmlns:a16="http://schemas.microsoft.com/office/drawing/2014/main" id="{4B1604B3-234C-4F13-9B4C-25842A79AAF3}"/>
              </a:ext>
            </a:extLst>
          </p:cNvPr>
          <p:cNvSpPr>
            <a:spLocks noGrp="1"/>
          </p:cNvSpPr>
          <p:nvPr>
            <p:ph sz="quarter" idx="13"/>
          </p:nvPr>
        </p:nvSpPr>
        <p:spPr>
          <a:xfrm>
            <a:off x="457200" y="1556327"/>
            <a:ext cx="8229600" cy="237956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Observation provides insight on what organizational members actually do</a:t>
            </a:r>
          </a:p>
          <a:p>
            <a:pPr marL="255651" lvl="0" indent="-255651">
              <a:spcAft>
                <a:spcPct val="0"/>
              </a:spcAft>
              <a:buSzPts val="2400"/>
              <a:tabLst/>
            </a:pPr>
            <a:r>
              <a:rPr lang="en-US" altLang="en-US" dirty="0">
                <a:solidFill>
                  <a:srgbClr val="000000"/>
                </a:solidFill>
                <a:cs typeface="Arial" panose="020B0604020202020204" pitchFamily="34" charset="0"/>
              </a:rPr>
              <a:t>See firsthand the relationships that exist between decision makers and other organizational members</a:t>
            </a:r>
          </a:p>
          <a:p>
            <a:pPr marL="255651" lvl="0" indent="-255651">
              <a:spcAft>
                <a:spcPct val="0"/>
              </a:spcAft>
              <a:buSzPts val="2400"/>
              <a:tabLst/>
            </a:pPr>
            <a:r>
              <a:rPr lang="en-US" altLang="en-US" dirty="0">
                <a:solidFill>
                  <a:srgbClr val="000000"/>
                </a:solidFill>
                <a:cs typeface="Arial" panose="020B0604020202020204" pitchFamily="34" charset="0"/>
              </a:rPr>
              <a:t>Can also reveal important clues regarding H</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C</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I concerns</a:t>
            </a:r>
          </a:p>
        </p:txBody>
      </p:sp>
    </p:spTree>
    <p:extLst>
      <p:ext uri="{BB962C8B-B14F-4D97-AF65-F5344CB8AC3E}">
        <p14:creationId xmlns:p14="http://schemas.microsoft.com/office/powerpoint/2010/main" val="1581375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EAED-131F-41A8-9259-86D06ACCB46B}"/>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sym typeface="Arial"/>
              </a:rPr>
              <a:t>Analyst’s Playscript</a:t>
            </a:r>
            <a:endParaRPr lang="en-US" dirty="0"/>
          </a:p>
        </p:txBody>
      </p:sp>
      <p:sp>
        <p:nvSpPr>
          <p:cNvPr id="3" name="Content Placeholder 2">
            <a:extLst>
              <a:ext uri="{FF2B5EF4-FFF2-40B4-BE49-F238E27FC236}">
                <a16:creationId xmlns:a16="http://schemas.microsoft.com/office/drawing/2014/main" id="{B6A94814-9885-4678-8F91-F4FE330B6E26}"/>
              </a:ext>
            </a:extLst>
          </p:cNvPr>
          <p:cNvSpPr>
            <a:spLocks noGrp="1"/>
          </p:cNvSpPr>
          <p:nvPr>
            <p:ph sz="quarter" idx="13"/>
          </p:nvPr>
        </p:nvSpPr>
        <p:spPr>
          <a:xfrm>
            <a:off x="457200" y="1556327"/>
            <a:ext cx="8229600" cy="324096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Involves observing the decision-makers behavior and recording their actions using a series of action verbs</a:t>
            </a:r>
          </a:p>
          <a:p>
            <a:pPr marL="255651" lvl="0" indent="-255651">
              <a:spcAft>
                <a:spcPct val="0"/>
              </a:spcAft>
              <a:buSzPts val="2400"/>
              <a:tabLst/>
            </a:pPr>
            <a:r>
              <a:rPr lang="en-US" altLang="en-US" dirty="0">
                <a:solidFill>
                  <a:srgbClr val="000000"/>
                </a:solidFill>
                <a:cs typeface="Arial" panose="020B0604020202020204" pitchFamily="34" charset="0"/>
              </a:rPr>
              <a:t>Examples:</a:t>
            </a:r>
          </a:p>
          <a:p>
            <a:pPr marL="741553" lvl="1" indent="-284353">
              <a:spcAft>
                <a:spcPct val="0"/>
              </a:spcAft>
              <a:buSzPts val="2400"/>
            </a:pPr>
            <a:r>
              <a:rPr lang="en-US" altLang="en-US" dirty="0">
                <a:solidFill>
                  <a:srgbClr val="000000"/>
                </a:solidFill>
                <a:cs typeface="Arial" panose="020B0604020202020204" pitchFamily="34" charset="0"/>
              </a:rPr>
              <a:t>Talking</a:t>
            </a:r>
          </a:p>
          <a:p>
            <a:pPr marL="741553" lvl="1" indent="-284353">
              <a:spcAft>
                <a:spcPct val="0"/>
              </a:spcAft>
              <a:buSzPts val="2400"/>
            </a:pPr>
            <a:r>
              <a:rPr lang="en-US" altLang="en-US" dirty="0">
                <a:solidFill>
                  <a:srgbClr val="000000"/>
                </a:solidFill>
                <a:cs typeface="Arial" panose="020B0604020202020204" pitchFamily="34" charset="0"/>
              </a:rPr>
              <a:t>Sampling</a:t>
            </a:r>
          </a:p>
          <a:p>
            <a:pPr marL="741553" lvl="1" indent="-284353">
              <a:spcAft>
                <a:spcPct val="0"/>
              </a:spcAft>
              <a:buSzPts val="2400"/>
            </a:pPr>
            <a:r>
              <a:rPr lang="en-US" altLang="en-US" dirty="0">
                <a:solidFill>
                  <a:srgbClr val="000000"/>
                </a:solidFill>
                <a:cs typeface="Arial" panose="020B0604020202020204" pitchFamily="34" charset="0"/>
              </a:rPr>
              <a:t>Corresponding</a:t>
            </a:r>
          </a:p>
          <a:p>
            <a:pPr marL="741553" lvl="1" indent="-284353">
              <a:spcAft>
                <a:spcPct val="0"/>
              </a:spcAft>
              <a:buSzPts val="2400"/>
            </a:pPr>
            <a:r>
              <a:rPr lang="en-US" altLang="en-US" dirty="0">
                <a:solidFill>
                  <a:srgbClr val="000000"/>
                </a:solidFill>
                <a:cs typeface="Arial" panose="020B0604020202020204" pitchFamily="34" charset="0"/>
              </a:rPr>
              <a:t>Deciding</a:t>
            </a:r>
          </a:p>
        </p:txBody>
      </p:sp>
    </p:spTree>
    <p:extLst>
      <p:ext uri="{BB962C8B-B14F-4D97-AF65-F5344CB8AC3E}">
        <p14:creationId xmlns:p14="http://schemas.microsoft.com/office/powerpoint/2010/main" val="1450484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3063-431D-4726-9331-C431AC200FAC}"/>
              </a:ext>
            </a:extLst>
          </p:cNvPr>
          <p:cNvSpPr>
            <a:spLocks noGrp="1"/>
          </p:cNvSpPr>
          <p:nvPr>
            <p:ph type="title"/>
          </p:nvPr>
        </p:nvSpPr>
        <p:spPr/>
        <p:txBody>
          <a:bodyPr/>
          <a:lstStyle/>
          <a:p>
            <a:r>
              <a:rPr lang="en-US" altLang="en-US" sz="2800" dirty="0">
                <a:sym typeface="Arial"/>
              </a:rPr>
              <a:t>Figure 5.14 A Sample Page from an Analyst’s Playscript Describing Decision Making</a:t>
            </a:r>
            <a:endParaRPr lang="en-US" sz="2800" dirty="0"/>
          </a:p>
        </p:txBody>
      </p:sp>
      <p:pic>
        <p:nvPicPr>
          <p:cNvPr id="5" name="Picture 4" descr="An illustration shows a sample page from an analyst’s playscript describing decision making. Long description in notes, press F6.">
            <a:extLst>
              <a:ext uri="{FF2B5EF4-FFF2-40B4-BE49-F238E27FC236}">
                <a16:creationId xmlns:a16="http://schemas.microsoft.com/office/drawing/2014/main" id="{FCB099F4-C3C6-40EE-A34E-8B1D7C318254}"/>
              </a:ext>
            </a:extLst>
          </p:cNvPr>
          <p:cNvPicPr>
            <a:picLocks noChangeAspect="1"/>
          </p:cNvPicPr>
          <p:nvPr/>
        </p:nvPicPr>
        <p:blipFill rotWithShape="1">
          <a:blip r:embed="rId3"/>
          <a:srcRect t="1434" b="5430"/>
          <a:stretch/>
        </p:blipFill>
        <p:spPr>
          <a:xfrm>
            <a:off x="2737146" y="1574800"/>
            <a:ext cx="3669708" cy="4583953"/>
          </a:xfrm>
          <a:prstGeom prst="rect">
            <a:avLst/>
          </a:prstGeom>
        </p:spPr>
      </p:pic>
    </p:spTree>
    <p:extLst>
      <p:ext uri="{BB962C8B-B14F-4D97-AF65-F5344CB8AC3E}">
        <p14:creationId xmlns:p14="http://schemas.microsoft.com/office/powerpoint/2010/main" val="40235019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CA5DE-2B80-49DB-BE2C-D99A49B62419}"/>
              </a:ext>
            </a:extLst>
          </p:cNvPr>
          <p:cNvSpPr>
            <a:spLocks noGrp="1"/>
          </p:cNvSpPr>
          <p:nvPr>
            <p:ph type="title"/>
          </p:nvPr>
        </p:nvSpPr>
        <p:spPr/>
        <p:txBody>
          <a:bodyPr/>
          <a:lstStyle/>
          <a:p>
            <a:r>
              <a:rPr lang="en-US" altLang="en-US" dirty="0">
                <a:sym typeface="Arial"/>
              </a:rPr>
              <a:t>S</a:t>
            </a:r>
            <a:r>
              <a:rPr lang="en-US" altLang="en-US" sz="100" dirty="0">
                <a:sym typeface="Arial"/>
              </a:rPr>
              <a:t> </a:t>
            </a:r>
            <a:r>
              <a:rPr lang="en-US" altLang="en-US" dirty="0">
                <a:sym typeface="Arial"/>
              </a:rPr>
              <a:t>T</a:t>
            </a:r>
            <a:r>
              <a:rPr lang="en-US" altLang="en-US" sz="100" dirty="0">
                <a:sym typeface="Arial"/>
              </a:rPr>
              <a:t> </a:t>
            </a:r>
            <a:r>
              <a:rPr lang="en-US" altLang="en-US" dirty="0">
                <a:sym typeface="Arial"/>
              </a:rPr>
              <a:t>R</a:t>
            </a:r>
            <a:r>
              <a:rPr lang="en-US" altLang="en-US" sz="100" dirty="0">
                <a:sym typeface="Arial"/>
              </a:rPr>
              <a:t> </a:t>
            </a:r>
            <a:r>
              <a:rPr lang="en-US" altLang="en-US" dirty="0">
                <a:sym typeface="Arial"/>
              </a:rPr>
              <a:t>O</a:t>
            </a:r>
            <a:r>
              <a:rPr lang="en-US" altLang="en-US" sz="100" dirty="0">
                <a:sym typeface="Arial"/>
              </a:rPr>
              <a:t> </a:t>
            </a:r>
            <a:r>
              <a:rPr lang="en-US" altLang="en-US" dirty="0">
                <a:sym typeface="Arial"/>
              </a:rPr>
              <a:t>B</a:t>
            </a:r>
            <a:r>
              <a:rPr lang="en-US" altLang="en-US" sz="100" dirty="0">
                <a:sym typeface="Arial"/>
              </a:rPr>
              <a:t> </a:t>
            </a:r>
            <a:r>
              <a:rPr lang="en-US" altLang="en-US" dirty="0">
                <a:sym typeface="Arial"/>
              </a:rPr>
              <a:t>E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48F86810-AD9D-4B44-98A9-980CD9404960}"/>
              </a:ext>
            </a:extLst>
          </p:cNvPr>
          <p:cNvSpPr>
            <a:spLocks noGrp="1"/>
          </p:cNvSpPr>
          <p:nvPr>
            <p:ph sz="quarter" idx="13"/>
          </p:nvPr>
        </p:nvSpPr>
        <p:spPr>
          <a:xfrm>
            <a:off x="457200" y="1556327"/>
            <a:ext cx="8229600" cy="1451916"/>
          </a:xfrm>
        </p:spPr>
        <p:txBody>
          <a:bodyPr/>
          <a:lstStyle/>
          <a:p>
            <a:r>
              <a:rPr lang="en-US" altLang="en-US" b="1" dirty="0" smtClean="0">
                <a:solidFill>
                  <a:srgbClr val="000000"/>
                </a:solidFill>
                <a:cs typeface="Arial" panose="020B0604020202020204" pitchFamily="34" charset="0"/>
              </a:rPr>
              <a:t>STR</a:t>
            </a:r>
            <a:r>
              <a:rPr lang="en-US" altLang="en-US" dirty="0" smtClean="0">
                <a:solidFill>
                  <a:srgbClr val="000000"/>
                </a:solidFill>
                <a:cs typeface="Arial" panose="020B0604020202020204" pitchFamily="34" charset="0"/>
              </a:rPr>
              <a:t>uctured </a:t>
            </a:r>
            <a:r>
              <a:rPr lang="en-US" altLang="en-US" b="1" dirty="0" smtClean="0">
                <a:solidFill>
                  <a:srgbClr val="000000"/>
                </a:solidFill>
                <a:cs typeface="Arial" panose="020B0604020202020204" pitchFamily="34" charset="0"/>
              </a:rPr>
              <a:t>OB</a:t>
            </a:r>
            <a:r>
              <a:rPr lang="en-US" altLang="en-US" dirty="0" smtClean="0">
                <a:solidFill>
                  <a:srgbClr val="000000"/>
                </a:solidFill>
                <a:cs typeface="Arial" panose="020B0604020202020204" pitchFamily="34" charset="0"/>
              </a:rPr>
              <a:t>servation </a:t>
            </a:r>
            <a:r>
              <a:rPr lang="en-US" altLang="en-US" dirty="0">
                <a:solidFill>
                  <a:srgbClr val="000000"/>
                </a:solidFill>
                <a:cs typeface="Arial" panose="020B0604020202020204" pitchFamily="34" charset="0"/>
              </a:rPr>
              <a:t>of the </a:t>
            </a:r>
            <a:r>
              <a:rPr lang="en-US" altLang="en-US" b="1" dirty="0">
                <a:solidFill>
                  <a:srgbClr val="000000"/>
                </a:solidFill>
                <a:cs typeface="Arial" panose="020B0604020202020204" pitchFamily="34" charset="0"/>
              </a:rPr>
              <a:t>E</a:t>
            </a:r>
            <a:r>
              <a:rPr lang="en-US" altLang="en-US" dirty="0">
                <a:solidFill>
                  <a:srgbClr val="000000"/>
                </a:solidFill>
                <a:cs typeface="Arial" panose="020B0604020202020204" pitchFamily="34" charset="0"/>
              </a:rPr>
              <a:t>nvironment—a technique for observing the decision-maker’s physical environment</a:t>
            </a:r>
          </a:p>
        </p:txBody>
      </p:sp>
    </p:spTree>
    <p:extLst>
      <p:ext uri="{BB962C8B-B14F-4D97-AF65-F5344CB8AC3E}">
        <p14:creationId xmlns:p14="http://schemas.microsoft.com/office/powerpoint/2010/main" val="23546929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D129-FD92-4EC6-ACB7-137F1F4FA5EB}"/>
              </a:ext>
            </a:extLst>
          </p:cNvPr>
          <p:cNvSpPr>
            <a:spLocks noGrp="1"/>
          </p:cNvSpPr>
          <p:nvPr>
            <p:ph type="title"/>
          </p:nvPr>
        </p:nvSpPr>
        <p:spPr/>
        <p:txBody>
          <a:bodyPr/>
          <a:lstStyle/>
          <a:p>
            <a:r>
              <a:rPr lang="en-US" altLang="en-US" dirty="0" smtClean="0">
                <a:sym typeface="Arial"/>
              </a:rPr>
              <a:t>S</a:t>
            </a:r>
            <a:r>
              <a:rPr lang="en-US" altLang="en-US" sz="100" dirty="0" smtClean="0">
                <a:sym typeface="Arial"/>
              </a:rPr>
              <a:t> </a:t>
            </a:r>
            <a:r>
              <a:rPr lang="en-US" altLang="en-US" dirty="0" smtClean="0">
                <a:sym typeface="Arial"/>
              </a:rPr>
              <a:t>T</a:t>
            </a:r>
            <a:r>
              <a:rPr lang="en-US" altLang="en-US" sz="100" dirty="0" smtClean="0">
                <a:sym typeface="Arial"/>
              </a:rPr>
              <a:t> </a:t>
            </a:r>
            <a:r>
              <a:rPr lang="en-US" altLang="en-US" dirty="0" smtClean="0">
                <a:sym typeface="Arial"/>
              </a:rPr>
              <a:t>R</a:t>
            </a:r>
            <a:r>
              <a:rPr lang="en-US" altLang="en-US" sz="100" dirty="0" smtClean="0">
                <a:sym typeface="Arial"/>
              </a:rPr>
              <a:t> </a:t>
            </a:r>
            <a:r>
              <a:rPr lang="en-US" altLang="en-US" dirty="0" smtClean="0">
                <a:sym typeface="Arial"/>
              </a:rPr>
              <a:t>O</a:t>
            </a:r>
            <a:r>
              <a:rPr lang="en-US" altLang="en-US" sz="100" dirty="0" smtClean="0">
                <a:sym typeface="Arial"/>
              </a:rPr>
              <a:t> </a:t>
            </a:r>
            <a:r>
              <a:rPr lang="en-US" altLang="en-US" dirty="0" smtClean="0">
                <a:sym typeface="Arial"/>
              </a:rPr>
              <a:t>B</a:t>
            </a:r>
            <a:r>
              <a:rPr lang="en-US" altLang="en-US" sz="100" dirty="0" smtClean="0">
                <a:sym typeface="Arial"/>
              </a:rPr>
              <a:t> </a:t>
            </a:r>
            <a:r>
              <a:rPr lang="en-US" altLang="en-US" dirty="0" smtClean="0">
                <a:sym typeface="Arial"/>
              </a:rPr>
              <a:t>E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C999A911-A3F3-4BD8-BBB4-C173BA7FE465}"/>
              </a:ext>
            </a:extLst>
          </p:cNvPr>
          <p:cNvSpPr>
            <a:spLocks noGrp="1"/>
          </p:cNvSpPr>
          <p:nvPr>
            <p:ph sz="quarter" idx="13"/>
          </p:nvPr>
        </p:nvSpPr>
        <p:spPr>
          <a:xfrm>
            <a:off x="457200" y="1556327"/>
            <a:ext cx="8229600" cy="256509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Often it is possible to observe the particulars of the surroundings that will confirm or negate the organizational narrative</a:t>
            </a:r>
          </a:p>
          <a:p>
            <a:pPr marL="741553" lvl="1" indent="-284353">
              <a:spcAft>
                <a:spcPct val="0"/>
              </a:spcAft>
              <a:buSzPts val="2400"/>
            </a:pPr>
            <a:r>
              <a:rPr lang="en-US" altLang="en-US" dirty="0">
                <a:solidFill>
                  <a:srgbClr val="000000"/>
                </a:solidFill>
                <a:cs typeface="Arial" panose="020B0604020202020204" pitchFamily="34" charset="0"/>
              </a:rPr>
              <a:t>Also called stories or dialogue</a:t>
            </a:r>
          </a:p>
          <a:p>
            <a:pPr marL="741553" lvl="1" indent="-284353">
              <a:spcAft>
                <a:spcPct val="0"/>
              </a:spcAft>
              <a:buSzPts val="2400"/>
            </a:pPr>
            <a:r>
              <a:rPr lang="en-US" altLang="en-US" dirty="0">
                <a:solidFill>
                  <a:srgbClr val="000000"/>
                </a:solidFill>
                <a:cs typeface="Arial" panose="020B0604020202020204" pitchFamily="34" charset="0"/>
              </a:rPr>
              <a:t>Information that is found through interviews or questionnaires</a:t>
            </a:r>
          </a:p>
        </p:txBody>
      </p:sp>
    </p:spTree>
    <p:extLst>
      <p:ext uri="{BB962C8B-B14F-4D97-AF65-F5344CB8AC3E}">
        <p14:creationId xmlns:p14="http://schemas.microsoft.com/office/powerpoint/2010/main" val="30190582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23F45-3E79-432A-9541-72120696FB7A}"/>
              </a:ext>
            </a:extLst>
          </p:cNvPr>
          <p:cNvSpPr>
            <a:spLocks noGrp="1"/>
          </p:cNvSpPr>
          <p:nvPr>
            <p:ph type="title"/>
          </p:nvPr>
        </p:nvSpPr>
        <p:spPr/>
        <p:txBody>
          <a:bodyPr/>
          <a:lstStyle/>
          <a:p>
            <a:r>
              <a:rPr lang="en-US" altLang="en-US" dirty="0" smtClean="0">
                <a:sym typeface="Arial"/>
              </a:rPr>
              <a:t>S</a:t>
            </a:r>
            <a:r>
              <a:rPr lang="en-US" altLang="en-US" sz="100" dirty="0" smtClean="0">
                <a:sym typeface="Arial"/>
              </a:rPr>
              <a:t> </a:t>
            </a:r>
            <a:r>
              <a:rPr lang="en-US" altLang="en-US" dirty="0" smtClean="0">
                <a:sym typeface="Arial"/>
              </a:rPr>
              <a:t>T</a:t>
            </a:r>
            <a:r>
              <a:rPr lang="en-US" altLang="en-US" sz="100" dirty="0" smtClean="0">
                <a:sym typeface="Arial"/>
              </a:rPr>
              <a:t> </a:t>
            </a:r>
            <a:r>
              <a:rPr lang="en-US" altLang="en-US" dirty="0" smtClean="0">
                <a:sym typeface="Arial"/>
              </a:rPr>
              <a:t>R</a:t>
            </a:r>
            <a:r>
              <a:rPr lang="en-US" altLang="en-US" sz="100" dirty="0" smtClean="0">
                <a:sym typeface="Arial"/>
              </a:rPr>
              <a:t> </a:t>
            </a:r>
            <a:r>
              <a:rPr lang="en-US" altLang="en-US" dirty="0" smtClean="0">
                <a:sym typeface="Arial"/>
              </a:rPr>
              <a:t>O</a:t>
            </a:r>
            <a:r>
              <a:rPr lang="en-US" altLang="en-US" sz="100" dirty="0" smtClean="0">
                <a:sym typeface="Arial"/>
              </a:rPr>
              <a:t> </a:t>
            </a:r>
            <a:r>
              <a:rPr lang="en-US" altLang="en-US" dirty="0" smtClean="0">
                <a:sym typeface="Arial"/>
              </a:rPr>
              <a:t>B</a:t>
            </a:r>
            <a:r>
              <a:rPr lang="en-US" altLang="en-US" sz="100" dirty="0" smtClean="0">
                <a:sym typeface="Arial"/>
              </a:rPr>
              <a:t> </a:t>
            </a:r>
            <a:r>
              <a:rPr lang="en-US" altLang="en-US" dirty="0" smtClean="0">
                <a:sym typeface="Arial"/>
              </a:rPr>
              <a:t>E Elements</a:t>
            </a:r>
            <a:endParaRPr lang="en-US" dirty="0"/>
          </a:p>
        </p:txBody>
      </p:sp>
      <p:sp>
        <p:nvSpPr>
          <p:cNvPr id="3" name="Content Placeholder 2">
            <a:extLst>
              <a:ext uri="{FF2B5EF4-FFF2-40B4-BE49-F238E27FC236}">
                <a16:creationId xmlns:a16="http://schemas.microsoft.com/office/drawing/2014/main" id="{A0230E61-5AC6-4416-A330-93DF4ED589DA}"/>
              </a:ext>
            </a:extLst>
          </p:cNvPr>
          <p:cNvSpPr>
            <a:spLocks noGrp="1"/>
          </p:cNvSpPr>
          <p:nvPr>
            <p:ph sz="quarter" idx="13"/>
          </p:nvPr>
        </p:nvSpPr>
        <p:spPr>
          <a:xfrm>
            <a:off x="457200" y="1556327"/>
            <a:ext cx="8229600" cy="404934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Office location</a:t>
            </a:r>
          </a:p>
          <a:p>
            <a:pPr marL="255651" lvl="0" indent="-255651">
              <a:spcAft>
                <a:spcPct val="0"/>
              </a:spcAft>
              <a:buSzPts val="2400"/>
              <a:tabLst/>
            </a:pPr>
            <a:r>
              <a:rPr lang="en-US" altLang="en-US" dirty="0">
                <a:solidFill>
                  <a:srgbClr val="000000"/>
                </a:solidFill>
                <a:cs typeface="Arial" panose="020B0604020202020204" pitchFamily="34" charset="0"/>
              </a:rPr>
              <a:t>Desk placement</a:t>
            </a:r>
          </a:p>
          <a:p>
            <a:pPr marL="255651" lvl="0" indent="-255651">
              <a:spcAft>
                <a:spcPct val="0"/>
              </a:spcAft>
              <a:buSzPts val="2400"/>
              <a:tabLst/>
            </a:pPr>
            <a:r>
              <a:rPr lang="en-US" altLang="en-US" dirty="0">
                <a:solidFill>
                  <a:srgbClr val="000000"/>
                </a:solidFill>
                <a:cs typeface="Arial" panose="020B0604020202020204" pitchFamily="34" charset="0"/>
              </a:rPr>
              <a:t>Stationary equipment</a:t>
            </a:r>
          </a:p>
          <a:p>
            <a:pPr marL="255651" lvl="0" indent="-255651">
              <a:spcAft>
                <a:spcPct val="0"/>
              </a:spcAft>
              <a:buSzPts val="2400"/>
              <a:tabLst/>
            </a:pPr>
            <a:r>
              <a:rPr lang="en-US" altLang="en-US" dirty="0">
                <a:solidFill>
                  <a:srgbClr val="000000"/>
                </a:solidFill>
                <a:cs typeface="Arial" panose="020B0604020202020204" pitchFamily="34" charset="0"/>
              </a:rPr>
              <a:t>Props</a:t>
            </a:r>
          </a:p>
          <a:p>
            <a:pPr marL="255651" lvl="0" indent="-255651">
              <a:spcAft>
                <a:spcPct val="0"/>
              </a:spcAft>
              <a:buSzPts val="2400"/>
              <a:tabLst/>
            </a:pPr>
            <a:r>
              <a:rPr lang="en-US" altLang="en-US" dirty="0">
                <a:solidFill>
                  <a:srgbClr val="000000"/>
                </a:solidFill>
                <a:cs typeface="Arial" panose="020B0604020202020204" pitchFamily="34" charset="0"/>
              </a:rPr>
              <a:t>External information sources</a:t>
            </a:r>
          </a:p>
          <a:p>
            <a:pPr marL="255651" lvl="0" indent="-255651">
              <a:spcAft>
                <a:spcPct val="0"/>
              </a:spcAft>
              <a:buSzPts val="2400"/>
              <a:tabLst/>
            </a:pPr>
            <a:r>
              <a:rPr lang="en-US" altLang="en-US" dirty="0">
                <a:solidFill>
                  <a:srgbClr val="000000"/>
                </a:solidFill>
                <a:cs typeface="Arial" panose="020B0604020202020204" pitchFamily="34" charset="0"/>
              </a:rPr>
              <a:t>Office lighting and color</a:t>
            </a:r>
          </a:p>
          <a:p>
            <a:pPr marL="255651" lvl="0" indent="-255651">
              <a:spcAft>
                <a:spcPct val="0"/>
              </a:spcAft>
              <a:buSzPts val="2400"/>
              <a:tabLst/>
            </a:pPr>
            <a:r>
              <a:rPr lang="en-US" altLang="en-US" dirty="0">
                <a:solidFill>
                  <a:srgbClr val="000000"/>
                </a:solidFill>
                <a:cs typeface="Arial" panose="020B0604020202020204" pitchFamily="34" charset="0"/>
              </a:rPr>
              <a:t>Clothing worn by decision makers</a:t>
            </a:r>
          </a:p>
        </p:txBody>
      </p:sp>
    </p:spTree>
    <p:extLst>
      <p:ext uri="{BB962C8B-B14F-4D97-AF65-F5344CB8AC3E}">
        <p14:creationId xmlns:p14="http://schemas.microsoft.com/office/powerpoint/2010/main" val="1317392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8B80-BB99-446E-A2D3-A16835739404}"/>
              </a:ext>
            </a:extLst>
          </p:cNvPr>
          <p:cNvSpPr>
            <a:spLocks noGrp="1"/>
          </p:cNvSpPr>
          <p:nvPr>
            <p:ph type="title"/>
          </p:nvPr>
        </p:nvSpPr>
        <p:spPr/>
        <p:txBody>
          <a:bodyPr/>
          <a:lstStyle/>
          <a:p>
            <a:r>
              <a:rPr lang="en-US" sz="3200" dirty="0" smtClean="0">
                <a:sym typeface="Arial"/>
              </a:rPr>
              <a:t>Figure 5.15 Seven Concrete Observable Elements of STROBE</a:t>
            </a:r>
            <a:endParaRPr lang="en-US" sz="3200" dirty="0"/>
          </a:p>
        </p:txBody>
      </p:sp>
      <p:graphicFrame>
        <p:nvGraphicFramePr>
          <p:cNvPr id="4" name="Table 3">
            <a:extLst>
              <a:ext uri="{FF2B5EF4-FFF2-40B4-BE49-F238E27FC236}">
                <a16:creationId xmlns:a16="http://schemas.microsoft.com/office/drawing/2014/main" id="{D9CF692E-F8D1-474B-AFF8-74D06039368D}"/>
              </a:ext>
            </a:extLst>
          </p:cNvPr>
          <p:cNvGraphicFramePr>
            <a:graphicFrameLocks noGrp="1"/>
          </p:cNvGraphicFramePr>
          <p:nvPr>
            <p:extLst>
              <p:ext uri="{D42A27DB-BD31-4B8C-83A1-F6EECF244321}">
                <p14:modId xmlns:p14="http://schemas.microsoft.com/office/powerpoint/2010/main" val="3710638826"/>
              </p:ext>
            </p:extLst>
          </p:nvPr>
        </p:nvGraphicFramePr>
        <p:xfrm>
          <a:off x="522101" y="1729292"/>
          <a:ext cx="8326064" cy="4389120"/>
        </p:xfrm>
        <a:graphic>
          <a:graphicData uri="http://schemas.openxmlformats.org/drawingml/2006/table">
            <a:tbl>
              <a:tblPr firstRow="1" bandRow="1">
                <a:tableStyleId>{5940675A-B579-460E-94D1-54222C63F5DA}</a:tableStyleId>
              </a:tblPr>
              <a:tblGrid>
                <a:gridCol w="2463146">
                  <a:extLst>
                    <a:ext uri="{9D8B030D-6E8A-4147-A177-3AD203B41FA5}">
                      <a16:colId xmlns:a16="http://schemas.microsoft.com/office/drawing/2014/main" val="3630257741"/>
                    </a:ext>
                  </a:extLst>
                </a:gridCol>
                <a:gridCol w="5862918">
                  <a:extLst>
                    <a:ext uri="{9D8B030D-6E8A-4147-A177-3AD203B41FA5}">
                      <a16:colId xmlns:a16="http://schemas.microsoft.com/office/drawing/2014/main" val="1313738123"/>
                    </a:ext>
                  </a:extLst>
                </a:gridCol>
              </a:tblGrid>
              <a:tr h="282644">
                <a:tc>
                  <a:txBody>
                    <a:bodyPr/>
                    <a:lstStyle/>
                    <a:p>
                      <a:r>
                        <a:rPr lang="en-US" sz="1600" b="1" u="none" strike="noStrike" cap="none" baseline="0" dirty="0">
                          <a:sym typeface="Arial"/>
                        </a:rPr>
                        <a:t>Observable Element</a:t>
                      </a:r>
                      <a:endParaRPr lang="en-US" sz="1600" b="1" dirty="0">
                        <a:solidFill>
                          <a:schemeClr val="tx1"/>
                        </a:solidFill>
                        <a:latin typeface="+mn-lt"/>
                      </a:endParaRPr>
                    </a:p>
                  </a:txBody>
                  <a:tcPr/>
                </a:tc>
                <a:tc>
                  <a:txBody>
                    <a:bodyPr/>
                    <a:lstStyle/>
                    <a:p>
                      <a:r>
                        <a:rPr lang="en-US" sz="1600" b="1" u="none" strike="noStrike" cap="none" baseline="0" dirty="0">
                          <a:sym typeface="Arial"/>
                        </a:rPr>
                        <a:t>Questions an Analyst Might Investigate</a:t>
                      </a:r>
                      <a:endParaRPr lang="en-US" sz="1600" b="1" dirty="0">
                        <a:solidFill>
                          <a:schemeClr val="tx1"/>
                        </a:solidFill>
                        <a:latin typeface="+mn-lt"/>
                      </a:endParaRPr>
                    </a:p>
                  </a:txBody>
                  <a:tcPr/>
                </a:tc>
                <a:extLst>
                  <a:ext uri="{0D108BD9-81ED-4DB2-BD59-A6C34878D82A}">
                    <a16:rowId xmlns:a16="http://schemas.microsoft.com/office/drawing/2014/main" val="3548118475"/>
                  </a:ext>
                </a:extLst>
              </a:tr>
              <a:tr h="488203">
                <a:tc>
                  <a:txBody>
                    <a:bodyPr/>
                    <a:lstStyle/>
                    <a:p>
                      <a:r>
                        <a:rPr lang="en-US" sz="1600" u="none" strike="noStrike" cap="none" baseline="0" dirty="0">
                          <a:sym typeface="Arial"/>
                        </a:rPr>
                        <a:t>Office location</a:t>
                      </a:r>
                      <a:endParaRPr lang="en-US" sz="1600" dirty="0">
                        <a:solidFill>
                          <a:schemeClr val="tx1"/>
                        </a:solidFill>
                        <a:latin typeface="+mn-lt"/>
                      </a:endParaRPr>
                    </a:p>
                  </a:txBody>
                  <a:tcPr/>
                </a:tc>
                <a:tc>
                  <a:txBody>
                    <a:bodyPr/>
                    <a:lstStyle/>
                    <a:p>
                      <a:r>
                        <a:rPr lang="en-US" sz="1600" u="none" strike="noStrike" cap="none" baseline="0" dirty="0">
                          <a:sym typeface="Arial"/>
                        </a:rPr>
                        <a:t>Who has the corner office? Are the key decision makers dispersed over separate floors?</a:t>
                      </a:r>
                      <a:endParaRPr lang="en-US" sz="1600" dirty="0">
                        <a:solidFill>
                          <a:schemeClr val="tx1"/>
                        </a:solidFill>
                        <a:latin typeface="+mn-lt"/>
                      </a:endParaRPr>
                    </a:p>
                  </a:txBody>
                  <a:tcPr/>
                </a:tc>
                <a:extLst>
                  <a:ext uri="{0D108BD9-81ED-4DB2-BD59-A6C34878D82A}">
                    <a16:rowId xmlns:a16="http://schemas.microsoft.com/office/drawing/2014/main" val="1438355981"/>
                  </a:ext>
                </a:extLst>
              </a:tr>
              <a:tr h="488203">
                <a:tc>
                  <a:txBody>
                    <a:bodyPr/>
                    <a:lstStyle/>
                    <a:p>
                      <a:r>
                        <a:rPr lang="en-US" sz="1600" u="none" strike="noStrike" cap="none" baseline="0" dirty="0">
                          <a:sym typeface="Arial"/>
                        </a:rPr>
                        <a:t>Desk placement</a:t>
                      </a:r>
                      <a:endParaRPr lang="en-US" sz="1600" dirty="0">
                        <a:solidFill>
                          <a:schemeClr val="tx1"/>
                        </a:solidFill>
                        <a:latin typeface="+mn-lt"/>
                      </a:endParaRPr>
                    </a:p>
                  </a:txBody>
                  <a:tcPr/>
                </a:tc>
                <a:tc>
                  <a:txBody>
                    <a:bodyPr/>
                    <a:lstStyle/>
                    <a:p>
                      <a:r>
                        <a:rPr lang="en-US" sz="1600" u="none" strike="noStrike" cap="none" baseline="0" dirty="0">
                          <a:sym typeface="Arial"/>
                        </a:rPr>
                        <a:t>Does the placement of the desk encourage communication? Does the placement demonstrate power?</a:t>
                      </a:r>
                      <a:endParaRPr lang="en-US" sz="1600" dirty="0">
                        <a:solidFill>
                          <a:schemeClr val="tx1"/>
                        </a:solidFill>
                        <a:latin typeface="+mn-lt"/>
                      </a:endParaRPr>
                    </a:p>
                  </a:txBody>
                  <a:tcPr/>
                </a:tc>
                <a:extLst>
                  <a:ext uri="{0D108BD9-81ED-4DB2-BD59-A6C34878D82A}">
                    <a16:rowId xmlns:a16="http://schemas.microsoft.com/office/drawing/2014/main" val="1500363158"/>
                  </a:ext>
                </a:extLst>
              </a:tr>
              <a:tr h="488203">
                <a:tc>
                  <a:txBody>
                    <a:bodyPr/>
                    <a:lstStyle/>
                    <a:p>
                      <a:r>
                        <a:rPr lang="en-US" sz="1600" u="none" strike="noStrike" cap="none" baseline="0" dirty="0">
                          <a:sym typeface="Arial"/>
                        </a:rPr>
                        <a:t>Stationary equipment</a:t>
                      </a:r>
                      <a:endParaRPr lang="en-US" sz="1600" dirty="0">
                        <a:solidFill>
                          <a:schemeClr val="tx1"/>
                        </a:solidFill>
                        <a:latin typeface="+mn-lt"/>
                      </a:endParaRPr>
                    </a:p>
                  </a:txBody>
                  <a:tcPr/>
                </a:tc>
                <a:tc>
                  <a:txBody>
                    <a:bodyPr/>
                    <a:lstStyle/>
                    <a:p>
                      <a:r>
                        <a:rPr lang="en-US" sz="1600" u="none" strike="noStrike" cap="none" baseline="0" dirty="0">
                          <a:sym typeface="Arial"/>
                        </a:rPr>
                        <a:t>Does the decision maker prefer to gather and store information personally? Is the storage area large or small?</a:t>
                      </a:r>
                      <a:endParaRPr lang="en-US" sz="1600" dirty="0">
                        <a:solidFill>
                          <a:schemeClr val="tx1"/>
                        </a:solidFill>
                        <a:latin typeface="+mn-lt"/>
                      </a:endParaRPr>
                    </a:p>
                  </a:txBody>
                  <a:tcPr/>
                </a:tc>
                <a:extLst>
                  <a:ext uri="{0D108BD9-81ED-4DB2-BD59-A6C34878D82A}">
                    <a16:rowId xmlns:a16="http://schemas.microsoft.com/office/drawing/2014/main" val="3799424863"/>
                  </a:ext>
                </a:extLst>
              </a:tr>
              <a:tr h="488203">
                <a:tc>
                  <a:txBody>
                    <a:bodyPr/>
                    <a:lstStyle/>
                    <a:p>
                      <a:r>
                        <a:rPr lang="en-US" sz="1600" u="none" strike="noStrike" cap="none" baseline="0" dirty="0">
                          <a:sym typeface="Arial"/>
                        </a:rPr>
                        <a:t>Props</a:t>
                      </a:r>
                      <a:endParaRPr lang="en-US" sz="1600" dirty="0">
                        <a:solidFill>
                          <a:schemeClr val="tx1"/>
                        </a:solidFill>
                        <a:latin typeface="+mn-lt"/>
                      </a:endParaRPr>
                    </a:p>
                  </a:txBody>
                  <a:tcPr/>
                </a:tc>
                <a:tc>
                  <a:txBody>
                    <a:bodyPr/>
                    <a:lstStyle/>
                    <a:p>
                      <a:r>
                        <a:rPr lang="en-US" sz="1600" u="none" strike="noStrike" cap="none" baseline="0" dirty="0">
                          <a:sym typeface="Arial"/>
                        </a:rPr>
                        <a:t>Is there evidence that the decision maker uses a P C, smartphone, or tablet computer in the office</a:t>
                      </a:r>
                      <a:endParaRPr lang="en-US" sz="1600" dirty="0">
                        <a:solidFill>
                          <a:schemeClr val="tx1"/>
                        </a:solidFill>
                        <a:latin typeface="+mn-lt"/>
                      </a:endParaRPr>
                    </a:p>
                  </a:txBody>
                  <a:tcPr/>
                </a:tc>
                <a:extLst>
                  <a:ext uri="{0D108BD9-81ED-4DB2-BD59-A6C34878D82A}">
                    <a16:rowId xmlns:a16="http://schemas.microsoft.com/office/drawing/2014/main" val="1450248306"/>
                  </a:ext>
                </a:extLst>
              </a:tr>
              <a:tr h="488203">
                <a:tc>
                  <a:txBody>
                    <a:bodyPr/>
                    <a:lstStyle/>
                    <a:p>
                      <a:r>
                        <a:rPr lang="en-US" sz="1600" u="none" strike="noStrike" cap="none" baseline="0" dirty="0">
                          <a:sym typeface="Arial"/>
                        </a:rPr>
                        <a:t>External information sources</a:t>
                      </a:r>
                      <a:endParaRPr lang="en-US" sz="1600" dirty="0">
                        <a:solidFill>
                          <a:schemeClr val="tx1"/>
                        </a:solidFill>
                        <a:latin typeface="+mn-lt"/>
                      </a:endParaRPr>
                    </a:p>
                  </a:txBody>
                  <a:tcPr/>
                </a:tc>
                <a:tc>
                  <a:txBody>
                    <a:bodyPr/>
                    <a:lstStyle/>
                    <a:p>
                      <a:r>
                        <a:rPr lang="en-US" sz="1600" u="none" strike="noStrike" cap="none" baseline="0" dirty="0">
                          <a:sym typeface="Arial"/>
                        </a:rPr>
                        <a:t>Does the decision maker get much information from external sources such as trade journals or the Web?</a:t>
                      </a:r>
                      <a:endParaRPr lang="en-US" sz="1600" dirty="0">
                        <a:solidFill>
                          <a:schemeClr val="tx1"/>
                        </a:solidFill>
                        <a:latin typeface="+mn-lt"/>
                      </a:endParaRPr>
                    </a:p>
                  </a:txBody>
                  <a:tcPr/>
                </a:tc>
                <a:extLst>
                  <a:ext uri="{0D108BD9-81ED-4DB2-BD59-A6C34878D82A}">
                    <a16:rowId xmlns:a16="http://schemas.microsoft.com/office/drawing/2014/main" val="1756415192"/>
                  </a:ext>
                </a:extLst>
              </a:tr>
              <a:tr h="488203">
                <a:tc>
                  <a:txBody>
                    <a:bodyPr/>
                    <a:lstStyle/>
                    <a:p>
                      <a:r>
                        <a:rPr lang="en-US" sz="1600" u="none" strike="noStrike" cap="none" baseline="0" dirty="0">
                          <a:sym typeface="Arial"/>
                        </a:rPr>
                        <a:t>Office lighting and color</a:t>
                      </a:r>
                      <a:endParaRPr lang="en-US" sz="1600" dirty="0">
                        <a:solidFill>
                          <a:schemeClr val="tx1"/>
                        </a:solidFill>
                        <a:latin typeface="+mn-lt"/>
                      </a:endParaRPr>
                    </a:p>
                  </a:txBody>
                  <a:tcPr/>
                </a:tc>
                <a:tc>
                  <a:txBody>
                    <a:bodyPr/>
                    <a:lstStyle/>
                    <a:p>
                      <a:r>
                        <a:rPr lang="en-US" sz="1600" u="none" strike="noStrike" cap="none" baseline="0" dirty="0">
                          <a:sym typeface="Arial"/>
                        </a:rPr>
                        <a:t>Is the lighting set up to do detailed work or more appropriate for casual communication? Are the colors warm and inviting?</a:t>
                      </a:r>
                      <a:endParaRPr lang="en-US" sz="1600" dirty="0">
                        <a:solidFill>
                          <a:schemeClr val="tx1"/>
                        </a:solidFill>
                        <a:latin typeface="+mn-lt"/>
                      </a:endParaRPr>
                    </a:p>
                  </a:txBody>
                  <a:tcPr/>
                </a:tc>
                <a:extLst>
                  <a:ext uri="{0D108BD9-81ED-4DB2-BD59-A6C34878D82A}">
                    <a16:rowId xmlns:a16="http://schemas.microsoft.com/office/drawing/2014/main" val="2842428269"/>
                  </a:ext>
                </a:extLst>
              </a:tr>
              <a:tr h="566269">
                <a:tc>
                  <a:txBody>
                    <a:bodyPr/>
                    <a:lstStyle/>
                    <a:p>
                      <a:r>
                        <a:rPr lang="en-US" sz="1600" u="none" strike="noStrike" cap="none" baseline="0" dirty="0">
                          <a:sym typeface="Arial"/>
                        </a:rPr>
                        <a:t>Clothing worn by decision makers</a:t>
                      </a:r>
                      <a:endParaRPr lang="en-US" sz="1600" dirty="0">
                        <a:solidFill>
                          <a:schemeClr val="tx1"/>
                        </a:solidFill>
                        <a:latin typeface="+mn-lt"/>
                      </a:endParaRPr>
                    </a:p>
                  </a:txBody>
                  <a:tcPr/>
                </a:tc>
                <a:tc>
                  <a:txBody>
                    <a:bodyPr/>
                    <a:lstStyle/>
                    <a:p>
                      <a:r>
                        <a:rPr lang="en-US" sz="1600" u="none" strike="noStrike" cap="none" baseline="0" dirty="0">
                          <a:sym typeface="Arial"/>
                        </a:rPr>
                        <a:t>Does the decision maker show authority by wearing conservative suits? Are employees required to wear uniforms?</a:t>
                      </a:r>
                      <a:endParaRPr lang="en-US" sz="1600" dirty="0">
                        <a:solidFill>
                          <a:schemeClr val="tx1"/>
                        </a:solidFill>
                        <a:latin typeface="+mn-lt"/>
                      </a:endParaRPr>
                    </a:p>
                  </a:txBody>
                  <a:tcPr/>
                </a:tc>
                <a:extLst>
                  <a:ext uri="{0D108BD9-81ED-4DB2-BD59-A6C34878D82A}">
                    <a16:rowId xmlns:a16="http://schemas.microsoft.com/office/drawing/2014/main" val="2622184757"/>
                  </a:ext>
                </a:extLst>
              </a:tr>
            </a:tbl>
          </a:graphicData>
        </a:graphic>
      </p:graphicFrame>
    </p:spTree>
    <p:extLst>
      <p:ext uri="{BB962C8B-B14F-4D97-AF65-F5344CB8AC3E}">
        <p14:creationId xmlns:p14="http://schemas.microsoft.com/office/powerpoint/2010/main" val="2127256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85207-F8E5-4C40-9D9A-23CA88C968A9}"/>
              </a:ext>
            </a:extLst>
          </p:cNvPr>
          <p:cNvSpPr>
            <a:spLocks noGrp="1"/>
          </p:cNvSpPr>
          <p:nvPr>
            <p:ph type="title"/>
          </p:nvPr>
        </p:nvSpPr>
        <p:spPr/>
        <p:txBody>
          <a:bodyPr/>
          <a:lstStyle/>
          <a:p>
            <a:r>
              <a:rPr lang="en-US" altLang="en-US" sz="3200" dirty="0" smtClean="0">
                <a:sym typeface="Arial"/>
              </a:rPr>
              <a:t>Figure 5.16 S</a:t>
            </a:r>
            <a:r>
              <a:rPr lang="en-US" altLang="en-US" sz="100" dirty="0" smtClean="0">
                <a:sym typeface="Arial"/>
              </a:rPr>
              <a:t> </a:t>
            </a:r>
            <a:r>
              <a:rPr lang="en-US" altLang="en-US" sz="3200" dirty="0" smtClean="0">
                <a:sym typeface="Arial"/>
              </a:rPr>
              <a:t>T</a:t>
            </a:r>
            <a:r>
              <a:rPr lang="en-US" altLang="en-US" sz="100" dirty="0" smtClean="0">
                <a:sym typeface="Arial"/>
              </a:rPr>
              <a:t> </a:t>
            </a:r>
            <a:r>
              <a:rPr lang="en-US" altLang="en-US" sz="3200" dirty="0" smtClean="0">
                <a:sym typeface="Arial"/>
              </a:rPr>
              <a:t>R</a:t>
            </a:r>
            <a:r>
              <a:rPr lang="en-US" altLang="en-US" sz="100" dirty="0" smtClean="0">
                <a:sym typeface="Arial"/>
              </a:rPr>
              <a:t> </a:t>
            </a:r>
            <a:r>
              <a:rPr lang="en-US" altLang="en-US" sz="3200" dirty="0" smtClean="0">
                <a:sym typeface="Arial"/>
              </a:rPr>
              <a:t>O</a:t>
            </a:r>
            <a:r>
              <a:rPr lang="en-US" altLang="en-US" sz="100" dirty="0" smtClean="0">
                <a:sym typeface="Arial"/>
              </a:rPr>
              <a:t> </a:t>
            </a:r>
            <a:r>
              <a:rPr lang="en-US" altLang="en-US" sz="3200" dirty="0" smtClean="0">
                <a:sym typeface="Arial"/>
              </a:rPr>
              <a:t>B</a:t>
            </a:r>
            <a:r>
              <a:rPr lang="en-US" altLang="en-US" sz="100" dirty="0" smtClean="0">
                <a:sym typeface="Arial"/>
              </a:rPr>
              <a:t> </a:t>
            </a:r>
            <a:r>
              <a:rPr lang="en-US" altLang="en-US" sz="3200" dirty="0" smtClean="0">
                <a:sym typeface="Arial"/>
              </a:rPr>
              <a:t>E and Decision-Maker Characteristics</a:t>
            </a:r>
            <a:endParaRPr lang="en-US" sz="3200" dirty="0"/>
          </a:p>
        </p:txBody>
      </p:sp>
      <p:graphicFrame>
        <p:nvGraphicFramePr>
          <p:cNvPr id="4" name="Table 3">
            <a:extLst>
              <a:ext uri="{FF2B5EF4-FFF2-40B4-BE49-F238E27FC236}">
                <a16:creationId xmlns:a16="http://schemas.microsoft.com/office/drawing/2014/main" id="{8752A3FD-F256-4069-9881-E9018C583A5E}"/>
              </a:ext>
            </a:extLst>
          </p:cNvPr>
          <p:cNvGraphicFramePr>
            <a:graphicFrameLocks noGrp="1"/>
          </p:cNvGraphicFramePr>
          <p:nvPr>
            <p:extLst>
              <p:ext uri="{D42A27DB-BD31-4B8C-83A1-F6EECF244321}">
                <p14:modId xmlns:p14="http://schemas.microsoft.com/office/powerpoint/2010/main" val="4242943057"/>
              </p:ext>
            </p:extLst>
          </p:nvPr>
        </p:nvGraphicFramePr>
        <p:xfrm>
          <a:off x="742122" y="1768058"/>
          <a:ext cx="7593496" cy="3811944"/>
        </p:xfrm>
        <a:graphic>
          <a:graphicData uri="http://schemas.openxmlformats.org/drawingml/2006/table">
            <a:tbl>
              <a:tblPr firstRow="1" bandRow="1">
                <a:tableStyleId>{5940675A-B579-460E-94D1-54222C63F5DA}</a:tableStyleId>
              </a:tblPr>
              <a:tblGrid>
                <a:gridCol w="3796748">
                  <a:extLst>
                    <a:ext uri="{9D8B030D-6E8A-4147-A177-3AD203B41FA5}">
                      <a16:colId xmlns:a16="http://schemas.microsoft.com/office/drawing/2014/main" val="3465367820"/>
                    </a:ext>
                  </a:extLst>
                </a:gridCol>
                <a:gridCol w="3796748">
                  <a:extLst>
                    <a:ext uri="{9D8B030D-6E8A-4147-A177-3AD203B41FA5}">
                      <a16:colId xmlns:a16="http://schemas.microsoft.com/office/drawing/2014/main" val="1806627013"/>
                    </a:ext>
                  </a:extLst>
                </a:gridCol>
              </a:tblGrid>
              <a:tr h="736447">
                <a:tc>
                  <a:txBody>
                    <a:bodyPr/>
                    <a:lstStyle/>
                    <a:p>
                      <a:r>
                        <a:rPr lang="en-US" sz="1600" b="1" u="none" strike="noStrike" cap="none" baseline="0" dirty="0">
                          <a:latin typeface="+mn-lt"/>
                          <a:cs typeface="Arial" panose="020B0604020202020204" pitchFamily="34" charset="0"/>
                          <a:sym typeface="Arial"/>
                        </a:rPr>
                        <a:t>Characteristics of Decision Makers</a:t>
                      </a:r>
                      <a:endParaRPr lang="en-US" sz="1600" b="1" dirty="0">
                        <a:latin typeface="+mn-lt"/>
                        <a:cs typeface="Arial" panose="020B0604020202020204" pitchFamily="34" charset="0"/>
                      </a:endParaRPr>
                    </a:p>
                  </a:txBody>
                  <a:tcPr/>
                </a:tc>
                <a:tc>
                  <a:txBody>
                    <a:bodyPr/>
                    <a:lstStyle/>
                    <a:p>
                      <a:r>
                        <a:rPr lang="en-US" sz="1600" b="1" u="none" strike="noStrike" cap="none" baseline="0" dirty="0">
                          <a:latin typeface="+mn-lt"/>
                          <a:cs typeface="Arial" panose="020B0604020202020204" pitchFamily="34" charset="0"/>
                          <a:sym typeface="Arial"/>
                        </a:rPr>
                        <a:t>Corresponding Elements Characteristics of Decision Makers in the Physical Environment</a:t>
                      </a:r>
                      <a:endParaRPr lang="en-US" sz="1600" b="1" dirty="0">
                        <a:latin typeface="+mn-lt"/>
                        <a:cs typeface="Arial" panose="020B0604020202020204" pitchFamily="34" charset="0"/>
                      </a:endParaRPr>
                    </a:p>
                  </a:txBody>
                  <a:tcPr/>
                </a:tc>
                <a:extLst>
                  <a:ext uri="{0D108BD9-81ED-4DB2-BD59-A6C34878D82A}">
                    <a16:rowId xmlns:a16="http://schemas.microsoft.com/office/drawing/2014/main" val="2101134635"/>
                  </a:ext>
                </a:extLst>
              </a:tr>
              <a:tr h="401644">
                <a:tc>
                  <a:txBody>
                    <a:bodyPr/>
                    <a:lstStyle/>
                    <a:p>
                      <a:r>
                        <a:rPr lang="en-US" sz="1600" u="none" strike="noStrike" cap="none" baseline="0" dirty="0">
                          <a:latin typeface="+mn-lt"/>
                          <a:cs typeface="Arial" panose="020B0604020202020204" pitchFamily="34" charset="0"/>
                          <a:sym typeface="Arial"/>
                        </a:rPr>
                        <a:t>Gathers information informally</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Warm, incandescent lighting and colors</a:t>
                      </a:r>
                      <a:endParaRPr lang="en-US" sz="1600" dirty="0">
                        <a:latin typeface="+mn-lt"/>
                        <a:cs typeface="Arial" panose="020B0604020202020204" pitchFamily="34" charset="0"/>
                      </a:endParaRPr>
                    </a:p>
                  </a:txBody>
                  <a:tcPr/>
                </a:tc>
                <a:extLst>
                  <a:ext uri="{0D108BD9-81ED-4DB2-BD59-A6C34878D82A}">
                    <a16:rowId xmlns:a16="http://schemas.microsoft.com/office/drawing/2014/main" val="1676555916"/>
                  </a:ext>
                </a:extLst>
              </a:tr>
              <a:tr h="401644">
                <a:tc>
                  <a:txBody>
                    <a:bodyPr/>
                    <a:lstStyle/>
                    <a:p>
                      <a:r>
                        <a:rPr lang="en-US" sz="1600" u="none" strike="noStrike" cap="none" baseline="0" dirty="0">
                          <a:latin typeface="+mn-lt"/>
                          <a:cs typeface="Arial" panose="020B0604020202020204" pitchFamily="34" charset="0"/>
                          <a:sym typeface="Arial"/>
                        </a:rPr>
                        <a:t>Seeks extraorganization information</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Trade journals present in office</a:t>
                      </a:r>
                      <a:endParaRPr lang="en-US" sz="1600" dirty="0">
                        <a:latin typeface="+mn-lt"/>
                        <a:cs typeface="Arial" panose="020B0604020202020204" pitchFamily="34" charset="0"/>
                      </a:endParaRPr>
                    </a:p>
                  </a:txBody>
                  <a:tcPr/>
                </a:tc>
                <a:extLst>
                  <a:ext uri="{0D108BD9-81ED-4DB2-BD59-A6C34878D82A}">
                    <a16:rowId xmlns:a16="http://schemas.microsoft.com/office/drawing/2014/main" val="2772201293"/>
                  </a:ext>
                </a:extLst>
              </a:tr>
              <a:tr h="518240">
                <a:tc>
                  <a:txBody>
                    <a:bodyPr/>
                    <a:lstStyle/>
                    <a:p>
                      <a:r>
                        <a:rPr lang="en-US" sz="1600" u="none" strike="noStrike" cap="none" baseline="0" dirty="0">
                          <a:latin typeface="+mn-lt"/>
                          <a:cs typeface="Arial" panose="020B0604020202020204" pitchFamily="34" charset="0"/>
                          <a:sym typeface="Arial"/>
                        </a:rPr>
                        <a:t>Processes data personally</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P</a:t>
                      </a:r>
                      <a:r>
                        <a:rPr lang="en-US" sz="100" u="none" strike="noStrike" cap="none" baseline="0" dirty="0">
                          <a:latin typeface="+mn-lt"/>
                          <a:cs typeface="Arial" panose="020B0604020202020204" pitchFamily="34" charset="0"/>
                          <a:sym typeface="Arial"/>
                        </a:rPr>
                        <a:t> </a:t>
                      </a:r>
                      <a:r>
                        <a:rPr lang="en-US" sz="1600" u="none" strike="noStrike" cap="none" baseline="0" dirty="0">
                          <a:latin typeface="+mn-lt"/>
                          <a:cs typeface="Arial" panose="020B0604020202020204" pitchFamily="34" charset="0"/>
                          <a:sym typeface="Arial"/>
                        </a:rPr>
                        <a:t>Cs, or tablet computers present in office</a:t>
                      </a:r>
                      <a:endParaRPr lang="en-US" sz="1600" dirty="0">
                        <a:latin typeface="+mn-lt"/>
                        <a:cs typeface="Arial" panose="020B0604020202020204" pitchFamily="34" charset="0"/>
                      </a:endParaRPr>
                    </a:p>
                  </a:txBody>
                  <a:tcPr/>
                </a:tc>
                <a:extLst>
                  <a:ext uri="{0D108BD9-81ED-4DB2-BD59-A6C34878D82A}">
                    <a16:rowId xmlns:a16="http://schemas.microsoft.com/office/drawing/2014/main" val="4147569196"/>
                  </a:ext>
                </a:extLst>
              </a:tr>
              <a:tr h="401644">
                <a:tc>
                  <a:txBody>
                    <a:bodyPr/>
                    <a:lstStyle/>
                    <a:p>
                      <a:r>
                        <a:rPr lang="en-US" sz="1600" u="none" strike="noStrike" cap="none" baseline="0" dirty="0">
                          <a:latin typeface="+mn-lt"/>
                          <a:cs typeface="Arial" panose="020B0604020202020204" pitchFamily="34" charset="0"/>
                          <a:sym typeface="Arial"/>
                        </a:rPr>
                        <a:t>Stores information personally</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Equipment/files present in office</a:t>
                      </a:r>
                      <a:endParaRPr lang="en-US" sz="1600" dirty="0">
                        <a:latin typeface="+mn-lt"/>
                        <a:cs typeface="Arial" panose="020B0604020202020204" pitchFamily="34" charset="0"/>
                      </a:endParaRPr>
                    </a:p>
                  </a:txBody>
                  <a:tcPr/>
                </a:tc>
                <a:extLst>
                  <a:ext uri="{0D108BD9-81ED-4DB2-BD59-A6C34878D82A}">
                    <a16:rowId xmlns:a16="http://schemas.microsoft.com/office/drawing/2014/main" val="1819677561"/>
                  </a:ext>
                </a:extLst>
              </a:tr>
              <a:tr h="401644">
                <a:tc>
                  <a:txBody>
                    <a:bodyPr/>
                    <a:lstStyle/>
                    <a:p>
                      <a:r>
                        <a:rPr lang="en-US" sz="1600" u="none" strike="noStrike" cap="none" baseline="0" dirty="0">
                          <a:latin typeface="+mn-lt"/>
                          <a:cs typeface="Arial" panose="020B0604020202020204" pitchFamily="34" charset="0"/>
                          <a:sym typeface="Arial"/>
                        </a:rPr>
                        <a:t>Exercises power in decision making</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Desk placed for power</a:t>
                      </a:r>
                      <a:endParaRPr lang="en-US" sz="1600" dirty="0">
                        <a:latin typeface="+mn-lt"/>
                        <a:cs typeface="Arial" panose="020B0604020202020204" pitchFamily="34" charset="0"/>
                      </a:endParaRPr>
                    </a:p>
                  </a:txBody>
                  <a:tcPr/>
                </a:tc>
                <a:extLst>
                  <a:ext uri="{0D108BD9-81ED-4DB2-BD59-A6C34878D82A}">
                    <a16:rowId xmlns:a16="http://schemas.microsoft.com/office/drawing/2014/main" val="3194701241"/>
                  </a:ext>
                </a:extLst>
              </a:tr>
              <a:tr h="401644">
                <a:tc>
                  <a:txBody>
                    <a:bodyPr/>
                    <a:lstStyle/>
                    <a:p>
                      <a:r>
                        <a:rPr lang="en-US" sz="1600" u="none" strike="noStrike" cap="none" baseline="0" dirty="0">
                          <a:latin typeface="+mn-lt"/>
                          <a:cs typeface="Arial" panose="020B0604020202020204" pitchFamily="34" charset="0"/>
                          <a:sym typeface="Arial"/>
                        </a:rPr>
                        <a:t>Exhibits credibility in decision making</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Wears authoritative clothing</a:t>
                      </a:r>
                      <a:endParaRPr lang="en-US" sz="1600" dirty="0">
                        <a:latin typeface="+mn-lt"/>
                        <a:cs typeface="Arial" panose="020B0604020202020204" pitchFamily="34" charset="0"/>
                      </a:endParaRPr>
                    </a:p>
                  </a:txBody>
                  <a:tcPr/>
                </a:tc>
                <a:extLst>
                  <a:ext uri="{0D108BD9-81ED-4DB2-BD59-A6C34878D82A}">
                    <a16:rowId xmlns:a16="http://schemas.microsoft.com/office/drawing/2014/main" val="2724831380"/>
                  </a:ext>
                </a:extLst>
              </a:tr>
              <a:tr h="401644">
                <a:tc>
                  <a:txBody>
                    <a:bodyPr/>
                    <a:lstStyle/>
                    <a:p>
                      <a:r>
                        <a:rPr lang="en-US" sz="1600" u="none" strike="noStrike" cap="none" baseline="0" dirty="0">
                          <a:latin typeface="+mn-lt"/>
                          <a:cs typeface="Arial" panose="020B0604020202020204" pitchFamily="34" charset="0"/>
                          <a:sym typeface="Arial"/>
                        </a:rPr>
                        <a:t>Shares information with others</a:t>
                      </a:r>
                      <a:endParaRPr lang="en-US" sz="1600" dirty="0">
                        <a:latin typeface="+mn-lt"/>
                        <a:cs typeface="Arial" panose="020B0604020202020204" pitchFamily="34" charset="0"/>
                      </a:endParaRPr>
                    </a:p>
                  </a:txBody>
                  <a:tcPr/>
                </a:tc>
                <a:tc>
                  <a:txBody>
                    <a:bodyPr/>
                    <a:lstStyle/>
                    <a:p>
                      <a:r>
                        <a:rPr lang="en-US" sz="1600" u="none" strike="noStrike" cap="none" baseline="0" dirty="0">
                          <a:latin typeface="+mn-lt"/>
                          <a:cs typeface="Arial" panose="020B0604020202020204" pitchFamily="34" charset="0"/>
                          <a:sym typeface="Arial"/>
                        </a:rPr>
                        <a:t>Office easily accessible</a:t>
                      </a:r>
                      <a:endParaRPr lang="en-US" sz="1600" dirty="0">
                        <a:latin typeface="+mn-lt"/>
                        <a:cs typeface="Arial" panose="020B0604020202020204" pitchFamily="34" charset="0"/>
                      </a:endParaRPr>
                    </a:p>
                  </a:txBody>
                  <a:tcPr/>
                </a:tc>
                <a:extLst>
                  <a:ext uri="{0D108BD9-81ED-4DB2-BD59-A6C34878D82A}">
                    <a16:rowId xmlns:a16="http://schemas.microsoft.com/office/drawing/2014/main" val="1497124753"/>
                  </a:ext>
                </a:extLst>
              </a:tr>
            </a:tbl>
          </a:graphicData>
        </a:graphic>
      </p:graphicFrame>
    </p:spTree>
    <p:extLst>
      <p:ext uri="{BB962C8B-B14F-4D97-AF65-F5344CB8AC3E}">
        <p14:creationId xmlns:p14="http://schemas.microsoft.com/office/powerpoint/2010/main" val="3363859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AC9B-ED38-4A75-A46C-A43DFE995D64}"/>
              </a:ext>
            </a:extLst>
          </p:cNvPr>
          <p:cNvSpPr>
            <a:spLocks noGrp="1"/>
          </p:cNvSpPr>
          <p:nvPr>
            <p:ph type="title"/>
          </p:nvPr>
        </p:nvSpPr>
        <p:spPr/>
        <p:txBody>
          <a:bodyPr/>
          <a:lstStyle/>
          <a:p>
            <a:r>
              <a:rPr lang="en-US" altLang="en-US" dirty="0" smtClean="0">
                <a:sym typeface="Arial"/>
              </a:rPr>
              <a:t>Applying S</a:t>
            </a:r>
            <a:r>
              <a:rPr lang="en-US" altLang="en-US" sz="100" dirty="0" smtClean="0">
                <a:sym typeface="Arial"/>
              </a:rPr>
              <a:t> </a:t>
            </a:r>
            <a:r>
              <a:rPr lang="en-US" altLang="en-US" dirty="0" smtClean="0">
                <a:sym typeface="Arial"/>
              </a:rPr>
              <a:t>T</a:t>
            </a:r>
            <a:r>
              <a:rPr lang="en-US" altLang="en-US" sz="100" dirty="0" smtClean="0">
                <a:sym typeface="Arial"/>
              </a:rPr>
              <a:t> </a:t>
            </a:r>
            <a:r>
              <a:rPr lang="en-US" altLang="en-US" dirty="0" smtClean="0">
                <a:sym typeface="Arial"/>
              </a:rPr>
              <a:t>R</a:t>
            </a:r>
            <a:r>
              <a:rPr lang="en-US" altLang="en-US" sz="100" dirty="0" smtClean="0">
                <a:sym typeface="Arial"/>
              </a:rPr>
              <a:t> </a:t>
            </a:r>
            <a:r>
              <a:rPr lang="en-US" altLang="en-US" dirty="0" smtClean="0">
                <a:sym typeface="Arial"/>
              </a:rPr>
              <a:t>O</a:t>
            </a:r>
            <a:r>
              <a:rPr lang="en-US" altLang="en-US" sz="100" dirty="0" smtClean="0">
                <a:sym typeface="Arial"/>
              </a:rPr>
              <a:t> </a:t>
            </a:r>
            <a:r>
              <a:rPr lang="en-US" altLang="en-US" dirty="0" smtClean="0">
                <a:sym typeface="Arial"/>
              </a:rPr>
              <a:t>B</a:t>
            </a:r>
            <a:r>
              <a:rPr lang="en-US" altLang="en-US" sz="100" dirty="0" smtClean="0">
                <a:sym typeface="Arial"/>
              </a:rPr>
              <a:t> </a:t>
            </a:r>
            <a:r>
              <a:rPr lang="en-US" altLang="en-US" dirty="0" smtClean="0">
                <a:sym typeface="Arial"/>
              </a:rPr>
              <a:t>E</a:t>
            </a:r>
            <a:endParaRPr lang="en-US" dirty="0"/>
          </a:p>
        </p:txBody>
      </p:sp>
      <p:sp>
        <p:nvSpPr>
          <p:cNvPr id="3" name="Content Placeholder 2">
            <a:extLst>
              <a:ext uri="{FF2B5EF4-FFF2-40B4-BE49-F238E27FC236}">
                <a16:creationId xmlns:a16="http://schemas.microsoft.com/office/drawing/2014/main" id="{F8981502-0EFE-4AA3-A78B-5745CA189727}"/>
              </a:ext>
            </a:extLst>
          </p:cNvPr>
          <p:cNvSpPr>
            <a:spLocks noGrp="1"/>
          </p:cNvSpPr>
          <p:nvPr>
            <p:ph sz="quarter" idx="13"/>
          </p:nvPr>
        </p:nvSpPr>
        <p:spPr>
          <a:xfrm>
            <a:off x="457200" y="1556327"/>
            <a:ext cx="8229600" cy="4314386"/>
          </a:xfrm>
        </p:spPr>
        <p:txBody>
          <a:bodyPr/>
          <a:lstStyle/>
          <a:p>
            <a:pPr marL="255651" lvl="0" indent="-255651">
              <a:spcAft>
                <a:spcPct val="0"/>
              </a:spcAft>
              <a:buSzPts val="2400"/>
              <a:tabLst/>
            </a:pPr>
            <a:r>
              <a:rPr lang="en-US" altLang="en-US" dirty="0" smtClean="0">
                <a:solidFill>
                  <a:srgbClr val="000000"/>
                </a:solidFill>
                <a:cs typeface="Arial" panose="020B0604020202020204" pitchFamily="34" charset="0"/>
              </a:rPr>
              <a:t>The five symbols used to evaluate how observation of the elements of 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T</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R</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B</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E compared with interview results are:</a:t>
            </a:r>
          </a:p>
          <a:p>
            <a:pPr marL="741553" lvl="1" indent="-284353">
              <a:spcAft>
                <a:spcPct val="0"/>
              </a:spcAft>
              <a:buSzPts val="2400"/>
            </a:pPr>
            <a:r>
              <a:rPr lang="en-US" altLang="en-US" dirty="0" smtClean="0">
                <a:solidFill>
                  <a:srgbClr val="000000"/>
                </a:solidFill>
                <a:cs typeface="Arial" panose="020B0604020202020204" pitchFamily="34" charset="0"/>
              </a:rPr>
              <a:t>A checkmark means the narrative is confirmed</a:t>
            </a:r>
          </a:p>
          <a:p>
            <a:pPr marL="741553" lvl="1" indent="-284353">
              <a:spcAft>
                <a:spcPct val="0"/>
              </a:spcAft>
              <a:buSzPts val="2400"/>
            </a:pPr>
            <a:r>
              <a:rPr lang="en-US" altLang="en-US" dirty="0" smtClean="0">
                <a:solidFill>
                  <a:srgbClr val="000000"/>
                </a:solidFill>
                <a:cs typeface="Arial" panose="020B0604020202020204" pitchFamily="34" charset="0"/>
              </a:rPr>
              <a:t>An “X” means the narrative is reversed</a:t>
            </a:r>
          </a:p>
          <a:p>
            <a:pPr marL="741553" lvl="1" indent="-284353">
              <a:spcAft>
                <a:spcPct val="0"/>
              </a:spcAft>
              <a:buSzPts val="2400"/>
            </a:pPr>
            <a:r>
              <a:rPr lang="en-US" altLang="en-US" dirty="0" smtClean="0">
                <a:solidFill>
                  <a:srgbClr val="000000"/>
                </a:solidFill>
                <a:cs typeface="Arial" panose="020B0604020202020204" pitchFamily="34" charset="0"/>
              </a:rPr>
              <a:t>An oval or eye-shaped symbol serves as a cue to look further</a:t>
            </a:r>
          </a:p>
          <a:p>
            <a:pPr marL="741553" lvl="1" indent="-284353">
              <a:spcAft>
                <a:spcPct val="0"/>
              </a:spcAft>
              <a:buSzPts val="2400"/>
            </a:pPr>
            <a:r>
              <a:rPr lang="en-US" altLang="en-US" dirty="0" smtClean="0">
                <a:solidFill>
                  <a:srgbClr val="000000"/>
                </a:solidFill>
                <a:cs typeface="Arial" panose="020B0604020202020204" pitchFamily="34" charset="0"/>
              </a:rPr>
              <a:t>A square means observation modifies the narrative</a:t>
            </a:r>
          </a:p>
          <a:p>
            <a:pPr marL="741553" lvl="1" indent="-284353">
              <a:spcAft>
                <a:spcPct val="0"/>
              </a:spcAft>
              <a:buSzPts val="2400"/>
            </a:pPr>
            <a:r>
              <a:rPr lang="en-US" altLang="en-US" dirty="0" smtClean="0">
                <a:solidFill>
                  <a:srgbClr val="000000"/>
                </a:solidFill>
                <a:cs typeface="Arial" panose="020B0604020202020204" pitchFamily="34" charset="0"/>
              </a:rPr>
              <a:t>A circle means narrative is supplemented by observation</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18444261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FD42F-CEC6-4821-BC11-A91BA6C1BEFE}"/>
              </a:ext>
            </a:extLst>
          </p:cNvPr>
          <p:cNvSpPr>
            <a:spLocks noGrp="1"/>
          </p:cNvSpPr>
          <p:nvPr>
            <p:ph type="title"/>
          </p:nvPr>
        </p:nvSpPr>
        <p:spPr/>
        <p:txBody>
          <a:bodyPr/>
          <a:lstStyle/>
          <a:p>
            <a:r>
              <a:rPr lang="en-US" altLang="en-US" sz="3000" dirty="0">
                <a:sym typeface="Arial"/>
              </a:rPr>
              <a:t>Figure 5.17 An Anecdotal List with Symbols For Use in Applying S</a:t>
            </a:r>
            <a:r>
              <a:rPr lang="en-US" altLang="en-US" sz="100" dirty="0">
                <a:sym typeface="Arial"/>
              </a:rPr>
              <a:t> </a:t>
            </a:r>
            <a:r>
              <a:rPr lang="en-US" altLang="en-US" sz="3000" dirty="0">
                <a:sym typeface="Arial"/>
              </a:rPr>
              <a:t>T</a:t>
            </a:r>
            <a:r>
              <a:rPr lang="en-US" altLang="en-US" sz="100" dirty="0">
                <a:sym typeface="Arial"/>
              </a:rPr>
              <a:t> </a:t>
            </a:r>
            <a:r>
              <a:rPr lang="en-US" altLang="en-US" sz="3000" dirty="0">
                <a:sym typeface="Arial"/>
              </a:rPr>
              <a:t>R</a:t>
            </a:r>
            <a:r>
              <a:rPr lang="en-US" altLang="en-US" sz="100" dirty="0">
                <a:sym typeface="Arial"/>
              </a:rPr>
              <a:t> </a:t>
            </a:r>
            <a:r>
              <a:rPr lang="en-US" altLang="en-US" sz="3000" dirty="0">
                <a:sym typeface="Arial"/>
              </a:rPr>
              <a:t>O</a:t>
            </a:r>
            <a:r>
              <a:rPr lang="en-US" altLang="en-US" sz="100" dirty="0">
                <a:sym typeface="Arial"/>
              </a:rPr>
              <a:t> </a:t>
            </a:r>
            <a:r>
              <a:rPr lang="en-US" altLang="en-US" sz="3000" dirty="0">
                <a:sym typeface="Arial"/>
              </a:rPr>
              <a:t>B</a:t>
            </a:r>
            <a:r>
              <a:rPr lang="en-US" altLang="en-US" sz="100" dirty="0">
                <a:sym typeface="Arial"/>
              </a:rPr>
              <a:t> </a:t>
            </a:r>
            <a:r>
              <a:rPr lang="en-US" altLang="en-US" sz="3000" dirty="0">
                <a:sym typeface="Arial"/>
              </a:rPr>
              <a:t>E</a:t>
            </a:r>
            <a:endParaRPr lang="en-US" sz="3000" dirty="0"/>
          </a:p>
        </p:txBody>
      </p:sp>
      <p:pic>
        <p:nvPicPr>
          <p:cNvPr id="5" name="Picture 4" descr="An illustration shows an anecdotal list with symbols for use in applying STROBE Long description in notes, press F6.">
            <a:extLst>
              <a:ext uri="{FF2B5EF4-FFF2-40B4-BE49-F238E27FC236}">
                <a16:creationId xmlns:a16="http://schemas.microsoft.com/office/drawing/2014/main" id="{A63EAE0D-33CA-4CBC-8E3B-BE4FA89789D9}"/>
              </a:ext>
            </a:extLst>
          </p:cNvPr>
          <p:cNvPicPr>
            <a:picLocks noChangeAspect="1"/>
          </p:cNvPicPr>
          <p:nvPr/>
        </p:nvPicPr>
        <p:blipFill rotWithShape="1">
          <a:blip r:embed="rId3"/>
          <a:srcRect t="1627" b="4931"/>
          <a:stretch/>
        </p:blipFill>
        <p:spPr>
          <a:xfrm>
            <a:off x="2823929" y="1570348"/>
            <a:ext cx="3496142" cy="4680115"/>
          </a:xfrm>
          <a:prstGeom prst="rect">
            <a:avLst/>
          </a:prstGeom>
        </p:spPr>
      </p:pic>
    </p:spTree>
    <p:extLst>
      <p:ext uri="{BB962C8B-B14F-4D97-AF65-F5344CB8AC3E}">
        <p14:creationId xmlns:p14="http://schemas.microsoft.com/office/powerpoint/2010/main" val="31367385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7261-CAF6-43D4-82C4-C080F934E89E}"/>
              </a:ext>
            </a:extLst>
          </p:cNvPr>
          <p:cNvSpPr>
            <a:spLocks noGrp="1"/>
          </p:cNvSpPr>
          <p:nvPr>
            <p:ph type="title"/>
          </p:nvPr>
        </p:nvSpPr>
        <p:spPr/>
        <p:txBody>
          <a:bodyPr/>
          <a:lstStyle/>
          <a:p>
            <a:r>
              <a:rPr lang="en-US" altLang="en-US" dirty="0">
                <a:sym typeface="Arial"/>
              </a:rPr>
              <a:t>Summary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8C9EA479-1B49-4556-9DA8-2B7633B3CAE2}"/>
              </a:ext>
            </a:extLst>
          </p:cNvPr>
          <p:cNvSpPr>
            <a:spLocks noGrp="1"/>
          </p:cNvSpPr>
          <p:nvPr>
            <p:ph sz="quarter" idx="13"/>
          </p:nvPr>
        </p:nvSpPr>
        <p:spPr>
          <a:xfrm>
            <a:off x="457200" y="1556327"/>
            <a:ext cx="8229600" cy="378000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Sampling</a:t>
            </a:r>
          </a:p>
          <a:p>
            <a:pPr marL="741553" lvl="1" indent="-284353">
              <a:spcAft>
                <a:spcPct val="0"/>
              </a:spcAft>
              <a:buSzPts val="2400"/>
            </a:pPr>
            <a:r>
              <a:rPr lang="en-US" altLang="en-US" dirty="0">
                <a:solidFill>
                  <a:srgbClr val="000000"/>
                </a:solidFill>
                <a:cs typeface="Arial" panose="020B0604020202020204" pitchFamily="34" charset="0"/>
              </a:rPr>
              <a:t>Determine population</a:t>
            </a:r>
          </a:p>
          <a:p>
            <a:pPr marL="741553" lvl="1" indent="-284353">
              <a:spcAft>
                <a:spcPct val="0"/>
              </a:spcAft>
              <a:buSzPts val="2400"/>
            </a:pPr>
            <a:r>
              <a:rPr lang="en-US" altLang="en-US" dirty="0">
                <a:solidFill>
                  <a:srgbClr val="000000"/>
                </a:solidFill>
                <a:cs typeface="Arial" panose="020B0604020202020204" pitchFamily="34" charset="0"/>
              </a:rPr>
              <a:t>Determine types of samples</a:t>
            </a:r>
          </a:p>
          <a:p>
            <a:pPr marL="741553" lvl="1" indent="-284353">
              <a:spcAft>
                <a:spcPct val="0"/>
              </a:spcAft>
              <a:buSzPts val="2400"/>
            </a:pPr>
            <a:r>
              <a:rPr lang="en-US" altLang="en-US" dirty="0">
                <a:solidFill>
                  <a:srgbClr val="000000"/>
                </a:solidFill>
                <a:cs typeface="Arial" panose="020B0604020202020204" pitchFamily="34" charset="0"/>
              </a:rPr>
              <a:t>Calculate sample size</a:t>
            </a:r>
          </a:p>
          <a:p>
            <a:pPr marL="741553" lvl="1" indent="-284353">
              <a:spcAft>
                <a:spcPct val="0"/>
              </a:spcAft>
              <a:buSzPts val="2400"/>
            </a:pPr>
            <a:r>
              <a:rPr lang="en-US" altLang="en-US" dirty="0">
                <a:solidFill>
                  <a:srgbClr val="000000"/>
                </a:solidFill>
                <a:cs typeface="Arial" panose="020B0604020202020204" pitchFamily="34" charset="0"/>
              </a:rPr>
              <a:t>Plan data needed to be collected</a:t>
            </a:r>
          </a:p>
          <a:p>
            <a:pPr marL="255651" lvl="0" indent="-255651">
              <a:spcAft>
                <a:spcPct val="0"/>
              </a:spcAft>
              <a:buSzPts val="2400"/>
              <a:tabLst/>
            </a:pPr>
            <a:r>
              <a:rPr lang="en-US" altLang="en-US" dirty="0">
                <a:solidFill>
                  <a:srgbClr val="000000"/>
                </a:solidFill>
                <a:cs typeface="Arial" panose="020B0604020202020204" pitchFamily="34" charset="0"/>
              </a:rPr>
              <a:t>Hard data</a:t>
            </a:r>
          </a:p>
          <a:p>
            <a:pPr marL="741553" lvl="1" indent="-284353">
              <a:spcAft>
                <a:spcPct val="0"/>
              </a:spcAft>
              <a:buSzPts val="2400"/>
            </a:pPr>
            <a:r>
              <a:rPr lang="en-US" altLang="en-US" dirty="0">
                <a:solidFill>
                  <a:srgbClr val="000000"/>
                </a:solidFill>
                <a:cs typeface="Arial" panose="020B0604020202020204" pitchFamily="34" charset="0"/>
              </a:rPr>
              <a:t>Quantitative document analysis</a:t>
            </a:r>
          </a:p>
          <a:p>
            <a:pPr marL="741553" lvl="1" indent="-284353">
              <a:spcAft>
                <a:spcPct val="0"/>
              </a:spcAft>
              <a:buSzPts val="2400"/>
            </a:pPr>
            <a:r>
              <a:rPr lang="en-US" altLang="en-US" dirty="0">
                <a:solidFill>
                  <a:srgbClr val="000000"/>
                </a:solidFill>
                <a:cs typeface="Arial" panose="020B0604020202020204" pitchFamily="34" charset="0"/>
              </a:rPr>
              <a:t>Qualitative document analysis</a:t>
            </a:r>
          </a:p>
        </p:txBody>
      </p:sp>
    </p:spTree>
    <p:extLst>
      <p:ext uri="{BB962C8B-B14F-4D97-AF65-F5344CB8AC3E}">
        <p14:creationId xmlns:p14="http://schemas.microsoft.com/office/powerpoint/2010/main" val="5099353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B83E-3C1F-43A5-A0F6-A570B654ADF6}"/>
              </a:ext>
            </a:extLst>
          </p:cNvPr>
          <p:cNvSpPr>
            <a:spLocks noGrp="1"/>
          </p:cNvSpPr>
          <p:nvPr>
            <p:ph type="title"/>
          </p:nvPr>
        </p:nvSpPr>
        <p:spPr/>
        <p:txBody>
          <a:bodyPr/>
          <a:lstStyle/>
          <a:p>
            <a:r>
              <a:rPr lang="en-US" altLang="en-US" dirty="0">
                <a:sym typeface="Arial"/>
              </a:rPr>
              <a:t>Summary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DE7DBE76-D00C-4B6D-9A27-756EADE6ACBF}"/>
              </a:ext>
            </a:extLst>
          </p:cNvPr>
          <p:cNvSpPr>
            <a:spLocks noGrp="1"/>
          </p:cNvSpPr>
          <p:nvPr>
            <p:ph sz="quarter" idx="13"/>
          </p:nvPr>
        </p:nvSpPr>
        <p:spPr>
          <a:xfrm>
            <a:off x="457200" y="1556327"/>
            <a:ext cx="8229600" cy="4274630"/>
          </a:xfrm>
        </p:spPr>
        <p:txBody>
          <a:bodyPr/>
          <a:lstStyle/>
          <a:p>
            <a:pPr marL="255651" lvl="0" indent="-255651">
              <a:spcAft>
                <a:spcPct val="0"/>
              </a:spcAft>
              <a:buSzPts val="2400"/>
              <a:tabLst/>
            </a:pPr>
            <a:r>
              <a:rPr lang="en-US" altLang="en-US" dirty="0" smtClean="0">
                <a:solidFill>
                  <a:srgbClr val="000000"/>
                </a:solidFill>
                <a:cs typeface="Arial" panose="020B0604020202020204" pitchFamily="34" charset="0"/>
              </a:rPr>
              <a:t>Process mining</a:t>
            </a:r>
          </a:p>
          <a:p>
            <a:pPr marL="255651" lvl="0" indent="-255651">
              <a:spcAft>
                <a:spcPct val="0"/>
              </a:spcAft>
              <a:buSzPts val="2400"/>
              <a:tabLst/>
            </a:pPr>
            <a:r>
              <a:rPr lang="en-US" altLang="en-US" dirty="0" smtClean="0">
                <a:solidFill>
                  <a:srgbClr val="000000"/>
                </a:solidFill>
                <a:cs typeface="Arial" panose="020B0604020202020204" pitchFamily="34" charset="0"/>
              </a:rPr>
              <a:t>Task mining</a:t>
            </a:r>
          </a:p>
          <a:p>
            <a:pPr marL="255651" lvl="0" indent="-255651">
              <a:spcAft>
                <a:spcPct val="0"/>
              </a:spcAft>
              <a:buSzPts val="2400"/>
              <a:tabLst/>
            </a:pPr>
            <a:r>
              <a:rPr lang="en-US" altLang="en-US" dirty="0" smtClean="0">
                <a:solidFill>
                  <a:srgbClr val="000000"/>
                </a:solidFill>
                <a:cs typeface="Arial" panose="020B0604020202020204" pitchFamily="34" charset="0"/>
              </a:rPr>
              <a:t>Workforce analytics</a:t>
            </a:r>
          </a:p>
          <a:p>
            <a:pPr marL="255651" lvl="0" indent="-255651">
              <a:spcAft>
                <a:spcPct val="0"/>
              </a:spcAft>
              <a:buSzPts val="2400"/>
              <a:tabLst/>
            </a:pPr>
            <a:r>
              <a:rPr lang="en-US" altLang="en-US" dirty="0" smtClean="0">
                <a:solidFill>
                  <a:srgbClr val="000000"/>
                </a:solidFill>
                <a:cs typeface="Arial" panose="020B0604020202020204" pitchFamily="34" charset="0"/>
              </a:rPr>
              <a:t>Observation</a:t>
            </a:r>
          </a:p>
          <a:p>
            <a:pPr marL="255651" lvl="0" indent="-255651">
              <a:spcAft>
                <a:spcPct val="0"/>
              </a:spcAft>
              <a:buSzPts val="2400"/>
              <a:tabLst/>
            </a:pPr>
            <a:r>
              <a:rPr lang="en-US" altLang="en-US" dirty="0" smtClean="0">
                <a:solidFill>
                  <a:srgbClr val="000000"/>
                </a:solidFill>
                <a:cs typeface="Arial" panose="020B0604020202020204" pitchFamily="34" charset="0"/>
              </a:rPr>
              <a:t>Text analytics</a:t>
            </a:r>
          </a:p>
          <a:p>
            <a:pPr marL="255651" lvl="0" indent="-255651">
              <a:spcAft>
                <a:spcPct val="0"/>
              </a:spcAft>
              <a:buSzPts val="2400"/>
              <a:tabLst/>
            </a:pPr>
            <a:r>
              <a:rPr lang="en-US" altLang="en-US" dirty="0" smtClean="0">
                <a:solidFill>
                  <a:srgbClr val="000000"/>
                </a:solidFill>
                <a:cs typeface="Arial" panose="020B0604020202020204" pitchFamily="34" charset="0"/>
              </a:rPr>
              <a:t>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T</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R</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B</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E</a:t>
            </a:r>
          </a:p>
          <a:p>
            <a:pPr marL="741553" lvl="1" indent="-284353">
              <a:spcAft>
                <a:spcPct val="0"/>
              </a:spcAft>
              <a:buSzPts val="2400"/>
            </a:pPr>
            <a:r>
              <a:rPr lang="en-US" altLang="en-US" dirty="0" smtClean="0">
                <a:solidFill>
                  <a:srgbClr val="000000"/>
                </a:solidFill>
                <a:cs typeface="Arial" panose="020B0604020202020204" pitchFamily="34" charset="0"/>
              </a:rPr>
              <a:t>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T</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R</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B</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E elements</a:t>
            </a:r>
          </a:p>
          <a:p>
            <a:pPr marL="741553" lvl="1" indent="-284353">
              <a:spcAft>
                <a:spcPct val="0"/>
              </a:spcAft>
              <a:buSzPts val="2400"/>
            </a:pPr>
            <a:r>
              <a:rPr lang="en-US" altLang="en-US" dirty="0" smtClean="0">
                <a:solidFill>
                  <a:srgbClr val="000000"/>
                </a:solidFill>
                <a:cs typeface="Arial" panose="020B0604020202020204" pitchFamily="34" charset="0"/>
              </a:rPr>
              <a:t>Applying 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T</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R</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B</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E</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42298535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150381</TotalTime>
  <Words>4375</Words>
  <Application>Microsoft Office PowerPoint</Application>
  <PresentationFormat>On-screen Show (4:3)</PresentationFormat>
  <Paragraphs>487</Paragraphs>
  <Slides>61</Slides>
  <Notes>38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61</vt:i4>
      </vt:variant>
    </vt:vector>
  </HeadingPairs>
  <TitlesOfParts>
    <vt:vector size="71" baseType="lpstr">
      <vt:lpstr>Times New Roman</vt:lpstr>
      <vt:lpstr>TimesLTPro-Roman</vt:lpstr>
      <vt:lpstr>Arial</vt:lpstr>
      <vt:lpstr>Calibri</vt:lpstr>
      <vt:lpstr>Noto Sans Symbols</vt:lpstr>
      <vt:lpstr>Wingdings</vt:lpstr>
      <vt:lpstr>Verdana</vt:lpstr>
      <vt:lpstr>USHE</vt:lpstr>
      <vt:lpstr>USHE_slide options</vt:lpstr>
      <vt:lpstr>Equation</vt:lpstr>
      <vt:lpstr>Systems Analysis &amp; Design</vt:lpstr>
      <vt:lpstr>Learning Objectives (1 of 2)</vt:lpstr>
      <vt:lpstr>Learning Objectives (2 of 2)</vt:lpstr>
      <vt:lpstr>Unobtrusive Methods</vt:lpstr>
      <vt:lpstr>Major Topics</vt:lpstr>
      <vt:lpstr>Sampling (1 of 2)</vt:lpstr>
      <vt:lpstr>Need for Sampling (1 of 2)</vt:lpstr>
      <vt:lpstr>Need for Sampling (2 of 2)</vt:lpstr>
      <vt:lpstr>Sampling (2 of 2)</vt:lpstr>
      <vt:lpstr>Sampling Effectiveness</vt:lpstr>
      <vt:lpstr>Sampling Bias</vt:lpstr>
      <vt:lpstr>Sampling Design</vt:lpstr>
      <vt:lpstr>Figure 5.1 Four Main Types of Samples A System Analyst Has Available</vt:lpstr>
      <vt:lpstr>Four Main Types of Samples</vt:lpstr>
      <vt:lpstr>Convenience Samples</vt:lpstr>
      <vt:lpstr>Purposive Sample</vt:lpstr>
      <vt:lpstr>Complex Random Samples</vt:lpstr>
      <vt:lpstr>The Sample Size Decision</vt:lpstr>
      <vt:lpstr>Figure 5.2 A System Analysis can use a Table of Area under a Normal Curve to Look up a Value Once the Confidence Level is Decided</vt:lpstr>
      <vt:lpstr>Calculate the Standard Error of the Proportion</vt:lpstr>
      <vt:lpstr>Determine the Sample Size</vt:lpstr>
      <vt:lpstr>Example: A. Sembly Company</vt:lpstr>
      <vt:lpstr>Investigation</vt:lpstr>
      <vt:lpstr>Analyzing Quantitative Documents</vt:lpstr>
      <vt:lpstr>Reports Used for Decision Making</vt:lpstr>
      <vt:lpstr>Figure 5.3 A Performance Report Showing Improvement</vt:lpstr>
      <vt:lpstr>Figure 5.4 A Manually Completed Payment Record</vt:lpstr>
      <vt:lpstr>Records</vt:lpstr>
      <vt:lpstr>Data Capture Forms</vt:lpstr>
      <vt:lpstr>Figure 5.5 Questions to Ask about Official and Bootleg Forms That Are Already Filled out</vt:lpstr>
      <vt:lpstr>Questions to Ask about Forms</vt:lpstr>
      <vt:lpstr>Analyzing Qualitative Documents (1 of 2)</vt:lpstr>
      <vt:lpstr>Analyzing Qualitative Documents (2 of 2)</vt:lpstr>
      <vt:lpstr>Figure 5.6 Analysis of Memos Provides Insight into the Metaphors That Guide the Organization’s Thinking</vt:lpstr>
      <vt:lpstr>Text Analytics (1 of 3)</vt:lpstr>
      <vt:lpstr>Text Analytics (2 of 3)</vt:lpstr>
      <vt:lpstr>Text Analytics Can Help</vt:lpstr>
      <vt:lpstr>Figure 5.7 Concept Map Showing Prominence and Relationships of Concepts</vt:lpstr>
      <vt:lpstr>Figure 5.8 Ranked Concepts for Categories Overview</vt:lpstr>
      <vt:lpstr>Text Analytics (3 of 3)</vt:lpstr>
      <vt:lpstr>Process Mining</vt:lpstr>
      <vt:lpstr>Four Steps to Process Mining (U I Path.com)</vt:lpstr>
      <vt:lpstr>Celonis Process Mining</vt:lpstr>
      <vt:lpstr>Figure 5.9 Screen from Celonis Software Shows Bottlenecks in the Process</vt:lpstr>
      <vt:lpstr>Figure 5.10 Simulation from Celonis Software Shows the Results of Removing Bottlenecks</vt:lpstr>
      <vt:lpstr>Task Mining</vt:lpstr>
      <vt:lpstr>Workforce Analytics (1 of 2)</vt:lpstr>
      <vt:lpstr>Workforce Analytics (2 of 2)</vt:lpstr>
      <vt:lpstr>Observation</vt:lpstr>
      <vt:lpstr>Analyst’s Playscript</vt:lpstr>
      <vt:lpstr>Figure 5.14 A Sample Page from an Analyst’s Playscript Describing Decision Making</vt:lpstr>
      <vt:lpstr>S T R O B E (1 of 2)</vt:lpstr>
      <vt:lpstr>S T R O B E (2 of 2)</vt:lpstr>
      <vt:lpstr>S T R O B E Elements</vt:lpstr>
      <vt:lpstr>Figure 5.15 Seven Concrete Observable Elements of STROBE</vt:lpstr>
      <vt:lpstr>Figure 5.16 S T R O B E and Decision-Maker Characteristics</vt:lpstr>
      <vt:lpstr>Applying S T R O B E</vt:lpstr>
      <vt:lpstr>Figure 5.17 An Anecdotal List with Symbols For Use in Applying S T R O B E</vt:lpstr>
      <vt:lpstr>Summary (1 of 2)</vt:lpstr>
      <vt:lpstr>Summary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&amp; Design, Eleventh Edition, Chapter 5, Information Gathering: Unobtrusive Methods</dc:title>
  <dc:subject>IT/MIS</dc:subject>
  <dc:creator>Kendall/Kendall</dc:creator>
  <cp:keywords>Systems Analysis &amp; Design</cp:keywords>
  <dc:description>Long description alt-text is inserted in the notes pane; Additional learning content may be available in the Notes Pane; This presentation contains the hyperlinks.</dc:description>
  <cp:lastModifiedBy>e402683</cp:lastModifiedBy>
  <cp:revision>2145</cp:revision>
  <dcterms:modified xsi:type="dcterms:W3CDTF">2023-06-27T11:58:17Z</dcterms:modified>
</cp:coreProperties>
</file>