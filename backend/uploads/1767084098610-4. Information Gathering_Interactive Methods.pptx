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74"/>
  </p:notesMasterIdLst>
  <p:handoutMasterIdLst>
    <p:handoutMasterId r:id="rId75"/>
  </p:handoutMasterIdLst>
  <p:sldIdLst>
    <p:sldId id="330" r:id="rId3"/>
    <p:sldId id="332" r:id="rId4"/>
    <p:sldId id="333" r:id="rId5"/>
    <p:sldId id="334" r:id="rId6"/>
    <p:sldId id="335" r:id="rId7"/>
    <p:sldId id="336" r:id="rId8"/>
    <p:sldId id="337" r:id="rId9"/>
    <p:sldId id="338" r:id="rId10"/>
    <p:sldId id="339" r:id="rId11"/>
    <p:sldId id="340" r:id="rId12"/>
    <p:sldId id="341" r:id="rId13"/>
    <p:sldId id="342" r:id="rId14"/>
    <p:sldId id="343" r:id="rId15"/>
    <p:sldId id="344" r:id="rId16"/>
    <p:sldId id="345" r:id="rId17"/>
    <p:sldId id="346" r:id="rId18"/>
    <p:sldId id="347" r:id="rId19"/>
    <p:sldId id="348" r:id="rId20"/>
    <p:sldId id="349" r:id="rId21"/>
    <p:sldId id="350" r:id="rId22"/>
    <p:sldId id="351" r:id="rId23"/>
    <p:sldId id="352" r:id="rId24"/>
    <p:sldId id="353" r:id="rId25"/>
    <p:sldId id="354" r:id="rId26"/>
    <p:sldId id="355" r:id="rId27"/>
    <p:sldId id="356" r:id="rId28"/>
    <p:sldId id="357" r:id="rId29"/>
    <p:sldId id="358" r:id="rId30"/>
    <p:sldId id="359" r:id="rId31"/>
    <p:sldId id="360" r:id="rId32"/>
    <p:sldId id="361" r:id="rId33"/>
    <p:sldId id="362" r:id="rId34"/>
    <p:sldId id="363" r:id="rId35"/>
    <p:sldId id="364" r:id="rId36"/>
    <p:sldId id="365" r:id="rId37"/>
    <p:sldId id="366" r:id="rId38"/>
    <p:sldId id="367" r:id="rId39"/>
    <p:sldId id="368" r:id="rId40"/>
    <p:sldId id="369" r:id="rId41"/>
    <p:sldId id="370" r:id="rId42"/>
    <p:sldId id="371" r:id="rId43"/>
    <p:sldId id="372" r:id="rId44"/>
    <p:sldId id="373" r:id="rId45"/>
    <p:sldId id="374" r:id="rId46"/>
    <p:sldId id="375" r:id="rId47"/>
    <p:sldId id="376" r:id="rId48"/>
    <p:sldId id="377" r:id="rId49"/>
    <p:sldId id="378" r:id="rId50"/>
    <p:sldId id="379" r:id="rId51"/>
    <p:sldId id="380" r:id="rId52"/>
    <p:sldId id="381" r:id="rId53"/>
    <p:sldId id="382" r:id="rId54"/>
    <p:sldId id="383" r:id="rId55"/>
    <p:sldId id="384" r:id="rId56"/>
    <p:sldId id="385" r:id="rId57"/>
    <p:sldId id="386" r:id="rId58"/>
    <p:sldId id="387" r:id="rId59"/>
    <p:sldId id="388" r:id="rId60"/>
    <p:sldId id="389" r:id="rId61"/>
    <p:sldId id="390" r:id="rId62"/>
    <p:sldId id="391" r:id="rId63"/>
    <p:sldId id="392" r:id="rId64"/>
    <p:sldId id="393" r:id="rId65"/>
    <p:sldId id="394" r:id="rId66"/>
    <p:sldId id="395" r:id="rId67"/>
    <p:sldId id="396" r:id="rId68"/>
    <p:sldId id="397" r:id="rId69"/>
    <p:sldId id="398" r:id="rId70"/>
    <p:sldId id="399" r:id="rId71"/>
    <p:sldId id="400" r:id="rId72"/>
    <p:sldId id="298" r:id="rId73"/>
  </p:sldIdLst>
  <p:sldSz cx="9144000" cy="6858000" type="screen4x3"/>
  <p:notesSz cx="6858000" cy="9144000"/>
  <p:embeddedFontLst>
    <p:embeddedFont>
      <p:font typeface="Calibri" panose="020F0502020204030204" pitchFamily="34" charset="0"/>
      <p:regular r:id="rId76"/>
      <p:bold r:id="rId77"/>
      <p:italic r:id="rId78"/>
      <p:boldItalic r:id="rId79"/>
    </p:embeddedFont>
    <p:embeddedFont>
      <p:font typeface="Noto Sans Symbols" panose="020B0604020202020204" charset="0"/>
      <p:regular r:id="rId80"/>
      <p:bold r:id="rId81"/>
      <p:italic r:id="rId82"/>
      <p:boldItalic r:id="rId83"/>
    </p:embeddedFont>
    <p:embeddedFont>
      <p:font typeface="Verdana" panose="020B0604030504040204" pitchFamily="34" charset="0"/>
      <p:regular r:id="rId84"/>
      <p:bold r:id="rId85"/>
      <p:italic r:id="rId86"/>
      <p:boldItalic r:id="rId8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3" orient="horz" pos="4178" userDrawn="1">
          <p15:clr>
            <a:srgbClr val="A4A3A4"/>
          </p15:clr>
        </p15:guide>
        <p15:guide id="4" orient="horz" pos="119" userDrawn="1">
          <p15:clr>
            <a:srgbClr val="A4A3A4"/>
          </p15:clr>
        </p15:guide>
        <p15:guide id="5" orient="horz" pos="754" userDrawn="1">
          <p15:clr>
            <a:srgbClr val="A4A3A4"/>
          </p15:clr>
        </p15:guide>
        <p15:guide id="9" pos="295" userDrawn="1">
          <p15:clr>
            <a:srgbClr val="A4A3A4"/>
          </p15:clr>
        </p15:guide>
        <p15:guide id="10" orient="horz" pos="3974" userDrawn="1">
          <p15:clr>
            <a:srgbClr val="A4A3A4"/>
          </p15:clr>
        </p15:guide>
        <p15:guide id="11" orient="horz" pos="3135" userDrawn="1">
          <p15:clr>
            <a:srgbClr val="A4A3A4"/>
          </p15:clr>
        </p15:guide>
        <p15:guide id="13" pos="5443" userDrawn="1">
          <p15:clr>
            <a:srgbClr val="A4A3A4"/>
          </p15:clr>
        </p15:guide>
        <p15:guide id="14" orient="horz" pos="981" userDrawn="1">
          <p15:clr>
            <a:srgbClr val="A4A3A4"/>
          </p15:clr>
        </p15:guide>
        <p15:guide id="16" orient="horz" pos="799" userDrawn="1">
          <p15:clr>
            <a:srgbClr val="A4A3A4"/>
          </p15:clr>
        </p15:guide>
        <p15:guide id="17" pos="2880" userDrawn="1">
          <p15:clr>
            <a:srgbClr val="A4A3A4"/>
          </p15:clr>
        </p15:guide>
        <p15:guide id="18" orient="horz" pos="4065" userDrawn="1">
          <p15:clr>
            <a:srgbClr val="A4A3A4"/>
          </p15:clr>
        </p15:guide>
        <p15:guide id="19" pos="612" userDrawn="1">
          <p15:clr>
            <a:srgbClr val="A4A3A4"/>
          </p15:clr>
        </p15:guide>
        <p15:guide id="20" pos="179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USER" initials="U" lastIdx="3" clrIdx="7">
    <p:extLst>
      <p:ext uri="{19B8F6BF-5375-455C-9EA6-DF929625EA0E}">
        <p15:presenceInfo xmlns:p15="http://schemas.microsoft.com/office/powerpoint/2012/main" userId="USER" providerId="None"/>
      </p:ext>
    </p:extLst>
  </p:cmAuthor>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453C96-BE79-469D-872A-A71627886EEB}" v="2" dt="2023-06-20T05:31:12.002"/>
  </p1510:revLst>
</p1510:revInfo>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485" autoAdjust="0"/>
    <p:restoredTop sz="65328" autoAdjust="0"/>
  </p:normalViewPr>
  <p:slideViewPr>
    <p:cSldViewPr snapToGrid="0" snapToObjects="1">
      <p:cViewPr varScale="1">
        <p:scale>
          <a:sx n="48" d="100"/>
          <a:sy n="48" d="100"/>
        </p:scale>
        <p:origin x="2418" y="42"/>
      </p:cViewPr>
      <p:guideLst>
        <p:guide orient="horz" pos="4178"/>
        <p:guide orient="horz" pos="119"/>
        <p:guide orient="horz" pos="754"/>
        <p:guide pos="295"/>
        <p:guide orient="horz" pos="3974"/>
        <p:guide orient="horz" pos="3135"/>
        <p:guide pos="5443"/>
        <p:guide orient="horz" pos="981"/>
        <p:guide orient="horz" pos="799"/>
        <p:guide pos="2880"/>
        <p:guide orient="horz" pos="4065"/>
        <p:guide pos="612"/>
        <p:guide pos="1791"/>
      </p:guideLst>
    </p:cSldViewPr>
  </p:slideViewPr>
  <p:outlineViewPr>
    <p:cViewPr>
      <p:scale>
        <a:sx n="33" d="100"/>
        <a:sy n="33" d="100"/>
      </p:scale>
      <p:origin x="0" y="-40794"/>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font" Target="fonts/font1.fntdata"/><Relationship Id="rId84" Type="http://schemas.openxmlformats.org/officeDocument/2006/relationships/font" Target="fonts/font9.fntdata"/><Relationship Id="rId89"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notesMaster" Target="notesMasters/notesMaster1.xml"/><Relationship Id="rId79" Type="http://schemas.openxmlformats.org/officeDocument/2006/relationships/font" Target="fonts/font4.fntdata"/><Relationship Id="rId87" Type="http://schemas.openxmlformats.org/officeDocument/2006/relationships/font" Target="fonts/font12.fntdata"/><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font" Target="fonts/font7.fntdata"/><Relationship Id="rId90"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font" Target="fonts/font2.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font" Target="fonts/font5.fntdata"/><Relationship Id="rId85" Type="http://schemas.openxmlformats.org/officeDocument/2006/relationships/font" Target="fonts/font10.fntdata"/><Relationship Id="rId93" Type="http://schemas.microsoft.com/office/2015/10/relationships/revisionInfo" Target="revisionInfo.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commentAuthors" Target="commentAuthors.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4" Type="http://schemas.openxmlformats.org/officeDocument/2006/relationships/slide" Target="slides/slide2.xml"/><Relationship Id="rId9"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27-Jun-23</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noProof="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982310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The first three methods involve talking with and listening to people in the organization in order to understand their interactions with technology through a series of carefully composed questions. Requirement prioritization involves the client or customer as well.</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674899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438775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266988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Opinions – may be more revealing and more important than facts. By seeking opinion rather than fact you can discover key problems.</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Feelings – you can understand the organization’s culture more fully by listening to the feelings of the respondent.</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Goals – project the organization’s future. You may not be able to determine goals through any other method.</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HCI – the ergonomic aspects, the system usability, how pleasing and enjoyable the system is, and how useful it is in supporting individual tasks.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833349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sz="1000" dirty="0">
                <a:solidFill>
                  <a:srgbClr val="000000"/>
                </a:solidFill>
                <a:latin typeface="Arial" panose="020B0604020202020204" pitchFamily="34" charset="0"/>
              </a:rPr>
              <a:t>Reading background material—read and understand as much background information about the interviewees and their organization as possible.</a:t>
            </a:r>
          </a:p>
          <a:p>
            <a:pPr marL="628650" lvl="1" indent="-171450">
              <a:buFontTx/>
              <a:buChar char="•"/>
            </a:pPr>
            <a:r>
              <a:rPr lang="en-US" altLang="en-US" sz="1000" dirty="0">
                <a:solidFill>
                  <a:srgbClr val="000000"/>
                </a:solidFill>
                <a:latin typeface="Arial" panose="020B0604020202020204" pitchFamily="34" charset="0"/>
              </a:rPr>
              <a:t>Corporate Web site</a:t>
            </a:r>
          </a:p>
          <a:p>
            <a:pPr marL="628650" lvl="1" indent="-171450">
              <a:buFontTx/>
              <a:buChar char="•"/>
            </a:pPr>
            <a:r>
              <a:rPr lang="en-US" altLang="en-US" sz="1000" dirty="0">
                <a:solidFill>
                  <a:srgbClr val="000000"/>
                </a:solidFill>
                <a:latin typeface="Arial" panose="020B0604020202020204" pitchFamily="34" charset="0"/>
              </a:rPr>
              <a:t>Current annual report</a:t>
            </a:r>
          </a:p>
          <a:p>
            <a:pPr marL="628650" lvl="1" indent="-171450">
              <a:buFontTx/>
              <a:buChar char="•"/>
            </a:pPr>
            <a:r>
              <a:rPr lang="en-US" altLang="en-US" sz="1000" dirty="0">
                <a:solidFill>
                  <a:srgbClr val="000000"/>
                </a:solidFill>
                <a:latin typeface="Arial" panose="020B0604020202020204" pitchFamily="34" charset="0"/>
              </a:rPr>
              <a:t>Corporate newsletter</a:t>
            </a:r>
          </a:p>
          <a:p>
            <a:pPr marL="628650" lvl="1" indent="-171450">
              <a:buFontTx/>
              <a:buChar char="•"/>
            </a:pPr>
            <a:r>
              <a:rPr lang="en-US" altLang="en-US" sz="1000" dirty="0">
                <a:solidFill>
                  <a:srgbClr val="000000"/>
                </a:solidFill>
                <a:latin typeface="Arial" panose="020B0604020202020204" pitchFamily="34" charset="0"/>
              </a:rPr>
              <a:t>Any publication sent out to explain the organization to the public</a:t>
            </a:r>
          </a:p>
          <a:p>
            <a:pPr marL="628650" lvl="1" indent="-171450">
              <a:buFontTx/>
              <a:buChar char="•"/>
            </a:pPr>
            <a:r>
              <a:rPr lang="en-US" altLang="en-US" sz="1000" dirty="0">
                <a:solidFill>
                  <a:srgbClr val="000000"/>
                </a:solidFill>
                <a:latin typeface="Arial" panose="020B0604020202020204" pitchFamily="34" charset="0"/>
              </a:rPr>
              <a:t>Standard &amp; Poor’s</a:t>
            </a:r>
          </a:p>
          <a:p>
            <a:pPr lvl="0"/>
            <a:r>
              <a:rPr lang="en-US" altLang="en-US" sz="1000" dirty="0">
                <a:solidFill>
                  <a:srgbClr val="000000"/>
                </a:solidFill>
                <a:latin typeface="Arial" panose="020B0604020202020204" pitchFamily="34" charset="0"/>
              </a:rPr>
              <a:t>Try to build a  common vocabulary to better phrase interview questions and to maximize the interview time.</a:t>
            </a:r>
          </a:p>
          <a:p>
            <a:pPr lvl="0"/>
            <a:endParaRPr lang="en-US" altLang="en-US" sz="1000" dirty="0">
              <a:solidFill>
                <a:srgbClr val="000000"/>
              </a:solidFill>
              <a:latin typeface="Arial" panose="020B0604020202020204" pitchFamily="34" charset="0"/>
            </a:endParaRPr>
          </a:p>
          <a:p>
            <a:pPr lvl="0"/>
            <a:r>
              <a:rPr lang="en-US" altLang="en-US" sz="1000" dirty="0">
                <a:solidFill>
                  <a:srgbClr val="000000"/>
                </a:solidFill>
                <a:latin typeface="Arial" panose="020B0604020202020204" pitchFamily="34" charset="0"/>
              </a:rPr>
              <a:t>Establishing interview objectives—four to six key areas concerning HCI, information processing, and decision-making behavior.</a:t>
            </a:r>
          </a:p>
          <a:p>
            <a:pPr lvl="0"/>
            <a:endParaRPr lang="en-US" altLang="en-US" sz="1000" dirty="0">
              <a:solidFill>
                <a:srgbClr val="000000"/>
              </a:solidFill>
              <a:latin typeface="Arial" panose="020B0604020202020204" pitchFamily="34" charset="0"/>
            </a:endParaRPr>
          </a:p>
          <a:p>
            <a:pPr lvl="0"/>
            <a:r>
              <a:rPr lang="en-US" altLang="en-US" sz="1000" dirty="0">
                <a:solidFill>
                  <a:srgbClr val="000000"/>
                </a:solidFill>
                <a:latin typeface="Arial" panose="020B0604020202020204" pitchFamily="34" charset="0"/>
              </a:rPr>
              <a:t>Deciding whom to interview—strive for balance so that as many users’ needs are addressed as possible.</a:t>
            </a:r>
          </a:p>
          <a:p>
            <a:pPr lvl="0"/>
            <a:endParaRPr lang="en-US" altLang="en-US" sz="1000" dirty="0">
              <a:solidFill>
                <a:srgbClr val="000000"/>
              </a:solidFill>
              <a:latin typeface="Arial" panose="020B0604020202020204" pitchFamily="34" charset="0"/>
            </a:endParaRPr>
          </a:p>
          <a:p>
            <a:pPr lvl="0"/>
            <a:r>
              <a:rPr lang="en-US" altLang="en-US" sz="1000" dirty="0">
                <a:solidFill>
                  <a:srgbClr val="000000"/>
                </a:solidFill>
                <a:latin typeface="Arial" panose="020B0604020202020204" pitchFamily="34" charset="0"/>
              </a:rPr>
              <a:t>Preparing the interviewee—call ahead or send an email message; with the advent of Covid 19 and other prohibitions against meeting in public interviews may be conducted using tools such as Zoom, Google Meet, Microsoft Teams, or other video-calling or video-conferencing options; keep interviews within 45 minutes to an hour at the most.</a:t>
            </a:r>
          </a:p>
          <a:p>
            <a:pPr lvl="0"/>
            <a:endParaRPr lang="en-US" altLang="en-US" sz="1000" dirty="0">
              <a:solidFill>
                <a:srgbClr val="000000"/>
              </a:solidFill>
              <a:latin typeface="Arial" panose="020B0604020202020204" pitchFamily="34" charset="0"/>
            </a:endParaRPr>
          </a:p>
          <a:p>
            <a:pPr lvl="0"/>
            <a:r>
              <a:rPr lang="en-US" altLang="en-US" sz="1000" dirty="0">
                <a:solidFill>
                  <a:srgbClr val="000000"/>
                </a:solidFill>
                <a:latin typeface="Arial" panose="020B0604020202020204" pitchFamily="34" charset="0"/>
              </a:rPr>
              <a:t>Deciding on question types and structure—write questions to cover the key areas of decision making that you discovered when you ascertained interview objectives.</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321615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Each question type can accomplish something a little different from the other, and each has benefits and drawbacks.</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642214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“Open” describes the interviewee’s options for responding. They are open.</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518819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001323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25130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119313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The analyst needs to carefully consider the implications of using open-ended questions for interviewing.</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086610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The alternative to open-ended questions.</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140986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123406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As the interviewer you must think carefully about the question types you will use.</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338848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Choosing one question type over the other involves a trade-off; although an open-ended question affords breadth and depth of reply, responses to open-ended questions are difficult to analyze.</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Long Description:</a:t>
            </a: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The information is as follows.</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1. Reliability of data is low in open ended question and high in closed ended question.</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2. Efficient use of time is low in open ended question and high in closed ended question.</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3. Precision of data is low in open ended question and high in closed ended question.</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4. Breadth and depth is much in open ended question and little in closed ended question.</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5. Interviewer skill required is much in open ended question and little in closed ended question.</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6. Ease of analysis is difficult in open ended question and easy in closed ended question.</a:t>
            </a:r>
            <a:endParaRPr lang="en-US" sz="1200" dirty="0">
              <a:effectLst/>
              <a:latin typeface="Calibri" panose="020F0502020204030204" pitchFamily="34" charset="0"/>
              <a:ea typeface="Calibri" panose="020F0502020204030204" pitchFamily="34" charset="0"/>
            </a:endParaRP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900170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This type of closed question limits the interviewee even further by allowing a choice on either “pole,” such as yes or no, true or false, agree or disagree.</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723842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Used as a follow-up question.</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The strongest probe is simply—Why?</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It is essential to probe so that we don’t accept superficial answers.</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897616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There are two ways of organizing interviews—pyramid and funnel, the diamond approach combines both.</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109705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Inductive organization of interview questions.</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Also, useful if you want an ending determination about the topic.</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069285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Moving from top to bottom, the questions depicted areas follows.</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1. What specifically is the problem you are experiencing with your firewall?</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2. Have you considered other methods to improve the security of corporate data?</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3. What do you think would make security more selective here?</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4. In general, how do you feel about the security of data versus the importance of internet access?</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 </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A sticky note pointing toward the first question reads, Pyramid structures start with a specific question and another pointing toward the last question reads, and end with a general one.</a:t>
            </a:r>
            <a:endParaRPr lang="en-US" sz="1200" dirty="0">
              <a:effectLst/>
              <a:latin typeface="Calibri" panose="020F0502020204030204" pitchFamily="34" charset="0"/>
              <a:ea typeface="Calibri" panose="020F0502020204030204" pitchFamily="34" charset="0"/>
            </a:endParaRP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294692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Deductive organization of interview questions.</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097177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The funnel structure begins with a general question and ends with a specific one. Moving from top to bottom, the questions depicted are as follows.</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Times New Roman" panose="02020603050405020304" pitchFamily="18" charset="0"/>
              </a:rPr>
              <a:t>1. </a:t>
            </a:r>
            <a:r>
              <a:rPr lang="en-US" sz="1200" dirty="0">
                <a:effectLst/>
                <a:latin typeface="Times New Roman" panose="02020603050405020304" pitchFamily="18" charset="0"/>
                <a:ea typeface="Calibri" panose="020F0502020204030204" pitchFamily="34" charset="0"/>
              </a:rPr>
              <a:t>The contents of the structure from top to bottom are as follows.</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Times New Roman" panose="02020603050405020304" pitchFamily="18" charset="0"/>
              </a:rPr>
              <a:t>2. </a:t>
            </a:r>
            <a:r>
              <a:rPr lang="en-US" sz="1200" dirty="0">
                <a:effectLst/>
                <a:latin typeface="Times New Roman" panose="02020603050405020304" pitchFamily="18" charset="0"/>
                <a:ea typeface="Calibri" panose="020F0502020204030204" pitchFamily="34" charset="0"/>
              </a:rPr>
              <a:t>What departments are involved in implementing it?</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3. What items will be available for purchase on the website?</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4. Is there any essential item that has been excluded from the site?</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 </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A sticky note pointing toward the first question reads, funnel structures begin with a general question and another pointing toward the last question reads, and end with a specific one.</a:t>
            </a:r>
            <a:endParaRPr lang="en-US" sz="1200" dirty="0">
              <a:effectLst/>
              <a:latin typeface="Calibri" panose="020F0502020204030204" pitchFamily="34" charset="0"/>
              <a:ea typeface="Calibri" panose="020F0502020204030204" pitchFamily="34" charset="0"/>
            </a:endParaRPr>
          </a:p>
          <a:p>
            <a:endParaRPr lang="en-US" dirty="0"/>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225402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The diamond structure combines the strengths of the pyramid and funnel approach but has the disadvantage of taking longer.</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70810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The diamond structure begins with a specific question, move towards general questions and ends at the bottom with a specific question. Moving from top to bottom, the questions depicted are as follows. </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1. What five kinds of information are tracked by the free website usage service you use?</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2. What are the promotional activities you feature on your website in exchange for this service?</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3. What is the value of the usage information to you as a Web developer?</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4. What are two surprising items concerning end user behavior on your site that you have discovered by using this service?</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5. Are “cookies” a better way to measure end user site usage?</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 </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A sticky note pointing toward the first question reads, diamond structures begin with a specific question, second one pointing toward the third question reads, move toward general questions, and the third one pointing toward the last question reads, and end with a specific question.</a:t>
            </a:r>
            <a:endParaRPr lang="en-US" sz="1200" dirty="0">
              <a:effectLst/>
              <a:latin typeface="Calibri" panose="020F0502020204030204" pitchFamily="34" charset="0"/>
              <a:ea typeface="Calibri" panose="020F0502020204030204" pitchFamily="34" charset="0"/>
            </a:endParaRP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290742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a:t>
            </a:r>
            <a:r>
              <a:rPr lang="en-US" altLang="en-US" sz="1200" dirty="0">
                <a:solidFill>
                  <a:srgbClr val="000000"/>
                </a:solidFill>
                <a:latin typeface="Arial" panose="020B0604020202020204" pitchFamily="34" charset="0"/>
                <a:cs typeface="Arial" panose="020B0604020202020204" pitchFamily="34" charset="0"/>
              </a:rPr>
              <a:t>Is there anything we haven’t touched on that you feel is important  for me to know</a:t>
            </a:r>
            <a:r>
              <a:rPr lang="en-US" altLang="en-US" dirty="0">
                <a:solidFill>
                  <a:srgbClr val="000000"/>
                </a:solidFill>
                <a:latin typeface="Arial" panose="020B0604020202020204" pitchFamily="34" charset="0"/>
              </a:rPr>
              <a:t>?” —considered a formula question the response will often be “No.”</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Inform the interviewee about the next steps to take.</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Always remember to thank the interviewee for their time.</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819822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The longer you wait to write your report, the more suspect your data becomes.</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Review the report with the respondent—helps clarify the meaning the interviewee had in mind and lets the interviewee know that you care.</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003871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119951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816528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362996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142964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970496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7536399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8742580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An alternative approach to interviewing users one by one.</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Developed by IBM.</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The motivation was to cut the time and hence the cost required by interviews. It also creates more use identification with new systems as a result of the participative process.</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374950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872841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lnSpc>
                <a:spcPct val="90000"/>
              </a:lnSpc>
            </a:pPr>
            <a:r>
              <a:rPr lang="en-US" altLang="en-US" sz="1050" dirty="0">
                <a:solidFill>
                  <a:srgbClr val="000000"/>
                </a:solidFill>
                <a:latin typeface="Arial" panose="020B0604020202020204" pitchFamily="34" charset="0"/>
              </a:rPr>
              <a:t>All project team members must be committed to the </a:t>
            </a:r>
            <a:r>
              <a:rPr lang="en-US" altLang="en-US" sz="1050" dirty="0" smtClean="0">
                <a:solidFill>
                  <a:srgbClr val="000000"/>
                </a:solidFill>
                <a:latin typeface="Arial" panose="020B0604020202020204" pitchFamily="34" charset="0"/>
              </a:rPr>
              <a:t>J A D </a:t>
            </a:r>
            <a:r>
              <a:rPr lang="en-US" altLang="en-US" sz="1050" dirty="0">
                <a:solidFill>
                  <a:srgbClr val="000000"/>
                </a:solidFill>
                <a:latin typeface="Arial" panose="020B0604020202020204" pitchFamily="34" charset="0"/>
              </a:rPr>
              <a:t>approach and become involved.</a:t>
            </a:r>
          </a:p>
          <a:p>
            <a:pPr lvl="0">
              <a:lnSpc>
                <a:spcPct val="90000"/>
              </a:lnSpc>
            </a:pPr>
            <a:endParaRPr lang="en-US" altLang="en-US" sz="1050" dirty="0">
              <a:solidFill>
                <a:srgbClr val="000000"/>
              </a:solidFill>
              <a:latin typeface="Arial" panose="020B0604020202020204" pitchFamily="34" charset="0"/>
            </a:endParaRPr>
          </a:p>
          <a:p>
            <a:pPr lvl="0">
              <a:lnSpc>
                <a:spcPct val="90000"/>
              </a:lnSpc>
            </a:pPr>
            <a:r>
              <a:rPr lang="en-US" altLang="en-US" sz="1200" dirty="0">
                <a:solidFill>
                  <a:srgbClr val="000000"/>
                </a:solidFill>
                <a:latin typeface="Arial" panose="020B0604020202020204" pitchFamily="34" charset="0"/>
              </a:rPr>
              <a:t>Executive sponsor—a senior person who will introduce and conclude the </a:t>
            </a:r>
            <a:r>
              <a:rPr lang="en-US" altLang="en-US" sz="1200" dirty="0" smtClean="0">
                <a:solidFill>
                  <a:srgbClr val="000000"/>
                </a:solidFill>
                <a:latin typeface="Arial" panose="020B0604020202020204" pitchFamily="34" charset="0"/>
              </a:rPr>
              <a:t>J A D </a:t>
            </a:r>
            <a:r>
              <a:rPr lang="en-US" altLang="en-US" sz="1200" dirty="0">
                <a:solidFill>
                  <a:srgbClr val="000000"/>
                </a:solidFill>
                <a:latin typeface="Arial" panose="020B0604020202020204" pitchFamily="34" charset="0"/>
              </a:rPr>
              <a:t>session.</a:t>
            </a:r>
          </a:p>
          <a:p>
            <a:pPr lvl="0">
              <a:lnSpc>
                <a:spcPct val="90000"/>
              </a:lnSpc>
            </a:pPr>
            <a:endParaRPr lang="en-US" altLang="en-US" sz="1200" dirty="0">
              <a:solidFill>
                <a:srgbClr val="000000"/>
              </a:solidFill>
              <a:latin typeface="Arial" panose="020B0604020202020204" pitchFamily="34" charset="0"/>
            </a:endParaRPr>
          </a:p>
          <a:p>
            <a:pPr lvl="0">
              <a:lnSpc>
                <a:spcPct val="90000"/>
              </a:lnSpc>
            </a:pPr>
            <a:r>
              <a:rPr lang="en-US" altLang="en-US" sz="1200" dirty="0">
                <a:solidFill>
                  <a:srgbClr val="000000"/>
                </a:solidFill>
                <a:latin typeface="Arial" panose="020B0604020202020204" pitchFamily="34" charset="0"/>
              </a:rPr>
              <a:t>IS Analyst—gives an expert opinion about any disproportionate costs of solutions proposed. </a:t>
            </a:r>
          </a:p>
          <a:p>
            <a:pPr lvl="0">
              <a:lnSpc>
                <a:spcPct val="90000"/>
              </a:lnSpc>
            </a:pPr>
            <a:endParaRPr lang="en-US" altLang="en-US" sz="1200" dirty="0">
              <a:solidFill>
                <a:srgbClr val="000000"/>
              </a:solidFill>
              <a:latin typeface="Arial" panose="020B0604020202020204" pitchFamily="34" charset="0"/>
            </a:endParaRPr>
          </a:p>
          <a:p>
            <a:pPr lvl="0">
              <a:lnSpc>
                <a:spcPct val="90000"/>
              </a:lnSpc>
            </a:pPr>
            <a:r>
              <a:rPr lang="en-US" altLang="en-US" sz="1200" dirty="0">
                <a:solidFill>
                  <a:srgbClr val="000000"/>
                </a:solidFill>
                <a:latin typeface="Arial" panose="020B0604020202020204" pitchFamily="34" charset="0"/>
              </a:rPr>
              <a:t>Users—those who can articulate the information they need to perform their jobs, as well as what they desire in a new or improved computer system.</a:t>
            </a:r>
          </a:p>
          <a:p>
            <a:pPr lvl="0">
              <a:lnSpc>
                <a:spcPct val="90000"/>
              </a:lnSpc>
            </a:pPr>
            <a:endParaRPr lang="en-US" altLang="en-US" sz="1200" dirty="0">
              <a:solidFill>
                <a:srgbClr val="000000"/>
              </a:solidFill>
              <a:latin typeface="Arial" panose="020B0604020202020204" pitchFamily="34" charset="0"/>
            </a:endParaRPr>
          </a:p>
          <a:p>
            <a:pPr lvl="0">
              <a:lnSpc>
                <a:spcPct val="90000"/>
              </a:lnSpc>
            </a:pPr>
            <a:r>
              <a:rPr lang="en-US" altLang="en-US" sz="1200" dirty="0">
                <a:solidFill>
                  <a:srgbClr val="000000"/>
                </a:solidFill>
                <a:latin typeface="Arial" panose="020B0604020202020204" pitchFamily="34" charset="0"/>
              </a:rPr>
              <a:t>Session leader—someone who has excellent communication skills to facilitate appropriate interactions.</a:t>
            </a:r>
          </a:p>
          <a:p>
            <a:pPr lvl="0">
              <a:lnSpc>
                <a:spcPct val="90000"/>
              </a:lnSpc>
            </a:pPr>
            <a:endParaRPr lang="en-US" altLang="en-US" sz="1200" dirty="0">
              <a:solidFill>
                <a:srgbClr val="000000"/>
              </a:solidFill>
              <a:latin typeface="Arial" panose="020B0604020202020204" pitchFamily="34" charset="0"/>
            </a:endParaRPr>
          </a:p>
          <a:p>
            <a:pPr lvl="0">
              <a:lnSpc>
                <a:spcPct val="90000"/>
              </a:lnSpc>
            </a:pPr>
            <a:r>
              <a:rPr lang="en-US" altLang="en-US" sz="1200" dirty="0">
                <a:solidFill>
                  <a:srgbClr val="000000"/>
                </a:solidFill>
                <a:latin typeface="Arial" panose="020B0604020202020204" pitchFamily="34" charset="0"/>
              </a:rPr>
              <a:t>Observers—analysts or technical experts from other functional areas to offer technical explanations and advice.</a:t>
            </a:r>
          </a:p>
          <a:p>
            <a:pPr lvl="0">
              <a:lnSpc>
                <a:spcPct val="90000"/>
              </a:lnSpc>
            </a:pPr>
            <a:endParaRPr lang="en-US" altLang="en-US" sz="1200" dirty="0">
              <a:solidFill>
                <a:srgbClr val="000000"/>
              </a:solidFill>
              <a:latin typeface="Arial" panose="020B0604020202020204" pitchFamily="34" charset="0"/>
            </a:endParaRPr>
          </a:p>
          <a:p>
            <a:pPr lvl="0">
              <a:lnSpc>
                <a:spcPct val="90000"/>
              </a:lnSpc>
            </a:pPr>
            <a:r>
              <a:rPr lang="en-US" altLang="en-US" sz="1200" dirty="0">
                <a:solidFill>
                  <a:srgbClr val="000000"/>
                </a:solidFill>
                <a:latin typeface="Arial" panose="020B0604020202020204" pitchFamily="34" charset="0"/>
              </a:rPr>
              <a:t>Scribe—formally writes down everything that is done.</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959174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Hold offsite to minimize the daily distractions and responsibilities of the participants’ regular work.</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Do not hold the session unless everyone can attend. An agenda should be given out before the meeting so the participants know what to expect. If possible, an orientation meeting can be held.</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960088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Some organizations have estimated a 15 percent time savings over traditional.</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Helps users become involved early in systems projects and treats their feedback seriously.</a:t>
            </a:r>
          </a:p>
          <a:p>
            <a:pPr lvl="0"/>
            <a:r>
              <a:rPr lang="en-US" altLang="en-US" dirty="0">
                <a:solidFill>
                  <a:srgbClr val="000000"/>
                </a:solidFill>
                <a:latin typeface="Arial" panose="020B0604020202020204" pitchFamily="34" charset="0"/>
              </a:rPr>
              <a:t> </a:t>
            </a:r>
          </a:p>
          <a:p>
            <a:pPr lvl="0"/>
            <a:r>
              <a:rPr lang="en-US" altLang="en-US" dirty="0">
                <a:solidFill>
                  <a:srgbClr val="000000"/>
                </a:solidFill>
                <a:latin typeface="Arial" panose="020B0604020202020204" pitchFamily="34" charset="0"/>
              </a:rPr>
              <a:t>Much like brainstorming which allows for creative idea production.</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8609975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It is not possible to do other activities concurrently or to time-shift any activities, as is typically done in one-to-one interviewing.</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It is a judgmental decision if the organization is truly committed to, and prepared for, this approach.</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1248675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Attitudes—what people in the organization say they want.</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Beliefs—what people think is actually true.</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Behavior—what organizational members do.</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Characteristics—properties of people or things.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9100721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7920535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Even when you write an open-ended question, it must be narrow enough to guide respondents to answer in a specific way.</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Use open-ended questions when it is impossible to list effectively all possible responses to a question.</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0195137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The information is as follows.</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1. Speed of completion is slow in open ended question and fast in closed ended question.</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2. Exploratory nature is high in open ended question and low in closed ended question.</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3. Breadth and depth is high in open ended question and low in closed ended question.</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4. Ease of preparation is easy in open ended question and difficult in closed ended question.</a:t>
            </a:r>
            <a:endParaRPr lang="en-US" sz="1200" dirty="0">
              <a:effectLst/>
              <a:latin typeface="Calibri" panose="020F0502020204030204" pitchFamily="34" charset="0"/>
              <a:ea typeface="Calibri" panose="020F0502020204030204" pitchFamily="34" charset="0"/>
            </a:endParaRPr>
          </a:p>
          <a:p>
            <a:r>
              <a:rPr lang="en-US" sz="1200" dirty="0">
                <a:effectLst/>
                <a:latin typeface="Times New Roman" panose="02020603050405020304" pitchFamily="18" charset="0"/>
                <a:ea typeface="Calibri" panose="020F0502020204030204" pitchFamily="34" charset="0"/>
              </a:rPr>
              <a:t>5. Ease of analysis is difficult in open ended question and easy in closed ended question.</a:t>
            </a:r>
            <a:endParaRPr lang="en-US" dirty="0"/>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0615944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Write questionnaires in the respondents own language usage.</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Simple – use the language of the respondents whenever possible.</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Specific – work at being specific rather then vague in wording.</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Short – keep questions short.</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Not patronizing – do not talk down to participants through low-level language choices.</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Free of bias – also means avoiding objectionable questions.</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Addressed to those who are knowledgeable – target questions to correct respondents.</a:t>
            </a:r>
          </a:p>
          <a:p>
            <a:pPr lvl="0"/>
            <a:endParaRPr lang="en-US" altLang="en-US" dirty="0">
              <a:solidFill>
                <a:srgbClr val="000000"/>
              </a:solidFill>
              <a:latin typeface="Arial" panose="020B0604020202020204" pitchFamily="34" charset="0"/>
            </a:endParaRP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966847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Scaling is the process of assigning numbers or other symbols to an attribute or characteristic for the purpose of measuring that attribute or characteristic.</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6633941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5864563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More complete analysis can be performed on interval scales.</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8491705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Questionnaires must be valid and reliable.</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7779843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Construction of scales is a serious task, which must consider the problems associated with their construction.</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8770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9531035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2837194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5811389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A well-designed, relevant questionnaire can help overcome some of the resistance to respond.</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3957543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You want respondents to feel as unthreatened by and interested in the questions being asked as possible, without getting overwrought about a particular issue. </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5178706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3828611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smtClean="0">
                <a:solidFill>
                  <a:srgbClr val="000000"/>
                </a:solidFill>
                <a:latin typeface="Arial" panose="020B0604020202020204" pitchFamily="34" charset="0"/>
              </a:rPr>
              <a:t>When you design questionnaires for the Web, apply the same rules you use when designing paper questionnaires.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6496414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Reminders can be sent. </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5962846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solidFill>
                  <a:srgbClr val="000000"/>
                </a:solidFill>
                <a:latin typeface="Arial" panose="020B0604020202020204" pitchFamily="34" charset="0"/>
                <a:cs typeface="Arial" panose="020B0604020202020204" pitchFamily="34" charset="0"/>
              </a:rPr>
              <a:t>Involves the client or customer.</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3348517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The six methods along with the diagrams are as follows.</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1. Simple ranking. A form is shown.</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2. 100 token method. Five glasses filled with different levels of water is shown.</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3. MoScow method. A table with 4 rows with letters M, S, C, and W from top to bottom.</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4. Urgent or important matrix. A 2 by 2 matrix is shown. Upper left cell is labeled, I or N u. Upper right cell is labeled, I or U. Lower left cell is labeled, N I or N u. Lower right cell is labeled, N I or U.</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5. A H P. Two connected tree diagrams.</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6. Q sort. 8 piles showing increasing grid from bottom to top.</a:t>
            </a:r>
            <a:endParaRPr lang="en-US" sz="1200" dirty="0">
              <a:effectLst/>
              <a:latin typeface="Calibri" panose="020F0502020204030204" pitchFamily="34" charset="0"/>
              <a:ea typeface="Calibri" panose="020F0502020204030204" pitchFamily="34" charset="0"/>
            </a:endParaRP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8531603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021267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3157592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200" b="0" i="0" u="none" strike="noStrike" baseline="0" dirty="0">
                <a:latin typeface="TimesLTPro-Italic"/>
              </a:rPr>
              <a:t>Must </a:t>
            </a:r>
            <a:r>
              <a:rPr lang="en-US" sz="1200" b="0" i="0" u="none" strike="noStrike" baseline="0" dirty="0">
                <a:latin typeface="TimesLTPro-Roman"/>
              </a:rPr>
              <a:t>means that a requirement must be completed for the project to be considered a success. </a:t>
            </a:r>
          </a:p>
          <a:p>
            <a:pPr algn="l"/>
            <a:endParaRPr lang="en-US" sz="1200" b="0" i="0" u="none" strike="noStrike" baseline="0" dirty="0">
              <a:latin typeface="TimesLTPro-Italic"/>
            </a:endParaRPr>
          </a:p>
          <a:p>
            <a:pPr algn="l"/>
            <a:r>
              <a:rPr lang="en-US" sz="1200" b="0" i="0" u="none" strike="noStrike" baseline="0" dirty="0">
                <a:latin typeface="TimesLTPro-Italic"/>
              </a:rPr>
              <a:t>Should </a:t>
            </a:r>
            <a:r>
              <a:rPr lang="en-US" sz="1200" b="0" i="0" u="none" strike="noStrike" baseline="0" dirty="0">
                <a:latin typeface="TimesLTPro-Roman"/>
              </a:rPr>
              <a:t>means that the requirement should be included if there is time and money available to do so, but if they are not,</a:t>
            </a:r>
          </a:p>
          <a:p>
            <a:pPr algn="l"/>
            <a:r>
              <a:rPr lang="en-US" sz="1200" b="0" i="0" u="none" strike="noStrike" baseline="0" dirty="0">
                <a:latin typeface="TimesLTPro-Roman"/>
              </a:rPr>
              <a:t>the project can still be deemed a success. </a:t>
            </a:r>
          </a:p>
          <a:p>
            <a:pPr algn="l"/>
            <a:endParaRPr lang="en-US" sz="1200" b="0" i="0" u="none" strike="noStrike" baseline="0" dirty="0">
              <a:latin typeface="TimesLTPro-Italic"/>
            </a:endParaRPr>
          </a:p>
          <a:p>
            <a:pPr algn="l"/>
            <a:r>
              <a:rPr lang="en-US" sz="1200" b="0" i="0" u="none" strike="noStrike" baseline="0" dirty="0">
                <a:latin typeface="TimesLTPro-Italic"/>
              </a:rPr>
              <a:t>Could </a:t>
            </a:r>
            <a:r>
              <a:rPr lang="en-US" sz="1200" b="0" i="0" u="none" strike="noStrike" baseline="0" dirty="0">
                <a:latin typeface="TimesLTPro-Roman"/>
              </a:rPr>
              <a:t>means that after all the must and should categories have been completed, a requirement could be considered. It might add some value but does not have to be included. </a:t>
            </a:r>
          </a:p>
          <a:p>
            <a:pPr algn="l"/>
            <a:endParaRPr lang="en-US" sz="1200" b="0" i="0" u="none" strike="noStrike" baseline="0" dirty="0">
              <a:latin typeface="TimesLTPro-Italic"/>
            </a:endParaRPr>
          </a:p>
          <a:p>
            <a:pPr algn="l"/>
            <a:r>
              <a:rPr lang="en-US" sz="1200" b="0" i="0" u="none" strike="noStrike" baseline="0" dirty="0">
                <a:latin typeface="TimesLTPro-Italic"/>
              </a:rPr>
              <a:t>Won’t </a:t>
            </a:r>
            <a:r>
              <a:rPr lang="en-US" sz="1200" b="0" i="0" u="none" strike="noStrike" baseline="0" dirty="0">
                <a:latin typeface="TimesLTPro-Roman"/>
              </a:rPr>
              <a:t>requirements are those that will not be adopted at this time.</a:t>
            </a:r>
            <a:endParaRPr lang="en-US" altLang="en-US" i="0" dirty="0">
              <a:solidFill>
                <a:srgbClr val="000000"/>
              </a:solidFill>
              <a:latin typeface="Arial" panose="020B0604020202020204" pitchFamily="34" charset="0"/>
            </a:endParaRP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1482760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Using a simple grid, the matrix defines tasks according to their importance and urgency.</a:t>
            </a:r>
            <a:endParaRPr lang="en-US" altLang="en-US" sz="1100" b="1" dirty="0">
              <a:solidFill>
                <a:srgbClr val="000000"/>
              </a:solidFill>
              <a:latin typeface="Arial" panose="020B0604020202020204" pitchFamily="34" charset="0"/>
              <a:cs typeface="Arial" panose="020B0604020202020204" pitchFamily="34" charset="0"/>
            </a:endParaRP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2525917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A metaphor for this type of method is similar to the NCAA March Madness basketball event where the winners move up to play another game and the losers drop out.</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6097132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The cards are distributed in a normal distribution. In an example of 24 requirements, the piles from the right (most important) to the left (least important) should hold 2, 5, 10, 5, 2, respectively.</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7734406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1424164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3738085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71</a:t>
            </a:fld>
            <a:endParaRPr lang="en-US" dirty="0"/>
          </a:p>
        </p:txBody>
      </p:sp>
    </p:spTree>
    <p:extLst>
      <p:ext uri="{BB962C8B-B14F-4D97-AF65-F5344CB8AC3E}">
        <p14:creationId xmlns:p14="http://schemas.microsoft.com/office/powerpoint/2010/main" val="124403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9"/>
            <a:ext cx="3657600" cy="1262062"/>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
        <p:nvSpPr>
          <p:cNvPr id="3" name="Content Placeholder 2">
            <a:extLst>
              <a:ext uri="{FF2B5EF4-FFF2-40B4-BE49-F238E27FC236}">
                <a16:creationId xmlns:a16="http://schemas.microsoft.com/office/drawing/2014/main" id="{A13192F1-5420-4735-B9E5-A0EE76B4D8A1}"/>
              </a:ext>
            </a:extLst>
          </p:cNvPr>
          <p:cNvSpPr>
            <a:spLocks noGrp="1"/>
          </p:cNvSpPr>
          <p:nvPr>
            <p:ph sz="quarter" idx="18"/>
          </p:nvPr>
        </p:nvSpPr>
        <p:spPr>
          <a:xfrm>
            <a:off x="5400675" y="4867275"/>
            <a:ext cx="3209925" cy="1009650"/>
          </a:xfrm>
        </p:spPr>
        <p:txBody>
          <a:bodyPr/>
          <a:lstStyle>
            <a:lvl3pPr marL="1143000" indent="-127000">
              <a:buFont typeface="Arial" panose="020B0604020202020204" pitchFamily="34" charset="0"/>
              <a:buChar cha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487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Title and 3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93309"/>
            <a:ext cx="8229600" cy="387941"/>
          </a:xfrm>
        </p:spPr>
        <p:txBody>
          <a:bodyPr tIns="0" bIns="0"/>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0" name="Content Placeholder 7">
            <a:extLst>
              <a:ext uri="{FF2B5EF4-FFF2-40B4-BE49-F238E27FC236}">
                <a16:creationId xmlns:a16="http://schemas.microsoft.com/office/drawing/2014/main" id="{F134B295-1575-464D-B039-45FC77F6E904}"/>
              </a:ext>
            </a:extLst>
          </p:cNvPr>
          <p:cNvSpPr>
            <a:spLocks noGrp="1"/>
          </p:cNvSpPr>
          <p:nvPr>
            <p:ph sz="quarter" idx="14" hasCustomPrompt="1"/>
          </p:nvPr>
        </p:nvSpPr>
        <p:spPr>
          <a:xfrm>
            <a:off x="457200" y="2133650"/>
            <a:ext cx="8229600" cy="387941"/>
          </a:xfrm>
        </p:spPr>
        <p:txBody>
          <a:bodyPr tIns="0" bIns="0"/>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a:extLst>
              <a:ext uri="{FF2B5EF4-FFF2-40B4-BE49-F238E27FC236}">
                <a16:creationId xmlns:a16="http://schemas.microsoft.com/office/drawing/2014/main" id="{788D2154-32E7-48C3-AE35-FAD057E6FF9A}"/>
              </a:ext>
            </a:extLst>
          </p:cNvPr>
          <p:cNvSpPr>
            <a:spLocks noGrp="1"/>
          </p:cNvSpPr>
          <p:nvPr>
            <p:ph type="body" sz="quarter" idx="15"/>
          </p:nvPr>
        </p:nvSpPr>
        <p:spPr>
          <a:xfrm>
            <a:off x="457200" y="2757489"/>
            <a:ext cx="8229600" cy="449736"/>
          </a:xfrm>
        </p:spPr>
        <p:txBody>
          <a:bodyPr lIns="0" tIns="0" rIns="0" bIns="0"/>
          <a:lstStyle>
            <a:lvl1pPr marL="0" indent="0">
              <a:buNone/>
              <a:defRPr sz="1800">
                <a:latin typeface="+mn-lt"/>
                <a:cs typeface="Arial" panose="020B0604020202020204" pitchFamily="34" charset="0"/>
              </a:defRPr>
            </a:lvl1pPr>
            <a:lvl2pPr indent="0">
              <a:buNone/>
              <a:defRPr sz="1800">
                <a:latin typeface="+mn-lt"/>
                <a:cs typeface="Arial" panose="020B0604020202020204" pitchFamily="34" charset="0"/>
              </a:defRPr>
            </a:lvl2pPr>
            <a:lvl3pPr indent="0">
              <a:buNone/>
              <a:defRPr sz="1800">
                <a:latin typeface="+mn-lt"/>
                <a:cs typeface="Arial" panose="020B0604020202020204" pitchFamily="34" charset="0"/>
              </a:defRPr>
            </a:lvl3pPr>
            <a:lvl4pPr indent="0">
              <a:buNone/>
              <a:defRPr sz="1800">
                <a:latin typeface="+mn-lt"/>
                <a:cs typeface="Arial" panose="020B0604020202020204" pitchFamily="34" charset="0"/>
              </a:defRPr>
            </a:lvl4pPr>
            <a:lvl5pPr indent="0">
              <a:buNone/>
              <a:defRPr sz="18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Content Placeholder 14">
            <a:extLst>
              <a:ext uri="{FF2B5EF4-FFF2-40B4-BE49-F238E27FC236}">
                <a16:creationId xmlns:a16="http://schemas.microsoft.com/office/drawing/2014/main" id="{D1DBECC9-51D5-4567-8B86-67F6BDA67BE2}"/>
              </a:ext>
            </a:extLst>
          </p:cNvPr>
          <p:cNvSpPr>
            <a:spLocks noGrp="1"/>
          </p:cNvSpPr>
          <p:nvPr>
            <p:ph sz="quarter" idx="16"/>
          </p:nvPr>
        </p:nvSpPr>
        <p:spPr>
          <a:xfrm>
            <a:off x="457200" y="3429000"/>
            <a:ext cx="8229600" cy="487363"/>
          </a:xfrm>
        </p:spPr>
        <p:txBody>
          <a:bodyPr lIns="0" tIns="0" rIns="0" bIns="0"/>
          <a:lstStyle>
            <a:lvl1pPr marL="0" indent="0">
              <a:buNone/>
              <a:defRPr sz="1800">
                <a:latin typeface="+mn-lt"/>
                <a:cs typeface="Arial" panose="020B0604020202020204" pitchFamily="34" charset="0"/>
              </a:defRPr>
            </a:lvl1pPr>
            <a:lvl2pPr>
              <a:defRPr sz="1800">
                <a:latin typeface="+mn-lt"/>
                <a:cs typeface="Arial" panose="020B0604020202020204" pitchFamily="34" charset="0"/>
              </a:defRPr>
            </a:lvl2pPr>
            <a:lvl3pPr>
              <a:defRPr sz="1800">
                <a:latin typeface="+mn-lt"/>
                <a:cs typeface="Arial" panose="020B0604020202020204" pitchFamily="34" charset="0"/>
              </a:defRPr>
            </a:lvl3pPr>
            <a:lvl4pPr>
              <a:defRPr sz="1800">
                <a:latin typeface="+mn-lt"/>
                <a:cs typeface="Arial" panose="020B0604020202020204" pitchFamily="34" charset="0"/>
              </a:defRPr>
            </a:lvl4pPr>
            <a:lvl5pPr>
              <a:defRPr sz="18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665944349"/>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Title and 4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93309"/>
            <a:ext cx="8229600" cy="387941"/>
          </a:xfrm>
        </p:spPr>
        <p:txBody>
          <a:bodyPr tIns="0" bIns="0"/>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0" name="Content Placeholder 7">
            <a:extLst>
              <a:ext uri="{FF2B5EF4-FFF2-40B4-BE49-F238E27FC236}">
                <a16:creationId xmlns:a16="http://schemas.microsoft.com/office/drawing/2014/main" id="{F134B295-1575-464D-B039-45FC77F6E904}"/>
              </a:ext>
            </a:extLst>
          </p:cNvPr>
          <p:cNvSpPr>
            <a:spLocks noGrp="1"/>
          </p:cNvSpPr>
          <p:nvPr>
            <p:ph sz="quarter" idx="14" hasCustomPrompt="1"/>
          </p:nvPr>
        </p:nvSpPr>
        <p:spPr>
          <a:xfrm>
            <a:off x="457200" y="2133650"/>
            <a:ext cx="8229600" cy="387941"/>
          </a:xfrm>
        </p:spPr>
        <p:txBody>
          <a:bodyPr tIns="0" bIns="0"/>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a:extLst>
              <a:ext uri="{FF2B5EF4-FFF2-40B4-BE49-F238E27FC236}">
                <a16:creationId xmlns:a16="http://schemas.microsoft.com/office/drawing/2014/main" id="{788D2154-32E7-48C3-AE35-FAD057E6FF9A}"/>
              </a:ext>
            </a:extLst>
          </p:cNvPr>
          <p:cNvSpPr>
            <a:spLocks noGrp="1"/>
          </p:cNvSpPr>
          <p:nvPr>
            <p:ph type="body" sz="quarter" idx="15"/>
          </p:nvPr>
        </p:nvSpPr>
        <p:spPr>
          <a:xfrm>
            <a:off x="457200" y="2757489"/>
            <a:ext cx="8229600" cy="449736"/>
          </a:xfrm>
        </p:spPr>
        <p:txBody>
          <a:bodyPr lIns="0" tIns="0" rIns="0" bIns="0"/>
          <a:lstStyle>
            <a:lvl1pPr marL="0" indent="0">
              <a:buNone/>
              <a:defRPr sz="1800">
                <a:latin typeface="+mn-lt"/>
                <a:cs typeface="Arial" panose="020B0604020202020204" pitchFamily="34" charset="0"/>
              </a:defRPr>
            </a:lvl1pPr>
            <a:lvl2pPr indent="0">
              <a:buNone/>
              <a:defRPr sz="1800">
                <a:latin typeface="+mn-lt"/>
                <a:cs typeface="Arial" panose="020B0604020202020204" pitchFamily="34" charset="0"/>
              </a:defRPr>
            </a:lvl2pPr>
            <a:lvl3pPr indent="0">
              <a:buNone/>
              <a:defRPr sz="1800">
                <a:latin typeface="+mn-lt"/>
                <a:cs typeface="Arial" panose="020B0604020202020204" pitchFamily="34" charset="0"/>
              </a:defRPr>
            </a:lvl3pPr>
            <a:lvl4pPr indent="0">
              <a:buNone/>
              <a:defRPr sz="1800">
                <a:latin typeface="+mn-lt"/>
                <a:cs typeface="Arial" panose="020B0604020202020204" pitchFamily="34" charset="0"/>
              </a:defRPr>
            </a:lvl4pPr>
            <a:lvl5pPr indent="0">
              <a:buNone/>
              <a:defRPr sz="18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Content Placeholder 14">
            <a:extLst>
              <a:ext uri="{FF2B5EF4-FFF2-40B4-BE49-F238E27FC236}">
                <a16:creationId xmlns:a16="http://schemas.microsoft.com/office/drawing/2014/main" id="{D1DBECC9-51D5-4567-8B86-67F6BDA67BE2}"/>
              </a:ext>
            </a:extLst>
          </p:cNvPr>
          <p:cNvSpPr>
            <a:spLocks noGrp="1"/>
          </p:cNvSpPr>
          <p:nvPr>
            <p:ph sz="quarter" idx="16"/>
          </p:nvPr>
        </p:nvSpPr>
        <p:spPr>
          <a:xfrm>
            <a:off x="457200" y="3429000"/>
            <a:ext cx="8229600" cy="487363"/>
          </a:xfrm>
        </p:spPr>
        <p:txBody>
          <a:bodyPr lIns="0" tIns="0" rIns="0" bIns="0"/>
          <a:lstStyle>
            <a:lvl1pPr marL="0" indent="0">
              <a:buNone/>
              <a:defRPr sz="1800">
                <a:latin typeface="+mn-lt"/>
                <a:cs typeface="Arial" panose="020B0604020202020204" pitchFamily="34" charset="0"/>
              </a:defRPr>
            </a:lvl1pPr>
            <a:lvl2pPr>
              <a:defRPr sz="1800">
                <a:latin typeface="+mn-lt"/>
                <a:cs typeface="Arial" panose="020B0604020202020204" pitchFamily="34" charset="0"/>
              </a:defRPr>
            </a:lvl2pPr>
            <a:lvl3pPr>
              <a:defRPr sz="1800">
                <a:latin typeface="+mn-lt"/>
                <a:cs typeface="Arial" panose="020B0604020202020204" pitchFamily="34" charset="0"/>
              </a:defRPr>
            </a:lvl3pPr>
            <a:lvl4pPr>
              <a:defRPr sz="1800">
                <a:latin typeface="+mn-lt"/>
                <a:cs typeface="Arial" panose="020B0604020202020204" pitchFamily="34" charset="0"/>
              </a:defRPr>
            </a:lvl4pPr>
            <a:lvl5pPr>
              <a:defRPr sz="18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5">
            <a:extLst>
              <a:ext uri="{FF2B5EF4-FFF2-40B4-BE49-F238E27FC236}">
                <a16:creationId xmlns:a16="http://schemas.microsoft.com/office/drawing/2014/main" id="{9613E62D-CC5C-4655-80D4-20A09AE6BBC1}"/>
              </a:ext>
            </a:extLst>
          </p:cNvPr>
          <p:cNvSpPr>
            <a:spLocks noGrp="1"/>
          </p:cNvSpPr>
          <p:nvPr>
            <p:ph type="body" sz="quarter" idx="17"/>
          </p:nvPr>
        </p:nvSpPr>
        <p:spPr>
          <a:xfrm>
            <a:off x="457200" y="4138138"/>
            <a:ext cx="8229600" cy="449736"/>
          </a:xfrm>
        </p:spPr>
        <p:txBody>
          <a:bodyPr lIns="0" tIns="0" rIns="0" bIns="0"/>
          <a:lstStyle>
            <a:lvl1pPr marL="0" indent="0">
              <a:buNone/>
              <a:defRPr sz="1800">
                <a:latin typeface="+mn-lt"/>
                <a:cs typeface="Arial" panose="020B0604020202020204" pitchFamily="34" charset="0"/>
              </a:defRPr>
            </a:lvl1pPr>
            <a:lvl2pPr indent="0">
              <a:buNone/>
              <a:defRPr sz="1800">
                <a:latin typeface="+mn-lt"/>
                <a:cs typeface="Arial" panose="020B0604020202020204" pitchFamily="34" charset="0"/>
              </a:defRPr>
            </a:lvl2pPr>
            <a:lvl3pPr indent="0">
              <a:buNone/>
              <a:defRPr sz="1800">
                <a:latin typeface="+mn-lt"/>
                <a:cs typeface="Arial" panose="020B0604020202020204" pitchFamily="34" charset="0"/>
              </a:defRPr>
            </a:lvl3pPr>
            <a:lvl4pPr indent="0">
              <a:buNone/>
              <a:defRPr sz="1800">
                <a:latin typeface="+mn-lt"/>
                <a:cs typeface="Arial" panose="020B0604020202020204" pitchFamily="34" charset="0"/>
              </a:defRPr>
            </a:lvl4pPr>
            <a:lvl5pPr indent="0">
              <a:buNone/>
              <a:defRPr sz="18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14">
            <a:extLst>
              <a:ext uri="{FF2B5EF4-FFF2-40B4-BE49-F238E27FC236}">
                <a16:creationId xmlns:a16="http://schemas.microsoft.com/office/drawing/2014/main" id="{4FF79913-B31B-4969-A074-439CCBADEF24}"/>
              </a:ext>
            </a:extLst>
          </p:cNvPr>
          <p:cNvSpPr>
            <a:spLocks noGrp="1"/>
          </p:cNvSpPr>
          <p:nvPr>
            <p:ph sz="quarter" idx="18"/>
          </p:nvPr>
        </p:nvSpPr>
        <p:spPr>
          <a:xfrm>
            <a:off x="457200" y="4809649"/>
            <a:ext cx="8229600" cy="487363"/>
          </a:xfrm>
        </p:spPr>
        <p:txBody>
          <a:bodyPr lIns="0" tIns="0" rIns="0" bIns="0"/>
          <a:lstStyle>
            <a:lvl1pPr marL="0" indent="0">
              <a:buNone/>
              <a:defRPr sz="1800">
                <a:latin typeface="+mn-lt"/>
                <a:cs typeface="Arial" panose="020B0604020202020204" pitchFamily="34" charset="0"/>
              </a:defRPr>
            </a:lvl1pPr>
            <a:lvl2pPr>
              <a:defRPr sz="1800">
                <a:latin typeface="+mn-lt"/>
                <a:cs typeface="Arial" panose="020B0604020202020204" pitchFamily="34" charset="0"/>
              </a:defRPr>
            </a:lvl2pPr>
            <a:lvl3pPr>
              <a:defRPr sz="1800">
                <a:latin typeface="+mn-lt"/>
                <a:cs typeface="Arial" panose="020B0604020202020204" pitchFamily="34" charset="0"/>
              </a:defRPr>
            </a:lvl3pPr>
            <a:lvl4pPr>
              <a:defRPr sz="1800">
                <a:latin typeface="+mn-lt"/>
                <a:cs typeface="Arial" panose="020B0604020202020204" pitchFamily="34" charset="0"/>
              </a:defRPr>
            </a:lvl4pPr>
            <a:lvl5pPr>
              <a:defRPr sz="18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65991413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image" Target="../media/image1.jp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theme" Target="../theme/theme2.xml"/><Relationship Id="rId2" Type="http://schemas.openxmlformats.org/officeDocument/2006/relationships/slideLayout" Target="../slideLayouts/slideLayout3.xml"/><Relationship Id="rId16" Type="http://schemas.openxmlformats.org/officeDocument/2006/relationships/slideLayout" Target="../slideLayouts/slideLayout17.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IN" sz="12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2024, 2019, 2014 </a:t>
            </a:r>
            <a:r>
              <a:rPr lang="en-US" altLang="en-US" sz="1200" b="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8"/>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82" r:id="rId2"/>
    <p:sldLayoutId id="2147483650" r:id="rId3"/>
    <p:sldLayoutId id="2147483676" r:id="rId4"/>
    <p:sldLayoutId id="2147483677" r:id="rId5"/>
    <p:sldLayoutId id="2147483678" r:id="rId6"/>
    <p:sldLayoutId id="2147483679" r:id="rId7"/>
    <p:sldLayoutId id="2147483680" r:id="rId8"/>
    <p:sldLayoutId id="2147483681" r:id="rId9"/>
    <p:sldLayoutId id="2147483683" r:id="rId10"/>
    <p:sldLayoutId id="2147483684" r:id="rId11"/>
    <p:sldLayoutId id="2147483671" r:id="rId12"/>
    <p:sldLayoutId id="2147483673" r:id="rId13"/>
    <p:sldLayoutId id="2147483670" r:id="rId14"/>
    <p:sldLayoutId id="2147483669" r:id="rId15"/>
    <p:sldLayoutId id="2147483655"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image" Target="../media/image9.emf"/><Relationship Id="rId7" Type="http://schemas.openxmlformats.org/officeDocument/2006/relationships/image" Target="../media/image13.emf"/><Relationship Id="rId2" Type="http://schemas.openxmlformats.org/officeDocument/2006/relationships/notesSlide" Target="../notesSlides/notesSlide58.xml"/><Relationship Id="rId1" Type="http://schemas.openxmlformats.org/officeDocument/2006/relationships/slideLayout" Target="../slideLayouts/slideLayout3.xml"/><Relationship Id="rId6" Type="http://schemas.openxmlformats.org/officeDocument/2006/relationships/image" Target="../media/image12.emf"/><Relationship Id="rId5" Type="http://schemas.openxmlformats.org/officeDocument/2006/relationships/image" Target="../media/image11.emf"/><Relationship Id="rId4" Type="http://schemas.openxmlformats.org/officeDocument/2006/relationships/image" Target="../media/image10.emf"/></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0.xml"/><Relationship Id="rId1" Type="http://schemas.openxmlformats.org/officeDocument/2006/relationships/slideLayout" Target="../slideLayouts/slideLayout4.xml"/><Relationship Id="rId4" Type="http://schemas.openxmlformats.org/officeDocument/2006/relationships/image" Target="../media/image1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xmlns="" val="0"/>
              </a:ext>
            </a:extLst>
          </p:cNvPr>
          <p:cNvSpPr>
            <a:spLocks noGrp="1"/>
          </p:cNvSpPr>
          <p:nvPr>
            <p:ph type="title"/>
          </p:nvPr>
        </p:nvSpPr>
        <p:spPr>
          <a:xfrm>
            <a:off x="457200" y="193170"/>
            <a:ext cx="8305800" cy="888424"/>
          </a:xfrm>
        </p:spPr>
        <p:txBody>
          <a:bodyPr anchor="ctr"/>
          <a:lstStyle/>
          <a:p>
            <a:pPr>
              <a:lnSpc>
                <a:spcPct val="90000"/>
              </a:lnSpc>
              <a:spcBef>
                <a:spcPts val="600"/>
              </a:spcBef>
              <a:spcAft>
                <a:spcPts val="125"/>
              </a:spcAft>
            </a:pPr>
            <a:r>
              <a:rPr lang="en-US" dirty="0"/>
              <a:t>Systems Analysis &amp; Design</a:t>
            </a:r>
            <a:endParaRPr lang="en-US" dirty="0">
              <a:solidFill>
                <a:schemeClr val="tx2"/>
              </a:solidFill>
            </a:endParaRP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xmlns="" val="0"/>
              </a:ext>
            </a:extLst>
          </p:cNvPr>
          <p:cNvSpPr>
            <a:spLocks noGrp="1"/>
          </p:cNvSpPr>
          <p:nvPr>
            <p:ph type="body" idx="1"/>
          </p:nvPr>
        </p:nvSpPr>
        <p:spPr>
          <a:xfrm>
            <a:off x="457200" y="1167996"/>
            <a:ext cx="8229600" cy="403109"/>
          </a:xfrm>
        </p:spPr>
        <p:txBody>
          <a:bodyPr anchor="ctr"/>
          <a:lstStyle/>
          <a:p>
            <a:r>
              <a:rPr lang="en-US" dirty="0"/>
              <a:t>Eleventh</a:t>
            </a:r>
            <a:r>
              <a:rPr lang="en-US" dirty="0">
                <a:latin typeface="+mn-lt"/>
              </a:rPr>
              <a:t> Edition</a:t>
            </a:r>
          </a:p>
        </p:txBody>
      </p:sp>
      <p:pic>
        <p:nvPicPr>
          <p:cNvPr id="4" name="Picture 3" descr="Front Cover: Systems Analysis and Design, Eleventh Edition by Kendall and Kendall.">
            <a:extLst>
              <a:ext uri="{FF2B5EF4-FFF2-40B4-BE49-F238E27FC236}">
                <a16:creationId xmlns:a16="http://schemas.microsoft.com/office/drawing/2014/main" id="{AAD60DB6-7CBC-A115-8F49-D7477962C035}"/>
              </a:ext>
            </a:extLst>
          </p:cNvPr>
          <p:cNvPicPr>
            <a:picLocks noChangeAspect="1"/>
          </p:cNvPicPr>
          <p:nvPr/>
        </p:nvPicPr>
        <p:blipFill>
          <a:blip r:embed="rId3"/>
          <a:stretch>
            <a:fillRect/>
          </a:stretch>
        </p:blipFill>
        <p:spPr>
          <a:xfrm>
            <a:off x="571356" y="1694527"/>
            <a:ext cx="3651821" cy="4523624"/>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xmlns="" val="0"/>
              </a:ext>
            </a:extLst>
          </p:cNvPr>
          <p:cNvSpPr>
            <a:spLocks noGrp="1"/>
          </p:cNvSpPr>
          <p:nvPr>
            <p:ph sz="quarter" idx="14"/>
          </p:nvPr>
        </p:nvSpPr>
        <p:spPr>
          <a:xfrm>
            <a:off x="5199018" y="1892642"/>
            <a:ext cx="3254854" cy="1199807"/>
          </a:xfrm>
        </p:spPr>
        <p:txBody>
          <a:bodyPr/>
          <a:lstStyle/>
          <a:p>
            <a:pPr marL="0"/>
            <a:r>
              <a:rPr lang="en-US" dirty="0"/>
              <a:t>Chapter # 4</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xmlns="" val="0"/>
              </a:ext>
            </a:extLst>
          </p:cNvPr>
          <p:cNvSpPr>
            <a:spLocks noGrp="1"/>
          </p:cNvSpPr>
          <p:nvPr>
            <p:ph sz="quarter" idx="15"/>
          </p:nvPr>
        </p:nvSpPr>
        <p:spPr>
          <a:xfrm>
            <a:off x="5199017" y="3315134"/>
            <a:ext cx="3254854" cy="1199806"/>
          </a:xfrm>
        </p:spPr>
        <p:txBody>
          <a:bodyPr/>
          <a:lstStyle/>
          <a:p>
            <a:r>
              <a:rPr lang="en-US" dirty="0"/>
              <a:t>Information Gathering: Interactive Methods</a:t>
            </a:r>
          </a:p>
        </p:txBody>
      </p:sp>
      <p:pic>
        <p:nvPicPr>
          <p:cNvPr id="12" name="Picture Placeholder 21" descr="Pearson Logo">
            <a:extLst>
              <a:ext uri="{FF2B5EF4-FFF2-40B4-BE49-F238E27FC236}">
                <a16:creationId xmlns:a16="http://schemas.microsoft.com/office/drawing/2014/main" id="{CF37FB16-D567-464F-82AB-B4CF4A031A4F}"/>
              </a:ext>
            </a:extLst>
          </p:cNvPr>
          <p:cNvPicPr>
            <a:picLocks noChangeAspect="1"/>
          </p:cNvPicPr>
          <p:nvPr/>
        </p:nvPicPr>
        <p:blipFill>
          <a:blip r:embed="rId4"/>
          <a:srcRect t="22152" b="22152"/>
          <a:stretch>
            <a:fillRect/>
          </a:stretch>
        </p:blipFill>
        <p:spPr>
          <a:xfrm>
            <a:off x="315677" y="6420639"/>
            <a:ext cx="1176574" cy="296443"/>
          </a:xfrm>
          <a:prstGeom prst="rect">
            <a:avLst/>
          </a:prstGeom>
          <a:noFill/>
          <a:ln>
            <a:noFill/>
          </a:ln>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xmlns="" val="0"/>
              </a:ext>
            </a:extLst>
          </p:cNvPr>
          <p:cNvSpPr>
            <a:spLocks noGrp="1"/>
          </p:cNvSpPr>
          <p:nvPr>
            <p:ph sz="quarter" idx="17"/>
          </p:nvPr>
        </p:nvSpPr>
        <p:spPr>
          <a:xfrm>
            <a:off x="2173288" y="6414520"/>
            <a:ext cx="6589712" cy="228600"/>
          </a:xfrm>
        </p:spPr>
        <p:txBody>
          <a:bodyPr/>
          <a:lstStyle/>
          <a:p>
            <a:pPr marL="0" indent="0"/>
            <a:r>
              <a:rPr lang="en-US" altLang="en-US" sz="1200" b="0" dirty="0">
                <a:latin typeface="Verdana"/>
                <a:ea typeface="Verdana" panose="020B0604030504040204" pitchFamily="34" charset="0"/>
                <a:cs typeface="Verdana" panose="020B0604030504040204" pitchFamily="34" charset="0"/>
              </a:rPr>
              <a:t>Copyright © </a:t>
            </a:r>
            <a:r>
              <a:rPr lang="en-US" noProof="0" dirty="0"/>
              <a:t>2024, 2019, 2014 </a:t>
            </a:r>
            <a:r>
              <a:rPr lang="en-US" altLang="en-US" sz="1200" b="0" dirty="0">
                <a:latin typeface="Verdana"/>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8013359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743C6BC-6123-3265-FC4D-EBACE04B6494}"/>
              </a:ext>
            </a:extLst>
          </p:cNvPr>
          <p:cNvSpPr>
            <a:spLocks noGrp="1"/>
          </p:cNvSpPr>
          <p:nvPr>
            <p:ph type="title"/>
          </p:nvPr>
        </p:nvSpPr>
        <p:spPr/>
        <p:txBody>
          <a:bodyPr/>
          <a:lstStyle/>
          <a:p>
            <a:r>
              <a:rPr lang="en-US" dirty="0"/>
              <a:t>Learning Objectives</a:t>
            </a:r>
          </a:p>
        </p:txBody>
      </p:sp>
      <p:sp>
        <p:nvSpPr>
          <p:cNvPr id="7" name="Content Placeholder 6">
            <a:extLst>
              <a:ext uri="{FF2B5EF4-FFF2-40B4-BE49-F238E27FC236}">
                <a16:creationId xmlns:a16="http://schemas.microsoft.com/office/drawing/2014/main" id="{2CEE16B6-C07A-2F80-CEF5-A4391EA36CE0}"/>
              </a:ext>
            </a:extLst>
          </p:cNvPr>
          <p:cNvSpPr>
            <a:spLocks noGrp="1"/>
          </p:cNvSpPr>
          <p:nvPr>
            <p:ph sz="quarter" idx="13"/>
          </p:nvPr>
        </p:nvSpPr>
        <p:spPr>
          <a:xfrm>
            <a:off x="457200" y="1556327"/>
            <a:ext cx="8013032" cy="4042615"/>
          </a:xfrm>
        </p:spPr>
        <p:txBody>
          <a:bodyPr/>
          <a:lstStyle/>
          <a:p>
            <a:pPr marL="0" lvl="0" indent="0">
              <a:spcBef>
                <a:spcPts val="0"/>
              </a:spcBef>
              <a:buClr>
                <a:schemeClr val="lt1"/>
              </a:buClr>
              <a:buSzPct val="25000"/>
              <a:buNone/>
              <a:tabLst>
                <a:tab pos="568325" algn="l"/>
              </a:tabLst>
            </a:pPr>
            <a:r>
              <a:rPr lang="en-US" b="1" dirty="0" smtClean="0">
                <a:solidFill>
                  <a:srgbClr val="007FA3"/>
                </a:solidFill>
              </a:rPr>
              <a:t>4.1</a:t>
            </a:r>
            <a:r>
              <a:rPr lang="en-US" dirty="0" smtClean="0"/>
              <a:t> </a:t>
            </a:r>
            <a:r>
              <a:rPr lang="en-US" dirty="0"/>
              <a:t>Learn the art of interviewing by constructing meaningful questions and conducting the interview.</a:t>
            </a:r>
          </a:p>
          <a:p>
            <a:pPr marL="0" lvl="0" indent="0" defTabSz="625475">
              <a:buClr>
                <a:schemeClr val="lt1"/>
              </a:buClr>
              <a:buSzPct val="25000"/>
              <a:buNone/>
            </a:pPr>
            <a:r>
              <a:rPr lang="en-US" b="1" dirty="0" smtClean="0">
                <a:solidFill>
                  <a:srgbClr val="007FA3"/>
                </a:solidFill>
              </a:rPr>
              <a:t>4.2</a:t>
            </a:r>
            <a:r>
              <a:rPr lang="en-US" dirty="0" smtClean="0"/>
              <a:t> </a:t>
            </a:r>
            <a:r>
              <a:rPr lang="en-US" dirty="0"/>
              <a:t>Understand the purpose of listening to user stories and why they are useful in systems analysis.</a:t>
            </a:r>
          </a:p>
          <a:p>
            <a:pPr marL="0" lvl="0" indent="0" defTabSz="625475">
              <a:buClr>
                <a:schemeClr val="lt1"/>
              </a:buClr>
              <a:buSzPct val="25000"/>
              <a:buNone/>
            </a:pPr>
            <a:r>
              <a:rPr lang="en-US" b="1" dirty="0" smtClean="0">
                <a:solidFill>
                  <a:srgbClr val="007FA3"/>
                </a:solidFill>
              </a:rPr>
              <a:t>4.3</a:t>
            </a:r>
            <a:r>
              <a:rPr lang="en-US" dirty="0" smtClean="0"/>
              <a:t> </a:t>
            </a:r>
            <a:r>
              <a:rPr lang="en-US" dirty="0"/>
              <a:t>Grasp the concept of joint application design (J</a:t>
            </a:r>
            <a:r>
              <a:rPr lang="en-US" sz="100" dirty="0"/>
              <a:t> </a:t>
            </a:r>
            <a:r>
              <a:rPr lang="en-US" dirty="0"/>
              <a:t>A</a:t>
            </a:r>
            <a:r>
              <a:rPr lang="en-US" sz="100" dirty="0"/>
              <a:t> </a:t>
            </a:r>
            <a:r>
              <a:rPr lang="en-US" dirty="0" smtClean="0"/>
              <a:t>D) and </a:t>
            </a:r>
            <a:r>
              <a:rPr lang="en-US" dirty="0"/>
              <a:t>when to use it,</a:t>
            </a:r>
          </a:p>
          <a:p>
            <a:pPr marL="0" lvl="0" indent="0" defTabSz="625475">
              <a:buClr>
                <a:schemeClr val="lt1"/>
              </a:buClr>
              <a:buSzPct val="25000"/>
              <a:buNone/>
            </a:pPr>
            <a:r>
              <a:rPr lang="en-US" b="1" dirty="0" smtClean="0">
                <a:solidFill>
                  <a:srgbClr val="007FA3"/>
                </a:solidFill>
              </a:rPr>
              <a:t>4.4</a:t>
            </a:r>
            <a:r>
              <a:rPr lang="en-US" dirty="0" smtClean="0"/>
              <a:t> </a:t>
            </a:r>
            <a:r>
              <a:rPr lang="en-US" dirty="0"/>
              <a:t>Design and administer effective questionnaires.</a:t>
            </a:r>
          </a:p>
          <a:p>
            <a:pPr marL="0" lvl="0" indent="0" defTabSz="625475">
              <a:buClr>
                <a:schemeClr val="lt1"/>
              </a:buClr>
              <a:buSzPct val="25000"/>
              <a:buNone/>
            </a:pPr>
            <a:r>
              <a:rPr lang="en-US" b="1" dirty="0" smtClean="0">
                <a:solidFill>
                  <a:srgbClr val="007FA3"/>
                </a:solidFill>
              </a:rPr>
              <a:t>4.5</a:t>
            </a:r>
            <a:r>
              <a:rPr lang="en-US" dirty="0" smtClean="0"/>
              <a:t> </a:t>
            </a:r>
            <a:r>
              <a:rPr lang="en-US" dirty="0"/>
              <a:t>Learn different ways to prioritize requirements.</a:t>
            </a:r>
          </a:p>
        </p:txBody>
      </p:sp>
    </p:spTree>
    <p:extLst>
      <p:ext uri="{BB962C8B-B14F-4D97-AF65-F5344CB8AC3E}">
        <p14:creationId xmlns:p14="http://schemas.microsoft.com/office/powerpoint/2010/main" val="12184256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EF090-2DED-43E4-E73F-23DC8FE399B9}"/>
              </a:ext>
            </a:extLst>
          </p:cNvPr>
          <p:cNvSpPr>
            <a:spLocks noGrp="1"/>
          </p:cNvSpPr>
          <p:nvPr>
            <p:ph type="title"/>
          </p:nvPr>
        </p:nvSpPr>
        <p:spPr/>
        <p:txBody>
          <a:bodyPr/>
          <a:lstStyle/>
          <a:p>
            <a:r>
              <a:rPr lang="en-US" altLang="en-US" sz="3200" dirty="0">
                <a:solidFill>
                  <a:schemeClr val="tx2"/>
                </a:solidFill>
                <a:sym typeface="Arial"/>
              </a:rPr>
              <a:t>Interactive Methods to Elicit Human Information Requirements</a:t>
            </a:r>
            <a:endParaRPr lang="en-US" sz="3200" dirty="0">
              <a:solidFill>
                <a:schemeClr val="tx2"/>
              </a:solidFill>
            </a:endParaRPr>
          </a:p>
        </p:txBody>
      </p:sp>
      <p:sp>
        <p:nvSpPr>
          <p:cNvPr id="3" name="Content Placeholder 2">
            <a:extLst>
              <a:ext uri="{FF2B5EF4-FFF2-40B4-BE49-F238E27FC236}">
                <a16:creationId xmlns:a16="http://schemas.microsoft.com/office/drawing/2014/main" id="{29D8A8D3-5674-9A02-5ACB-C25F6779C085}"/>
              </a:ext>
            </a:extLst>
          </p:cNvPr>
          <p:cNvSpPr>
            <a:spLocks noGrp="1"/>
          </p:cNvSpPr>
          <p:nvPr>
            <p:ph sz="quarter" idx="13"/>
          </p:nvPr>
        </p:nvSpPr>
        <p:spPr>
          <a:xfrm>
            <a:off x="457200" y="1556327"/>
            <a:ext cx="8229600" cy="2368559"/>
          </a:xfrm>
        </p:spPr>
        <p:txBody>
          <a:bodyPr/>
          <a:lstStyle/>
          <a:p>
            <a:pPr marL="255651" lvl="0" indent="-255651">
              <a:spcAft>
                <a:spcPct val="0"/>
              </a:spcAft>
              <a:buSzPts val="2400"/>
              <a:tabLst/>
            </a:pPr>
            <a:r>
              <a:rPr lang="en-US" altLang="en-US" dirty="0">
                <a:solidFill>
                  <a:srgbClr val="000000"/>
                </a:solidFill>
                <a:latin typeface="Arial (Body)"/>
              </a:rPr>
              <a:t>Interviewing</a:t>
            </a:r>
          </a:p>
          <a:p>
            <a:pPr marL="255651" lvl="0" indent="-255651">
              <a:spcAft>
                <a:spcPct val="0"/>
              </a:spcAft>
              <a:buSzPts val="2400"/>
              <a:tabLst/>
            </a:pPr>
            <a:r>
              <a:rPr lang="en-US" altLang="en-US" dirty="0">
                <a:solidFill>
                  <a:srgbClr val="000000"/>
                </a:solidFill>
                <a:latin typeface="Arial (Body)"/>
              </a:rPr>
              <a:t>Joint Application Design (J</a:t>
            </a:r>
            <a:r>
              <a:rPr lang="en-US" altLang="en-US" sz="100" dirty="0">
                <a:solidFill>
                  <a:srgbClr val="000000"/>
                </a:solidFill>
                <a:latin typeface="Arial (Body)"/>
              </a:rPr>
              <a:t> </a:t>
            </a:r>
            <a:r>
              <a:rPr lang="en-US" altLang="en-US" dirty="0">
                <a:solidFill>
                  <a:srgbClr val="000000"/>
                </a:solidFill>
                <a:latin typeface="Arial (Body)"/>
              </a:rPr>
              <a:t>A</a:t>
            </a:r>
            <a:r>
              <a:rPr lang="en-US" altLang="en-US" sz="100" dirty="0">
                <a:solidFill>
                  <a:srgbClr val="000000"/>
                </a:solidFill>
                <a:latin typeface="Arial (Body)"/>
              </a:rPr>
              <a:t> </a:t>
            </a:r>
            <a:r>
              <a:rPr lang="en-US" altLang="en-US" dirty="0">
                <a:solidFill>
                  <a:srgbClr val="000000"/>
                </a:solidFill>
                <a:latin typeface="Arial (Body)"/>
              </a:rPr>
              <a:t>D)</a:t>
            </a:r>
          </a:p>
          <a:p>
            <a:pPr marL="255651" lvl="0" indent="-255651">
              <a:spcAft>
                <a:spcPct val="0"/>
              </a:spcAft>
              <a:buSzPts val="2400"/>
              <a:tabLst/>
            </a:pPr>
            <a:r>
              <a:rPr lang="en-US" altLang="en-US" dirty="0">
                <a:solidFill>
                  <a:srgbClr val="000000"/>
                </a:solidFill>
                <a:latin typeface="Arial (Body)"/>
              </a:rPr>
              <a:t>Questionnaires</a:t>
            </a:r>
          </a:p>
          <a:p>
            <a:pPr marL="255651" lvl="0" indent="-255651">
              <a:spcAft>
                <a:spcPct val="0"/>
              </a:spcAft>
              <a:buSzPts val="2400"/>
              <a:tabLst/>
            </a:pPr>
            <a:r>
              <a:rPr lang="en-US" altLang="en-US" dirty="0">
                <a:solidFill>
                  <a:srgbClr val="000000"/>
                </a:solidFill>
                <a:latin typeface="Arial (Body)"/>
              </a:rPr>
              <a:t>Requirements Prioritization</a:t>
            </a:r>
          </a:p>
        </p:txBody>
      </p:sp>
    </p:spTree>
    <p:extLst>
      <p:ext uri="{BB962C8B-B14F-4D97-AF65-F5344CB8AC3E}">
        <p14:creationId xmlns:p14="http://schemas.microsoft.com/office/powerpoint/2010/main" val="5756382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C670D-53BB-3CD0-2423-7F9FE6405EA2}"/>
              </a:ext>
            </a:extLst>
          </p:cNvPr>
          <p:cNvSpPr>
            <a:spLocks noGrp="1"/>
          </p:cNvSpPr>
          <p:nvPr>
            <p:ph type="title"/>
          </p:nvPr>
        </p:nvSpPr>
        <p:spPr/>
        <p:txBody>
          <a:bodyPr/>
          <a:lstStyle/>
          <a:p>
            <a:r>
              <a:rPr lang="en-US" altLang="en-US" dirty="0">
                <a:sym typeface="Arial"/>
              </a:rPr>
              <a:t>Major Topics </a:t>
            </a:r>
            <a:r>
              <a:rPr lang="en-US" altLang="en-US" sz="2000" b="0" dirty="0">
                <a:sym typeface="Arial"/>
              </a:rPr>
              <a:t>(1 of 2)</a:t>
            </a:r>
            <a:endParaRPr lang="en-US" sz="2000" b="0" dirty="0"/>
          </a:p>
        </p:txBody>
      </p:sp>
      <p:sp>
        <p:nvSpPr>
          <p:cNvPr id="3" name="Content Placeholder 2">
            <a:extLst>
              <a:ext uri="{FF2B5EF4-FFF2-40B4-BE49-F238E27FC236}">
                <a16:creationId xmlns:a16="http://schemas.microsoft.com/office/drawing/2014/main" id="{94B6DCB3-AD64-9219-C1E3-2D4BD9B828D4}"/>
              </a:ext>
            </a:extLst>
          </p:cNvPr>
          <p:cNvSpPr>
            <a:spLocks noGrp="1"/>
          </p:cNvSpPr>
          <p:nvPr>
            <p:ph sz="quarter" idx="13"/>
          </p:nvPr>
        </p:nvSpPr>
        <p:spPr>
          <a:xfrm>
            <a:off x="457200" y="1556327"/>
            <a:ext cx="8229600" cy="2832793"/>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Interviewing</a:t>
            </a:r>
          </a:p>
          <a:p>
            <a:pPr marL="741553" lvl="1" indent="-284353">
              <a:spcAft>
                <a:spcPct val="0"/>
              </a:spcAft>
              <a:buSzPts val="2400"/>
            </a:pPr>
            <a:r>
              <a:rPr lang="en-US" altLang="en-US" dirty="0">
                <a:solidFill>
                  <a:srgbClr val="000000"/>
                </a:solidFill>
                <a:cs typeface="Arial" panose="020B0604020202020204" pitchFamily="34" charset="0"/>
              </a:rPr>
              <a:t>Interview preparation</a:t>
            </a:r>
          </a:p>
          <a:p>
            <a:pPr marL="741553" lvl="1" indent="-284353">
              <a:spcAft>
                <a:spcPct val="0"/>
              </a:spcAft>
              <a:buSzPts val="2400"/>
            </a:pPr>
            <a:r>
              <a:rPr lang="en-US" altLang="en-US" dirty="0">
                <a:solidFill>
                  <a:srgbClr val="000000"/>
                </a:solidFill>
                <a:cs typeface="Arial" panose="020B0604020202020204" pitchFamily="34" charset="0"/>
              </a:rPr>
              <a:t>Question types</a:t>
            </a:r>
          </a:p>
          <a:p>
            <a:pPr marL="741553" lvl="1" indent="-284353">
              <a:spcAft>
                <a:spcPct val="0"/>
              </a:spcAft>
              <a:buSzPts val="2400"/>
            </a:pPr>
            <a:r>
              <a:rPr lang="en-US" altLang="en-US" dirty="0">
                <a:solidFill>
                  <a:srgbClr val="000000"/>
                </a:solidFill>
                <a:cs typeface="Arial" panose="020B0604020202020204" pitchFamily="34" charset="0"/>
              </a:rPr>
              <a:t>Arranging questions</a:t>
            </a:r>
          </a:p>
          <a:p>
            <a:pPr marL="741553" lvl="1" indent="-284353">
              <a:spcAft>
                <a:spcPct val="0"/>
              </a:spcAft>
              <a:buSzPts val="2400"/>
            </a:pPr>
            <a:r>
              <a:rPr lang="en-US" altLang="en-US" dirty="0">
                <a:solidFill>
                  <a:srgbClr val="000000"/>
                </a:solidFill>
                <a:cs typeface="Arial" panose="020B0604020202020204" pitchFamily="34" charset="0"/>
              </a:rPr>
              <a:t>The interview report</a:t>
            </a:r>
          </a:p>
          <a:p>
            <a:pPr marL="255651" lvl="0" indent="-255651">
              <a:spcAft>
                <a:spcPct val="0"/>
              </a:spcAft>
              <a:buSzPts val="2400"/>
              <a:tabLst/>
            </a:pPr>
            <a:r>
              <a:rPr lang="en-US" altLang="en-US" dirty="0">
                <a:solidFill>
                  <a:srgbClr val="000000"/>
                </a:solidFill>
                <a:cs typeface="Arial" panose="020B0604020202020204" pitchFamily="34" charset="0"/>
              </a:rPr>
              <a:t>User Stories</a:t>
            </a:r>
          </a:p>
        </p:txBody>
      </p:sp>
    </p:spTree>
    <p:extLst>
      <p:ext uri="{BB962C8B-B14F-4D97-AF65-F5344CB8AC3E}">
        <p14:creationId xmlns:p14="http://schemas.microsoft.com/office/powerpoint/2010/main" val="3544768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959D4-A7D2-FDA9-DCF1-7F29C01421DF}"/>
              </a:ext>
            </a:extLst>
          </p:cNvPr>
          <p:cNvSpPr>
            <a:spLocks noGrp="1"/>
          </p:cNvSpPr>
          <p:nvPr>
            <p:ph type="title"/>
          </p:nvPr>
        </p:nvSpPr>
        <p:spPr/>
        <p:txBody>
          <a:bodyPr/>
          <a:lstStyle/>
          <a:p>
            <a:r>
              <a:rPr lang="en-US" altLang="en-US" dirty="0">
                <a:sym typeface="Arial"/>
              </a:rPr>
              <a:t>Major Topics </a:t>
            </a:r>
            <a:r>
              <a:rPr lang="en-US" altLang="en-US" sz="2000" b="0" dirty="0">
                <a:sym typeface="Arial"/>
              </a:rPr>
              <a:t>(2 of 2)</a:t>
            </a:r>
            <a:endParaRPr lang="en-US" sz="2000" b="0" dirty="0"/>
          </a:p>
        </p:txBody>
      </p:sp>
      <p:sp>
        <p:nvSpPr>
          <p:cNvPr id="3" name="Content Placeholder 2">
            <a:extLst>
              <a:ext uri="{FF2B5EF4-FFF2-40B4-BE49-F238E27FC236}">
                <a16:creationId xmlns:a16="http://schemas.microsoft.com/office/drawing/2014/main" id="{CEE7D2B7-3E87-AA75-03AB-384F09546DD4}"/>
              </a:ext>
            </a:extLst>
          </p:cNvPr>
          <p:cNvSpPr>
            <a:spLocks noGrp="1"/>
          </p:cNvSpPr>
          <p:nvPr>
            <p:ph sz="quarter" idx="13"/>
          </p:nvPr>
        </p:nvSpPr>
        <p:spPr>
          <a:xfrm>
            <a:off x="457200" y="1556327"/>
            <a:ext cx="8229600" cy="3845667"/>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Joint Application Design (J</a:t>
            </a:r>
            <a:r>
              <a:rPr lang="en-US" altLang="en-US" sz="100" dirty="0">
                <a:solidFill>
                  <a:srgbClr val="000000"/>
                </a:solidFill>
                <a:cs typeface="Arial" panose="020B0604020202020204" pitchFamily="34" charset="0"/>
              </a:rPr>
              <a:t> </a:t>
            </a:r>
            <a:r>
              <a:rPr lang="en-US" altLang="en-US" dirty="0">
                <a:solidFill>
                  <a:srgbClr val="000000"/>
                </a:solidFill>
                <a:cs typeface="Arial" panose="020B0604020202020204" pitchFamily="34" charset="0"/>
              </a:rPr>
              <a:t>A</a:t>
            </a:r>
            <a:r>
              <a:rPr lang="en-US" altLang="en-US" sz="100" dirty="0">
                <a:solidFill>
                  <a:srgbClr val="000000"/>
                </a:solidFill>
                <a:cs typeface="Arial" panose="020B0604020202020204" pitchFamily="34" charset="0"/>
              </a:rPr>
              <a:t> </a:t>
            </a:r>
            <a:r>
              <a:rPr lang="en-US" altLang="en-US" dirty="0">
                <a:solidFill>
                  <a:srgbClr val="000000"/>
                </a:solidFill>
                <a:cs typeface="Arial" panose="020B0604020202020204" pitchFamily="34" charset="0"/>
              </a:rPr>
              <a:t>D)</a:t>
            </a:r>
          </a:p>
          <a:p>
            <a:pPr marL="741553" lvl="1" indent="-284353">
              <a:spcAft>
                <a:spcPct val="0"/>
              </a:spcAft>
              <a:buSzPts val="2400"/>
            </a:pPr>
            <a:r>
              <a:rPr lang="en-US" altLang="en-US" dirty="0">
                <a:solidFill>
                  <a:srgbClr val="000000"/>
                </a:solidFill>
                <a:cs typeface="Arial" panose="020B0604020202020204" pitchFamily="34" charset="0"/>
              </a:rPr>
              <a:t>Involvement</a:t>
            </a:r>
          </a:p>
          <a:p>
            <a:pPr marL="741553" lvl="1" indent="-284353">
              <a:spcAft>
                <a:spcPct val="0"/>
              </a:spcAft>
              <a:buSzPts val="2400"/>
            </a:pPr>
            <a:r>
              <a:rPr lang="en-US" altLang="en-US" dirty="0">
                <a:solidFill>
                  <a:srgbClr val="000000"/>
                </a:solidFill>
                <a:cs typeface="Arial" panose="020B0604020202020204" pitchFamily="34" charset="0"/>
              </a:rPr>
              <a:t>Location</a:t>
            </a:r>
          </a:p>
          <a:p>
            <a:pPr marL="255651" lvl="0" indent="-255651">
              <a:spcAft>
                <a:spcPct val="0"/>
              </a:spcAft>
              <a:buSzPts val="2400"/>
              <a:tabLst/>
            </a:pPr>
            <a:r>
              <a:rPr lang="en-US" altLang="en-US" dirty="0">
                <a:solidFill>
                  <a:srgbClr val="000000"/>
                </a:solidFill>
                <a:cs typeface="Arial" panose="020B0604020202020204" pitchFamily="34" charset="0"/>
              </a:rPr>
              <a:t>Questionnaires</a:t>
            </a:r>
          </a:p>
          <a:p>
            <a:pPr marL="741553" lvl="1" indent="-284353">
              <a:spcAft>
                <a:spcPct val="0"/>
              </a:spcAft>
              <a:buSzPts val="2400"/>
            </a:pPr>
            <a:r>
              <a:rPr lang="en-US" altLang="en-US" dirty="0">
                <a:solidFill>
                  <a:srgbClr val="000000"/>
                </a:solidFill>
                <a:cs typeface="Arial" panose="020B0604020202020204" pitchFamily="34" charset="0"/>
              </a:rPr>
              <a:t>Writing questions</a:t>
            </a:r>
          </a:p>
          <a:p>
            <a:pPr marL="741553" lvl="1" indent="-284353">
              <a:spcAft>
                <a:spcPct val="0"/>
              </a:spcAft>
              <a:buSzPts val="2400"/>
            </a:pPr>
            <a:r>
              <a:rPr lang="en-US" altLang="en-US" dirty="0">
                <a:solidFill>
                  <a:srgbClr val="000000"/>
                </a:solidFill>
                <a:cs typeface="Arial" panose="020B0604020202020204" pitchFamily="34" charset="0"/>
              </a:rPr>
              <a:t>Using scales</a:t>
            </a:r>
          </a:p>
          <a:p>
            <a:pPr marL="741553" lvl="1" indent="-284353">
              <a:spcAft>
                <a:spcPct val="0"/>
              </a:spcAft>
              <a:buSzPts val="2400"/>
            </a:pPr>
            <a:r>
              <a:rPr lang="en-US" altLang="en-US" dirty="0">
                <a:solidFill>
                  <a:srgbClr val="000000"/>
                </a:solidFill>
                <a:cs typeface="Arial" panose="020B0604020202020204" pitchFamily="34" charset="0"/>
              </a:rPr>
              <a:t>Design</a:t>
            </a:r>
          </a:p>
          <a:p>
            <a:pPr marL="741553" lvl="1" indent="-284353">
              <a:spcAft>
                <a:spcPct val="0"/>
              </a:spcAft>
              <a:buSzPts val="2400"/>
            </a:pPr>
            <a:r>
              <a:rPr lang="en-US" altLang="en-US" dirty="0">
                <a:solidFill>
                  <a:srgbClr val="000000"/>
                </a:solidFill>
                <a:cs typeface="Arial" panose="020B0604020202020204" pitchFamily="34" charset="0"/>
              </a:rPr>
              <a:t>Administering</a:t>
            </a:r>
          </a:p>
        </p:txBody>
      </p:sp>
    </p:spTree>
    <p:extLst>
      <p:ext uri="{BB962C8B-B14F-4D97-AF65-F5344CB8AC3E}">
        <p14:creationId xmlns:p14="http://schemas.microsoft.com/office/powerpoint/2010/main" val="3181411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8D81B-CA44-10F7-90E1-58EA20EDB6D4}"/>
              </a:ext>
            </a:extLst>
          </p:cNvPr>
          <p:cNvSpPr>
            <a:spLocks noGrp="1"/>
          </p:cNvSpPr>
          <p:nvPr>
            <p:ph type="title"/>
          </p:nvPr>
        </p:nvSpPr>
        <p:spPr/>
        <p:txBody>
          <a:bodyPr/>
          <a:lstStyle/>
          <a:p>
            <a:r>
              <a:rPr lang="en-US" altLang="en-US" dirty="0">
                <a:sym typeface="Arial"/>
              </a:rPr>
              <a:t>Interviewing</a:t>
            </a:r>
            <a:endParaRPr lang="en-US" dirty="0"/>
          </a:p>
        </p:txBody>
      </p:sp>
      <p:sp>
        <p:nvSpPr>
          <p:cNvPr id="3" name="Content Placeholder 2">
            <a:extLst>
              <a:ext uri="{FF2B5EF4-FFF2-40B4-BE49-F238E27FC236}">
                <a16:creationId xmlns:a16="http://schemas.microsoft.com/office/drawing/2014/main" id="{423A0BC2-8D92-6800-E114-7B09C9E3099C}"/>
              </a:ext>
            </a:extLst>
          </p:cNvPr>
          <p:cNvSpPr>
            <a:spLocks noGrp="1"/>
          </p:cNvSpPr>
          <p:nvPr>
            <p:ph sz="quarter" idx="13"/>
          </p:nvPr>
        </p:nvSpPr>
        <p:spPr>
          <a:xfrm>
            <a:off x="457200" y="1556327"/>
            <a:ext cx="8062686" cy="3349048"/>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Interviewing is an important method for collecting data on human and system information requirements</a:t>
            </a:r>
          </a:p>
          <a:p>
            <a:pPr marL="255651" lvl="0" indent="-255651">
              <a:spcAft>
                <a:spcPct val="0"/>
              </a:spcAft>
              <a:buSzPts val="2400"/>
              <a:tabLst/>
            </a:pPr>
            <a:r>
              <a:rPr lang="en-US" altLang="en-US" dirty="0">
                <a:solidFill>
                  <a:srgbClr val="000000"/>
                </a:solidFill>
                <a:cs typeface="Arial" panose="020B0604020202020204" pitchFamily="34" charset="0"/>
              </a:rPr>
              <a:t>Interviews reveal information about:</a:t>
            </a:r>
          </a:p>
          <a:p>
            <a:pPr marL="741553" lvl="1" indent="-284353">
              <a:spcAft>
                <a:spcPct val="0"/>
              </a:spcAft>
              <a:buSzPts val="2400"/>
            </a:pPr>
            <a:r>
              <a:rPr lang="en-US" altLang="en-US" dirty="0">
                <a:solidFill>
                  <a:srgbClr val="000000"/>
                </a:solidFill>
                <a:cs typeface="Arial" panose="020B0604020202020204" pitchFamily="34" charset="0"/>
              </a:rPr>
              <a:t>Interviewee opinions</a:t>
            </a:r>
          </a:p>
          <a:p>
            <a:pPr marL="741553" lvl="1" indent="-284353">
              <a:spcAft>
                <a:spcPct val="0"/>
              </a:spcAft>
              <a:buSzPts val="2400"/>
            </a:pPr>
            <a:r>
              <a:rPr lang="en-US" altLang="en-US" dirty="0">
                <a:solidFill>
                  <a:srgbClr val="000000"/>
                </a:solidFill>
                <a:cs typeface="Arial" panose="020B0604020202020204" pitchFamily="34" charset="0"/>
              </a:rPr>
              <a:t>Interviewee feelings</a:t>
            </a:r>
          </a:p>
          <a:p>
            <a:pPr marL="741553" lvl="1" indent="-284353">
              <a:spcAft>
                <a:spcPct val="0"/>
              </a:spcAft>
              <a:buSzPts val="2400"/>
            </a:pPr>
            <a:r>
              <a:rPr lang="en-US" altLang="en-US" dirty="0">
                <a:solidFill>
                  <a:srgbClr val="000000"/>
                </a:solidFill>
                <a:cs typeface="Arial" panose="020B0604020202020204" pitchFamily="34" charset="0"/>
              </a:rPr>
              <a:t>Goals</a:t>
            </a:r>
          </a:p>
          <a:p>
            <a:pPr marL="741553" lvl="1" indent="-284353">
              <a:spcAft>
                <a:spcPct val="0"/>
              </a:spcAft>
              <a:buSzPts val="2400"/>
            </a:pPr>
            <a:r>
              <a:rPr lang="en-US" altLang="en-US" dirty="0">
                <a:solidFill>
                  <a:srgbClr val="000000"/>
                </a:solidFill>
                <a:cs typeface="Arial" panose="020B0604020202020204" pitchFamily="34" charset="0"/>
              </a:rPr>
              <a:t>Key H</a:t>
            </a:r>
            <a:r>
              <a:rPr lang="en-US" altLang="en-US" sz="100" dirty="0">
                <a:solidFill>
                  <a:srgbClr val="000000"/>
                </a:solidFill>
                <a:cs typeface="Arial" panose="020B0604020202020204" pitchFamily="34" charset="0"/>
              </a:rPr>
              <a:t> </a:t>
            </a:r>
            <a:r>
              <a:rPr lang="en-US" altLang="en-US" dirty="0">
                <a:solidFill>
                  <a:srgbClr val="000000"/>
                </a:solidFill>
                <a:cs typeface="Arial" panose="020B0604020202020204" pitchFamily="34" charset="0"/>
              </a:rPr>
              <a:t>C</a:t>
            </a:r>
            <a:r>
              <a:rPr lang="en-US" altLang="en-US" sz="100" dirty="0">
                <a:solidFill>
                  <a:srgbClr val="000000"/>
                </a:solidFill>
                <a:cs typeface="Arial" panose="020B0604020202020204" pitchFamily="34" charset="0"/>
              </a:rPr>
              <a:t> </a:t>
            </a:r>
            <a:r>
              <a:rPr lang="en-US" altLang="en-US" dirty="0">
                <a:solidFill>
                  <a:srgbClr val="000000"/>
                </a:solidFill>
                <a:cs typeface="Arial" panose="020B0604020202020204" pitchFamily="34" charset="0"/>
              </a:rPr>
              <a:t>I concerns</a:t>
            </a:r>
          </a:p>
        </p:txBody>
      </p:sp>
    </p:spTree>
    <p:extLst>
      <p:ext uri="{BB962C8B-B14F-4D97-AF65-F5344CB8AC3E}">
        <p14:creationId xmlns:p14="http://schemas.microsoft.com/office/powerpoint/2010/main" val="37722847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4BE37-14C2-E9D0-0BBF-8301465F0877}"/>
              </a:ext>
            </a:extLst>
          </p:cNvPr>
          <p:cNvSpPr>
            <a:spLocks noGrp="1"/>
          </p:cNvSpPr>
          <p:nvPr>
            <p:ph type="title"/>
          </p:nvPr>
        </p:nvSpPr>
        <p:spPr/>
        <p:txBody>
          <a:bodyPr/>
          <a:lstStyle/>
          <a:p>
            <a:r>
              <a:rPr lang="en-US" altLang="en-US" dirty="0">
                <a:sym typeface="Arial"/>
              </a:rPr>
              <a:t>Five Steps in Interview Preparation</a:t>
            </a:r>
            <a:endParaRPr lang="en-US" dirty="0"/>
          </a:p>
        </p:txBody>
      </p:sp>
      <p:sp>
        <p:nvSpPr>
          <p:cNvPr id="3" name="Content Placeholder 2">
            <a:extLst>
              <a:ext uri="{FF2B5EF4-FFF2-40B4-BE49-F238E27FC236}">
                <a16:creationId xmlns:a16="http://schemas.microsoft.com/office/drawing/2014/main" id="{C04AF2E4-34C8-BE2E-8117-60BF17C1633C}"/>
              </a:ext>
            </a:extLst>
          </p:cNvPr>
          <p:cNvSpPr>
            <a:spLocks noGrp="1"/>
          </p:cNvSpPr>
          <p:nvPr>
            <p:ph sz="quarter" idx="13"/>
          </p:nvPr>
        </p:nvSpPr>
        <p:spPr>
          <a:xfrm>
            <a:off x="457200" y="1556327"/>
            <a:ext cx="8229600" cy="2917199"/>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Reading background material</a:t>
            </a:r>
          </a:p>
          <a:p>
            <a:pPr marL="255651" lvl="0" indent="-255651">
              <a:spcAft>
                <a:spcPct val="0"/>
              </a:spcAft>
              <a:buSzPts val="2400"/>
              <a:tabLst/>
            </a:pPr>
            <a:r>
              <a:rPr lang="en-US" altLang="en-US" dirty="0">
                <a:solidFill>
                  <a:srgbClr val="000000"/>
                </a:solidFill>
                <a:cs typeface="Arial" panose="020B0604020202020204" pitchFamily="34" charset="0"/>
              </a:rPr>
              <a:t>Establishing interview objectives</a:t>
            </a:r>
          </a:p>
          <a:p>
            <a:pPr marL="255651" lvl="0" indent="-255651">
              <a:spcAft>
                <a:spcPct val="0"/>
              </a:spcAft>
              <a:buSzPts val="2400"/>
              <a:tabLst/>
            </a:pPr>
            <a:r>
              <a:rPr lang="en-US" altLang="en-US" dirty="0">
                <a:solidFill>
                  <a:srgbClr val="000000"/>
                </a:solidFill>
                <a:cs typeface="Arial" panose="020B0604020202020204" pitchFamily="34" charset="0"/>
              </a:rPr>
              <a:t>Deciding whom to interview</a:t>
            </a:r>
          </a:p>
          <a:p>
            <a:pPr marL="255651" lvl="0" indent="-255651">
              <a:spcAft>
                <a:spcPct val="0"/>
              </a:spcAft>
              <a:buSzPts val="2400"/>
              <a:tabLst/>
            </a:pPr>
            <a:r>
              <a:rPr lang="en-US" altLang="en-US" dirty="0">
                <a:solidFill>
                  <a:srgbClr val="000000"/>
                </a:solidFill>
                <a:cs typeface="Arial" panose="020B0604020202020204" pitchFamily="34" charset="0"/>
              </a:rPr>
              <a:t>Preparing the interviewee</a:t>
            </a:r>
          </a:p>
          <a:p>
            <a:pPr marL="255651" lvl="0" indent="-255651">
              <a:spcAft>
                <a:spcPct val="0"/>
              </a:spcAft>
              <a:buSzPts val="2400"/>
              <a:tabLst/>
            </a:pPr>
            <a:r>
              <a:rPr lang="en-US" altLang="en-US" dirty="0">
                <a:solidFill>
                  <a:srgbClr val="000000"/>
                </a:solidFill>
                <a:cs typeface="Arial" panose="020B0604020202020204" pitchFamily="34" charset="0"/>
              </a:rPr>
              <a:t>Deciding on question types and structure</a:t>
            </a:r>
          </a:p>
        </p:txBody>
      </p:sp>
    </p:spTree>
    <p:extLst>
      <p:ext uri="{BB962C8B-B14F-4D97-AF65-F5344CB8AC3E}">
        <p14:creationId xmlns:p14="http://schemas.microsoft.com/office/powerpoint/2010/main" val="2422955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E7E83-2997-9FFC-A9C0-F2B862FDACD8}"/>
              </a:ext>
            </a:extLst>
          </p:cNvPr>
          <p:cNvSpPr>
            <a:spLocks noGrp="1"/>
          </p:cNvSpPr>
          <p:nvPr>
            <p:ph type="title"/>
          </p:nvPr>
        </p:nvSpPr>
        <p:spPr/>
        <p:txBody>
          <a:bodyPr/>
          <a:lstStyle/>
          <a:p>
            <a:r>
              <a:rPr lang="en-US" altLang="en-US" dirty="0">
                <a:sym typeface="Arial"/>
              </a:rPr>
              <a:t>Question Types</a:t>
            </a:r>
            <a:endParaRPr lang="en-US" dirty="0"/>
          </a:p>
        </p:txBody>
      </p:sp>
      <p:sp>
        <p:nvSpPr>
          <p:cNvPr id="3" name="Content Placeholder 2">
            <a:extLst>
              <a:ext uri="{FF2B5EF4-FFF2-40B4-BE49-F238E27FC236}">
                <a16:creationId xmlns:a16="http://schemas.microsoft.com/office/drawing/2014/main" id="{1268472B-0CAD-9681-0E7C-58BC9B6ECEC5}"/>
              </a:ext>
            </a:extLst>
          </p:cNvPr>
          <p:cNvSpPr>
            <a:spLocks noGrp="1"/>
          </p:cNvSpPr>
          <p:nvPr>
            <p:ph sz="quarter" idx="13"/>
          </p:nvPr>
        </p:nvSpPr>
        <p:spPr>
          <a:xfrm>
            <a:off x="457200" y="1556327"/>
            <a:ext cx="8229600" cy="1735513"/>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Open-ended</a:t>
            </a:r>
          </a:p>
          <a:p>
            <a:pPr marL="255651" lvl="0" indent="-255651">
              <a:spcAft>
                <a:spcPct val="0"/>
              </a:spcAft>
              <a:buSzPts val="2400"/>
              <a:tabLst/>
            </a:pPr>
            <a:r>
              <a:rPr lang="en-US" altLang="en-US" dirty="0">
                <a:solidFill>
                  <a:srgbClr val="000000"/>
                </a:solidFill>
                <a:cs typeface="Arial" panose="020B0604020202020204" pitchFamily="34" charset="0"/>
              </a:rPr>
              <a:t>Closed</a:t>
            </a:r>
          </a:p>
          <a:p>
            <a:pPr marL="255651" lvl="0" indent="-255651">
              <a:spcAft>
                <a:spcPct val="0"/>
              </a:spcAft>
              <a:buSzPts val="2400"/>
              <a:tabLst/>
            </a:pPr>
            <a:r>
              <a:rPr lang="en-US" altLang="en-US" dirty="0">
                <a:solidFill>
                  <a:srgbClr val="000000"/>
                </a:solidFill>
                <a:cs typeface="Arial" panose="020B0604020202020204" pitchFamily="34" charset="0"/>
              </a:rPr>
              <a:t>Probes</a:t>
            </a:r>
          </a:p>
        </p:txBody>
      </p:sp>
    </p:spTree>
    <p:extLst>
      <p:ext uri="{BB962C8B-B14F-4D97-AF65-F5344CB8AC3E}">
        <p14:creationId xmlns:p14="http://schemas.microsoft.com/office/powerpoint/2010/main" val="1668699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AD58A-D0C7-1C75-C74E-5BBD30A37D5D}"/>
              </a:ext>
            </a:extLst>
          </p:cNvPr>
          <p:cNvSpPr>
            <a:spLocks noGrp="1"/>
          </p:cNvSpPr>
          <p:nvPr>
            <p:ph type="title"/>
          </p:nvPr>
        </p:nvSpPr>
        <p:spPr/>
        <p:txBody>
          <a:bodyPr/>
          <a:lstStyle/>
          <a:p>
            <a:r>
              <a:rPr lang="en-US" altLang="en-US" dirty="0">
                <a:sym typeface="Arial"/>
              </a:rPr>
              <a:t>Open-Ended Questions</a:t>
            </a:r>
            <a:endParaRPr lang="en-US" dirty="0"/>
          </a:p>
        </p:txBody>
      </p:sp>
      <p:sp>
        <p:nvSpPr>
          <p:cNvPr id="3" name="Content Placeholder 2">
            <a:extLst>
              <a:ext uri="{FF2B5EF4-FFF2-40B4-BE49-F238E27FC236}">
                <a16:creationId xmlns:a16="http://schemas.microsoft.com/office/drawing/2014/main" id="{6BD4EC7C-B292-9EB9-01BC-373F08F3ACE1}"/>
              </a:ext>
            </a:extLst>
          </p:cNvPr>
          <p:cNvSpPr>
            <a:spLocks noGrp="1"/>
          </p:cNvSpPr>
          <p:nvPr>
            <p:ph sz="quarter" idx="13"/>
          </p:nvPr>
        </p:nvSpPr>
        <p:spPr>
          <a:xfrm>
            <a:off x="457200" y="1556327"/>
            <a:ext cx="8229600" cy="2354491"/>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Open-ended interview questions allow interviewees to respond how they wish without length or structure limitations</a:t>
            </a:r>
          </a:p>
          <a:p>
            <a:pPr marL="255651" lvl="0" indent="-255651">
              <a:spcAft>
                <a:spcPct val="0"/>
              </a:spcAft>
              <a:buSzPts val="2400"/>
              <a:tabLst/>
            </a:pPr>
            <a:r>
              <a:rPr lang="en-US" altLang="en-US" dirty="0">
                <a:solidFill>
                  <a:srgbClr val="000000"/>
                </a:solidFill>
                <a:cs typeface="Arial" panose="020B0604020202020204" pitchFamily="34" charset="0"/>
              </a:rPr>
              <a:t>Open-ended interview questions are appropriate when the analyst is interested in breadth and depth of reply</a:t>
            </a:r>
          </a:p>
        </p:txBody>
      </p:sp>
    </p:spTree>
    <p:extLst>
      <p:ext uri="{BB962C8B-B14F-4D97-AF65-F5344CB8AC3E}">
        <p14:creationId xmlns:p14="http://schemas.microsoft.com/office/powerpoint/2010/main" val="1848915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76A45-1002-F9C9-B90E-8A56FF82406F}"/>
              </a:ext>
            </a:extLst>
          </p:cNvPr>
          <p:cNvSpPr>
            <a:spLocks noGrp="1"/>
          </p:cNvSpPr>
          <p:nvPr>
            <p:ph type="title"/>
          </p:nvPr>
        </p:nvSpPr>
        <p:spPr/>
        <p:txBody>
          <a:bodyPr/>
          <a:lstStyle/>
          <a:p>
            <a:r>
              <a:rPr lang="en-US" sz="3200" dirty="0">
                <a:sym typeface="Arial"/>
              </a:rPr>
              <a:t>Figure 4.2 Open-Ended Interview Questions</a:t>
            </a:r>
            <a:endParaRPr lang="en-US" sz="3200" dirty="0"/>
          </a:p>
        </p:txBody>
      </p:sp>
      <p:sp>
        <p:nvSpPr>
          <p:cNvPr id="3" name="Content Placeholder 2">
            <a:extLst>
              <a:ext uri="{FF2B5EF4-FFF2-40B4-BE49-F238E27FC236}">
                <a16:creationId xmlns:a16="http://schemas.microsoft.com/office/drawing/2014/main" id="{7B70AD2E-D097-0EC6-A734-E69CC84777B0}"/>
              </a:ext>
            </a:extLst>
          </p:cNvPr>
          <p:cNvSpPr>
            <a:spLocks noGrp="1"/>
          </p:cNvSpPr>
          <p:nvPr>
            <p:ph sz="quarter" idx="13"/>
          </p:nvPr>
        </p:nvSpPr>
        <p:spPr>
          <a:xfrm>
            <a:off x="457200" y="1556327"/>
            <a:ext cx="8229600" cy="4478713"/>
          </a:xfrm>
        </p:spPr>
        <p:txBody>
          <a:bodyPr/>
          <a:lstStyle/>
          <a:p>
            <a:r>
              <a:rPr lang="en-US" sz="2200" dirty="0">
                <a:cs typeface="Arial" panose="020B0604020202020204" pitchFamily="34" charset="0"/>
              </a:rPr>
              <a:t>What’s your opinion of the current state of business-to-business ecommerce in your firm?</a:t>
            </a:r>
          </a:p>
          <a:p>
            <a:r>
              <a:rPr lang="en-US" sz="2200" dirty="0">
                <a:cs typeface="Arial" panose="020B0604020202020204" pitchFamily="34" charset="0"/>
              </a:rPr>
              <a:t>What are the critical objectives of your department?</a:t>
            </a:r>
          </a:p>
          <a:p>
            <a:r>
              <a:rPr lang="en-US" sz="2200" dirty="0">
                <a:cs typeface="Arial" panose="020B0604020202020204" pitchFamily="34" charset="0"/>
              </a:rPr>
              <a:t>Once the data are submitted via the website, how are they processed?</a:t>
            </a:r>
          </a:p>
          <a:p>
            <a:r>
              <a:rPr lang="en-US" sz="2200" dirty="0">
                <a:cs typeface="Arial" panose="020B0604020202020204" pitchFamily="34" charset="0"/>
              </a:rPr>
              <a:t>Describe the monitoring process that is available online.</a:t>
            </a:r>
          </a:p>
          <a:p>
            <a:r>
              <a:rPr lang="en-US" sz="2200" dirty="0">
                <a:cs typeface="Arial" panose="020B0604020202020204" pitchFamily="34" charset="0"/>
              </a:rPr>
              <a:t>What are some of the common data entry errors made in this department?</a:t>
            </a:r>
          </a:p>
          <a:p>
            <a:r>
              <a:rPr lang="en-US" sz="2200" dirty="0">
                <a:cs typeface="Arial" panose="020B0604020202020204" pitchFamily="34" charset="0"/>
              </a:rPr>
              <a:t>What are the biggest frustrations you’ve experienced during the transition to ecommerce?</a:t>
            </a:r>
          </a:p>
        </p:txBody>
      </p:sp>
    </p:spTree>
    <p:extLst>
      <p:ext uri="{BB962C8B-B14F-4D97-AF65-F5344CB8AC3E}">
        <p14:creationId xmlns:p14="http://schemas.microsoft.com/office/powerpoint/2010/main" val="39288964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8D2E3-4A1E-40ED-B82D-BFF8DAE391A8}"/>
              </a:ext>
            </a:extLst>
          </p:cNvPr>
          <p:cNvSpPr>
            <a:spLocks noGrp="1"/>
          </p:cNvSpPr>
          <p:nvPr>
            <p:ph type="title"/>
          </p:nvPr>
        </p:nvSpPr>
        <p:spPr>
          <a:xfrm>
            <a:off x="457200" y="215371"/>
            <a:ext cx="7372350" cy="1097279"/>
          </a:xfrm>
        </p:spPr>
        <p:txBody>
          <a:bodyPr/>
          <a:lstStyle/>
          <a:p>
            <a:r>
              <a:rPr lang="en-US" altLang="en-US" sz="3200" dirty="0">
                <a:sym typeface="Arial"/>
              </a:rPr>
              <a:t>Advantages of Open-Ended Questions </a:t>
            </a:r>
            <a:r>
              <a:rPr lang="en-US" altLang="en-US" sz="2000" b="0" dirty="0">
                <a:sym typeface="Arial"/>
              </a:rPr>
              <a:t>(1 of 2)</a:t>
            </a:r>
            <a:endParaRPr lang="en-US" sz="2000" b="0" dirty="0"/>
          </a:p>
        </p:txBody>
      </p:sp>
      <p:sp>
        <p:nvSpPr>
          <p:cNvPr id="3" name="Content Placeholder 2">
            <a:extLst>
              <a:ext uri="{FF2B5EF4-FFF2-40B4-BE49-F238E27FC236}">
                <a16:creationId xmlns:a16="http://schemas.microsoft.com/office/drawing/2014/main" id="{348F3245-7059-4B65-A262-FB819CB52588}"/>
              </a:ext>
            </a:extLst>
          </p:cNvPr>
          <p:cNvSpPr>
            <a:spLocks noGrp="1"/>
          </p:cNvSpPr>
          <p:nvPr>
            <p:ph sz="quarter" idx="13"/>
          </p:nvPr>
        </p:nvSpPr>
        <p:spPr>
          <a:xfrm>
            <a:off x="457200" y="1556327"/>
            <a:ext cx="8229600" cy="3057876"/>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Puts the interviewee at ease</a:t>
            </a:r>
          </a:p>
          <a:p>
            <a:pPr marL="255651" lvl="0" indent="-255651">
              <a:spcAft>
                <a:spcPct val="0"/>
              </a:spcAft>
              <a:buSzPts val="2400"/>
              <a:tabLst/>
            </a:pPr>
            <a:r>
              <a:rPr lang="en-US" altLang="en-US" dirty="0">
                <a:solidFill>
                  <a:srgbClr val="000000"/>
                </a:solidFill>
                <a:cs typeface="Arial" panose="020B0604020202020204" pitchFamily="34" charset="0"/>
              </a:rPr>
              <a:t>Allows the interviewer to pick up on the interviewee’s vocabulary</a:t>
            </a:r>
          </a:p>
          <a:p>
            <a:pPr marL="255651" lvl="0" indent="-255651">
              <a:spcAft>
                <a:spcPct val="0"/>
              </a:spcAft>
              <a:buSzPts val="2400"/>
              <a:tabLst/>
            </a:pPr>
            <a:r>
              <a:rPr lang="en-US" altLang="en-US" dirty="0">
                <a:solidFill>
                  <a:srgbClr val="000000"/>
                </a:solidFill>
                <a:cs typeface="Arial" panose="020B0604020202020204" pitchFamily="34" charset="0"/>
              </a:rPr>
              <a:t>Provides richness of detail</a:t>
            </a:r>
          </a:p>
          <a:p>
            <a:pPr marL="255651" lvl="0" indent="-255651">
              <a:spcAft>
                <a:spcPct val="0"/>
              </a:spcAft>
              <a:buSzPts val="2400"/>
              <a:tabLst/>
            </a:pPr>
            <a:r>
              <a:rPr lang="en-US" altLang="en-US" dirty="0">
                <a:solidFill>
                  <a:srgbClr val="000000"/>
                </a:solidFill>
                <a:cs typeface="Arial" panose="020B0604020202020204" pitchFamily="34" charset="0"/>
              </a:rPr>
              <a:t>Reveals avenues of further questioning that may have gone untapped</a:t>
            </a:r>
          </a:p>
        </p:txBody>
      </p:sp>
    </p:spTree>
    <p:extLst>
      <p:ext uri="{BB962C8B-B14F-4D97-AF65-F5344CB8AC3E}">
        <p14:creationId xmlns:p14="http://schemas.microsoft.com/office/powerpoint/2010/main" val="31045644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903C3-B521-4D71-8CF3-CCC1E53990F8}"/>
              </a:ext>
            </a:extLst>
          </p:cNvPr>
          <p:cNvSpPr>
            <a:spLocks noGrp="1"/>
          </p:cNvSpPr>
          <p:nvPr>
            <p:ph type="title"/>
          </p:nvPr>
        </p:nvSpPr>
        <p:spPr>
          <a:xfrm>
            <a:off x="457200" y="215371"/>
            <a:ext cx="7571678" cy="1097279"/>
          </a:xfrm>
        </p:spPr>
        <p:txBody>
          <a:bodyPr/>
          <a:lstStyle/>
          <a:p>
            <a:r>
              <a:rPr lang="en-US" altLang="en-US" sz="3200" dirty="0">
                <a:sym typeface="Arial"/>
              </a:rPr>
              <a:t>Advantages of </a:t>
            </a:r>
            <a:r>
              <a:rPr lang="en-US" altLang="en-US" sz="3200" dirty="0" smtClean="0">
                <a:sym typeface="Arial"/>
              </a:rPr>
              <a:t>Open-Ended Questions </a:t>
            </a:r>
            <a:r>
              <a:rPr lang="en-US" altLang="en-US" sz="2000" b="0" dirty="0">
                <a:sym typeface="Arial"/>
              </a:rPr>
              <a:t>(2 of 2)</a:t>
            </a:r>
            <a:endParaRPr lang="en-US" sz="2000" b="0" dirty="0"/>
          </a:p>
        </p:txBody>
      </p:sp>
      <p:sp>
        <p:nvSpPr>
          <p:cNvPr id="3" name="Content Placeholder 2">
            <a:extLst>
              <a:ext uri="{FF2B5EF4-FFF2-40B4-BE49-F238E27FC236}">
                <a16:creationId xmlns:a16="http://schemas.microsoft.com/office/drawing/2014/main" id="{79C9D1FB-BB87-4A82-B98F-692B8B280009}"/>
              </a:ext>
            </a:extLst>
          </p:cNvPr>
          <p:cNvSpPr>
            <a:spLocks noGrp="1"/>
          </p:cNvSpPr>
          <p:nvPr>
            <p:ph sz="quarter" idx="13"/>
          </p:nvPr>
        </p:nvSpPr>
        <p:spPr>
          <a:xfrm>
            <a:off x="457200" y="1556327"/>
            <a:ext cx="8229600" cy="2270085"/>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Provides more interest for the interviewee</a:t>
            </a:r>
          </a:p>
          <a:p>
            <a:pPr marL="255651" lvl="0" indent="-255651">
              <a:spcAft>
                <a:spcPct val="0"/>
              </a:spcAft>
              <a:buSzPts val="2400"/>
              <a:tabLst/>
            </a:pPr>
            <a:r>
              <a:rPr lang="en-US" altLang="en-US" dirty="0">
                <a:solidFill>
                  <a:srgbClr val="000000"/>
                </a:solidFill>
                <a:cs typeface="Arial" panose="020B0604020202020204" pitchFamily="34" charset="0"/>
              </a:rPr>
              <a:t>Allows more spontaneity</a:t>
            </a:r>
          </a:p>
          <a:p>
            <a:pPr marL="255651" lvl="0" indent="-255651">
              <a:spcAft>
                <a:spcPct val="0"/>
              </a:spcAft>
              <a:buSzPts val="2400"/>
              <a:tabLst/>
            </a:pPr>
            <a:r>
              <a:rPr lang="en-US" altLang="en-US" dirty="0">
                <a:solidFill>
                  <a:srgbClr val="000000"/>
                </a:solidFill>
                <a:cs typeface="Arial" panose="020B0604020202020204" pitchFamily="34" charset="0"/>
              </a:rPr>
              <a:t>Makes phrasing easier for the interviewer</a:t>
            </a:r>
          </a:p>
          <a:p>
            <a:pPr marL="255651" lvl="0" indent="-255651">
              <a:spcAft>
                <a:spcPct val="0"/>
              </a:spcAft>
              <a:buSzPts val="2400"/>
              <a:tabLst/>
            </a:pPr>
            <a:r>
              <a:rPr lang="en-US" altLang="en-US" dirty="0">
                <a:solidFill>
                  <a:srgbClr val="000000"/>
                </a:solidFill>
                <a:cs typeface="Arial" panose="020B0604020202020204" pitchFamily="34" charset="0"/>
              </a:rPr>
              <a:t>Useful if the interviewer is unprepared</a:t>
            </a:r>
          </a:p>
        </p:txBody>
      </p:sp>
    </p:spTree>
    <p:extLst>
      <p:ext uri="{BB962C8B-B14F-4D97-AF65-F5344CB8AC3E}">
        <p14:creationId xmlns:p14="http://schemas.microsoft.com/office/powerpoint/2010/main" val="1428882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55FEF-7795-4B9B-B17D-46C21C9FB931}"/>
              </a:ext>
            </a:extLst>
          </p:cNvPr>
          <p:cNvSpPr>
            <a:spLocks noGrp="1"/>
          </p:cNvSpPr>
          <p:nvPr>
            <p:ph type="title"/>
          </p:nvPr>
        </p:nvSpPr>
        <p:spPr/>
        <p:txBody>
          <a:bodyPr/>
          <a:lstStyle/>
          <a:p>
            <a:r>
              <a:rPr lang="en-US" altLang="en-US" sz="3200" dirty="0">
                <a:sym typeface="Arial"/>
              </a:rPr>
              <a:t>Disadvantages of Open-Ended Questions</a:t>
            </a:r>
            <a:endParaRPr lang="en-US" sz="3200" dirty="0"/>
          </a:p>
        </p:txBody>
      </p:sp>
      <p:sp>
        <p:nvSpPr>
          <p:cNvPr id="3" name="Content Placeholder 2">
            <a:extLst>
              <a:ext uri="{FF2B5EF4-FFF2-40B4-BE49-F238E27FC236}">
                <a16:creationId xmlns:a16="http://schemas.microsoft.com/office/drawing/2014/main" id="{DD28A342-B573-423A-BA2B-BD79FBEC7A3B}"/>
              </a:ext>
            </a:extLst>
          </p:cNvPr>
          <p:cNvSpPr>
            <a:spLocks noGrp="1"/>
          </p:cNvSpPr>
          <p:nvPr>
            <p:ph sz="quarter" idx="13"/>
          </p:nvPr>
        </p:nvSpPr>
        <p:spPr>
          <a:xfrm>
            <a:off x="457200" y="1556327"/>
            <a:ext cx="8229600" cy="3508042"/>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May result in too much irrelevant detail</a:t>
            </a:r>
          </a:p>
          <a:p>
            <a:pPr marL="255651" lvl="0" indent="-255651">
              <a:spcAft>
                <a:spcPct val="0"/>
              </a:spcAft>
              <a:buSzPts val="2400"/>
              <a:tabLst/>
            </a:pPr>
            <a:r>
              <a:rPr lang="en-US" altLang="en-US" dirty="0">
                <a:solidFill>
                  <a:srgbClr val="000000"/>
                </a:solidFill>
                <a:cs typeface="Arial" panose="020B0604020202020204" pitchFamily="34" charset="0"/>
              </a:rPr>
              <a:t>Possibly losing control of the interview</a:t>
            </a:r>
          </a:p>
          <a:p>
            <a:pPr marL="255651" lvl="0" indent="-255651">
              <a:spcAft>
                <a:spcPct val="0"/>
              </a:spcAft>
              <a:buSzPts val="2400"/>
              <a:tabLst/>
            </a:pPr>
            <a:r>
              <a:rPr lang="en-US" altLang="en-US" dirty="0">
                <a:solidFill>
                  <a:srgbClr val="000000"/>
                </a:solidFill>
                <a:cs typeface="Arial" panose="020B0604020202020204" pitchFamily="34" charset="0"/>
              </a:rPr>
              <a:t>May take too much time for the amount of useful information gained</a:t>
            </a:r>
          </a:p>
          <a:p>
            <a:pPr marL="255651" lvl="0" indent="-255651">
              <a:spcAft>
                <a:spcPct val="0"/>
              </a:spcAft>
              <a:buSzPts val="2400"/>
              <a:tabLst/>
            </a:pPr>
            <a:r>
              <a:rPr lang="en-US" altLang="en-US" dirty="0">
                <a:solidFill>
                  <a:srgbClr val="000000"/>
                </a:solidFill>
                <a:cs typeface="Arial" panose="020B0604020202020204" pitchFamily="34" charset="0"/>
              </a:rPr>
              <a:t>Potentially seeming that the interviewer is unprepared</a:t>
            </a:r>
          </a:p>
          <a:p>
            <a:pPr marL="255651" lvl="0" indent="-255651">
              <a:spcAft>
                <a:spcPct val="0"/>
              </a:spcAft>
              <a:buSzPts val="2400"/>
              <a:tabLst/>
            </a:pPr>
            <a:r>
              <a:rPr lang="en-US" altLang="en-US" dirty="0">
                <a:solidFill>
                  <a:srgbClr val="000000"/>
                </a:solidFill>
                <a:cs typeface="Arial" panose="020B0604020202020204" pitchFamily="34" charset="0"/>
              </a:rPr>
              <a:t>Possibly giving the impression that the interviewer is on a “fishing expedition”</a:t>
            </a:r>
          </a:p>
        </p:txBody>
      </p:sp>
    </p:spTree>
    <p:extLst>
      <p:ext uri="{BB962C8B-B14F-4D97-AF65-F5344CB8AC3E}">
        <p14:creationId xmlns:p14="http://schemas.microsoft.com/office/powerpoint/2010/main" val="12027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6BD83-B450-4CF3-B072-C73C770DCA39}"/>
              </a:ext>
            </a:extLst>
          </p:cNvPr>
          <p:cNvSpPr>
            <a:spLocks noGrp="1"/>
          </p:cNvSpPr>
          <p:nvPr>
            <p:ph type="title"/>
          </p:nvPr>
        </p:nvSpPr>
        <p:spPr/>
        <p:txBody>
          <a:bodyPr/>
          <a:lstStyle/>
          <a:p>
            <a:r>
              <a:rPr lang="en-US" altLang="en-US" dirty="0">
                <a:sym typeface="Arial"/>
              </a:rPr>
              <a:t>Closed Interview Questions</a:t>
            </a:r>
            <a:endParaRPr lang="en-US" dirty="0"/>
          </a:p>
        </p:txBody>
      </p:sp>
      <p:sp>
        <p:nvSpPr>
          <p:cNvPr id="3" name="Content Placeholder 2">
            <a:extLst>
              <a:ext uri="{FF2B5EF4-FFF2-40B4-BE49-F238E27FC236}">
                <a16:creationId xmlns:a16="http://schemas.microsoft.com/office/drawing/2014/main" id="{4D1AEEC3-239B-4C3B-9524-F94AF237E6F9}"/>
              </a:ext>
            </a:extLst>
          </p:cNvPr>
          <p:cNvSpPr>
            <a:spLocks noGrp="1"/>
          </p:cNvSpPr>
          <p:nvPr>
            <p:ph sz="quarter" idx="13"/>
          </p:nvPr>
        </p:nvSpPr>
        <p:spPr>
          <a:xfrm>
            <a:off x="457200" y="1556327"/>
            <a:ext cx="8229600" cy="2889064"/>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Closed interview questions limit the number of possible responses</a:t>
            </a:r>
          </a:p>
          <a:p>
            <a:pPr marL="255651" lvl="0" indent="-255651">
              <a:spcAft>
                <a:spcPct val="0"/>
              </a:spcAft>
              <a:buSzPts val="2400"/>
              <a:tabLst/>
            </a:pPr>
            <a:r>
              <a:rPr lang="en-US" altLang="en-US" dirty="0">
                <a:solidFill>
                  <a:srgbClr val="000000"/>
                </a:solidFill>
                <a:cs typeface="Arial" panose="020B0604020202020204" pitchFamily="34" charset="0"/>
              </a:rPr>
              <a:t>Closed interview questions are appropriate for generating precise, reliable data that is easy to analyze</a:t>
            </a:r>
          </a:p>
          <a:p>
            <a:pPr marL="255651" lvl="0" indent="-255651">
              <a:spcAft>
                <a:spcPct val="0"/>
              </a:spcAft>
              <a:buSzPts val="2400"/>
              <a:tabLst/>
            </a:pPr>
            <a:r>
              <a:rPr lang="en-US" altLang="en-US" dirty="0">
                <a:solidFill>
                  <a:srgbClr val="000000"/>
                </a:solidFill>
                <a:cs typeface="Arial" panose="020B0604020202020204" pitchFamily="34" charset="0"/>
              </a:rPr>
              <a:t>The methodology is efficient, and it requires little skill for interviewers to administer</a:t>
            </a:r>
          </a:p>
        </p:txBody>
      </p:sp>
    </p:spTree>
    <p:extLst>
      <p:ext uri="{BB962C8B-B14F-4D97-AF65-F5344CB8AC3E}">
        <p14:creationId xmlns:p14="http://schemas.microsoft.com/office/powerpoint/2010/main" val="251709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C1ACA-2606-4C9D-ABE1-ACF4DA239660}"/>
              </a:ext>
            </a:extLst>
          </p:cNvPr>
          <p:cNvSpPr>
            <a:spLocks noGrp="1"/>
          </p:cNvSpPr>
          <p:nvPr>
            <p:ph type="title"/>
          </p:nvPr>
        </p:nvSpPr>
        <p:spPr/>
        <p:txBody>
          <a:bodyPr/>
          <a:lstStyle/>
          <a:p>
            <a:r>
              <a:rPr lang="en-US" sz="3200" dirty="0">
                <a:sym typeface="Arial"/>
              </a:rPr>
              <a:t>Figure 4.3 Closed Interview Questions</a:t>
            </a:r>
            <a:endParaRPr lang="en-US" sz="3200" dirty="0"/>
          </a:p>
        </p:txBody>
      </p:sp>
      <p:sp>
        <p:nvSpPr>
          <p:cNvPr id="3" name="Content Placeholder 2">
            <a:extLst>
              <a:ext uri="{FF2B5EF4-FFF2-40B4-BE49-F238E27FC236}">
                <a16:creationId xmlns:a16="http://schemas.microsoft.com/office/drawing/2014/main" id="{44768FF1-683A-4442-9FD9-D7ADC6AA2E4F}"/>
              </a:ext>
            </a:extLst>
          </p:cNvPr>
          <p:cNvSpPr>
            <a:spLocks noGrp="1"/>
          </p:cNvSpPr>
          <p:nvPr>
            <p:ph sz="quarter" idx="13"/>
          </p:nvPr>
        </p:nvSpPr>
        <p:spPr>
          <a:xfrm>
            <a:off x="457200" y="1556327"/>
            <a:ext cx="8229600" cy="4309901"/>
          </a:xfrm>
        </p:spPr>
        <p:txBody>
          <a:bodyPr/>
          <a:lstStyle/>
          <a:p>
            <a:r>
              <a:rPr lang="en-US" sz="2000" dirty="0">
                <a:cs typeface="Arial" panose="020B0604020202020204" pitchFamily="34" charset="0"/>
              </a:rPr>
              <a:t>How many times a week is the project repository updated?</a:t>
            </a:r>
          </a:p>
          <a:p>
            <a:r>
              <a:rPr lang="en-US" sz="2000" dirty="0">
                <a:cs typeface="Arial" panose="020B0604020202020204" pitchFamily="34" charset="0"/>
              </a:rPr>
              <a:t>On average, how many calls does the call center receive monthly?</a:t>
            </a:r>
          </a:p>
          <a:p>
            <a:r>
              <a:rPr lang="en-US" sz="2000" dirty="0">
                <a:cs typeface="Arial" panose="020B0604020202020204" pitchFamily="34" charset="0"/>
              </a:rPr>
              <a:t>Which of the following sources of information is most valuable to you?</a:t>
            </a:r>
          </a:p>
          <a:p>
            <a:pPr marL="741600" lvl="1"/>
            <a:r>
              <a:rPr lang="en-US" sz="2000" dirty="0">
                <a:cs typeface="Arial" panose="020B0604020202020204" pitchFamily="34" charset="0"/>
              </a:rPr>
              <a:t>Completed customer complaint forms</a:t>
            </a:r>
          </a:p>
          <a:p>
            <a:pPr marL="741600" lvl="1"/>
            <a:r>
              <a:rPr lang="en-US" sz="2000" dirty="0">
                <a:cs typeface="Arial" panose="020B0604020202020204" pitchFamily="34" charset="0"/>
              </a:rPr>
              <a:t>Email complaints from consumers who visit the website</a:t>
            </a:r>
          </a:p>
          <a:p>
            <a:pPr marL="741600" lvl="1"/>
            <a:r>
              <a:rPr lang="en-US" sz="2000" dirty="0">
                <a:cs typeface="Arial" panose="020B0604020202020204" pitchFamily="34" charset="0"/>
              </a:rPr>
              <a:t>Face-to-face interaction with customers</a:t>
            </a:r>
          </a:p>
          <a:p>
            <a:pPr marL="741600" lvl="1"/>
            <a:r>
              <a:rPr lang="en-US" sz="2000" dirty="0">
                <a:cs typeface="Arial" panose="020B0604020202020204" pitchFamily="34" charset="0"/>
              </a:rPr>
              <a:t>Returned merchandise</a:t>
            </a:r>
          </a:p>
          <a:p>
            <a:r>
              <a:rPr lang="en-US" sz="2000" dirty="0">
                <a:cs typeface="Arial" panose="020B0604020202020204" pitchFamily="34" charset="0"/>
              </a:rPr>
              <a:t>List your top two priorities for improving the technology infrastructure.</a:t>
            </a:r>
          </a:p>
          <a:p>
            <a:r>
              <a:rPr lang="en-US" sz="2000" dirty="0">
                <a:cs typeface="Arial" panose="020B0604020202020204" pitchFamily="34" charset="0"/>
              </a:rPr>
              <a:t>Who receives this input?</a:t>
            </a:r>
          </a:p>
        </p:txBody>
      </p:sp>
    </p:spTree>
    <p:extLst>
      <p:ext uri="{BB962C8B-B14F-4D97-AF65-F5344CB8AC3E}">
        <p14:creationId xmlns:p14="http://schemas.microsoft.com/office/powerpoint/2010/main" val="25004554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4FEC9-5E08-4659-95B0-27242A6C4C75}"/>
              </a:ext>
            </a:extLst>
          </p:cNvPr>
          <p:cNvSpPr>
            <a:spLocks noGrp="1"/>
          </p:cNvSpPr>
          <p:nvPr>
            <p:ph type="title"/>
          </p:nvPr>
        </p:nvSpPr>
        <p:spPr/>
        <p:txBody>
          <a:bodyPr/>
          <a:lstStyle/>
          <a:p>
            <a:r>
              <a:rPr lang="en-US" altLang="en-US" sz="3200" dirty="0">
                <a:sym typeface="Arial"/>
              </a:rPr>
              <a:t>Benefits of Closed Interview Questions</a:t>
            </a:r>
            <a:endParaRPr lang="en-US" sz="3200" dirty="0"/>
          </a:p>
        </p:txBody>
      </p:sp>
      <p:sp>
        <p:nvSpPr>
          <p:cNvPr id="3" name="Content Placeholder 2">
            <a:extLst>
              <a:ext uri="{FF2B5EF4-FFF2-40B4-BE49-F238E27FC236}">
                <a16:creationId xmlns:a16="http://schemas.microsoft.com/office/drawing/2014/main" id="{BEF8BD41-9C2F-482B-A85B-5009E34AA935}"/>
              </a:ext>
            </a:extLst>
          </p:cNvPr>
          <p:cNvSpPr>
            <a:spLocks noGrp="1"/>
          </p:cNvSpPr>
          <p:nvPr>
            <p:ph sz="quarter" idx="13"/>
          </p:nvPr>
        </p:nvSpPr>
        <p:spPr>
          <a:xfrm>
            <a:off x="457200" y="1556327"/>
            <a:ext cx="8229600" cy="3349048"/>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Save interview time</a:t>
            </a:r>
          </a:p>
          <a:p>
            <a:pPr marL="255651" lvl="0" indent="-255651">
              <a:spcAft>
                <a:spcPct val="0"/>
              </a:spcAft>
              <a:buSzPts val="2400"/>
              <a:tabLst/>
            </a:pPr>
            <a:r>
              <a:rPr lang="en-US" altLang="en-US" dirty="0">
                <a:solidFill>
                  <a:srgbClr val="000000"/>
                </a:solidFill>
                <a:cs typeface="Arial" panose="020B0604020202020204" pitchFamily="34" charset="0"/>
              </a:rPr>
              <a:t>Easily compare interviews</a:t>
            </a:r>
          </a:p>
          <a:p>
            <a:pPr marL="255651" lvl="0" indent="-255651">
              <a:spcAft>
                <a:spcPct val="0"/>
              </a:spcAft>
              <a:buSzPts val="2400"/>
              <a:tabLst/>
            </a:pPr>
            <a:r>
              <a:rPr lang="en-US" altLang="en-US" dirty="0">
                <a:solidFill>
                  <a:srgbClr val="000000"/>
                </a:solidFill>
                <a:cs typeface="Arial" panose="020B0604020202020204" pitchFamily="34" charset="0"/>
              </a:rPr>
              <a:t>Quickly get to the point</a:t>
            </a:r>
          </a:p>
          <a:p>
            <a:pPr marL="255651" lvl="0" indent="-255651">
              <a:spcAft>
                <a:spcPct val="0"/>
              </a:spcAft>
              <a:buSzPts val="2400"/>
              <a:tabLst/>
            </a:pPr>
            <a:r>
              <a:rPr lang="en-US" altLang="en-US" dirty="0">
                <a:solidFill>
                  <a:srgbClr val="000000"/>
                </a:solidFill>
                <a:cs typeface="Arial" panose="020B0604020202020204" pitchFamily="34" charset="0"/>
              </a:rPr>
              <a:t>Maintain control of the interview</a:t>
            </a:r>
          </a:p>
          <a:p>
            <a:pPr marL="255651" lvl="0" indent="-255651">
              <a:spcAft>
                <a:spcPct val="0"/>
              </a:spcAft>
              <a:buSzPts val="2400"/>
              <a:tabLst/>
            </a:pPr>
            <a:r>
              <a:rPr lang="en-US" altLang="en-US" dirty="0">
                <a:solidFill>
                  <a:srgbClr val="000000"/>
                </a:solidFill>
                <a:cs typeface="Arial" panose="020B0604020202020204" pitchFamily="34" charset="0"/>
              </a:rPr>
              <a:t>Cover a large area quickly</a:t>
            </a:r>
          </a:p>
          <a:p>
            <a:pPr marL="255651" lvl="0" indent="-255651">
              <a:spcAft>
                <a:spcPct val="0"/>
              </a:spcAft>
              <a:buSzPts val="2400"/>
              <a:tabLst/>
            </a:pPr>
            <a:r>
              <a:rPr lang="en-US" altLang="en-US" dirty="0">
                <a:solidFill>
                  <a:srgbClr val="000000"/>
                </a:solidFill>
                <a:cs typeface="Arial" panose="020B0604020202020204" pitchFamily="34" charset="0"/>
              </a:rPr>
              <a:t>Obtain relevant data</a:t>
            </a:r>
          </a:p>
        </p:txBody>
      </p:sp>
    </p:spTree>
    <p:extLst>
      <p:ext uri="{BB962C8B-B14F-4D97-AF65-F5344CB8AC3E}">
        <p14:creationId xmlns:p14="http://schemas.microsoft.com/office/powerpoint/2010/main" val="19339833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3355A-0268-4580-8583-C1B0E42F7580}"/>
              </a:ext>
            </a:extLst>
          </p:cNvPr>
          <p:cNvSpPr>
            <a:spLocks noGrp="1"/>
          </p:cNvSpPr>
          <p:nvPr>
            <p:ph type="title"/>
          </p:nvPr>
        </p:nvSpPr>
        <p:spPr/>
        <p:txBody>
          <a:bodyPr/>
          <a:lstStyle/>
          <a:p>
            <a:r>
              <a:rPr lang="en-US" altLang="en-US" sz="3200" dirty="0">
                <a:sym typeface="Arial"/>
              </a:rPr>
              <a:t>Disadvantages of Closed Interview Questions</a:t>
            </a:r>
            <a:endParaRPr lang="en-US" sz="3200" dirty="0"/>
          </a:p>
        </p:txBody>
      </p:sp>
      <p:sp>
        <p:nvSpPr>
          <p:cNvPr id="3" name="Content Placeholder 2">
            <a:extLst>
              <a:ext uri="{FF2B5EF4-FFF2-40B4-BE49-F238E27FC236}">
                <a16:creationId xmlns:a16="http://schemas.microsoft.com/office/drawing/2014/main" id="{68ECC855-1F7F-435F-A4B6-16CEDA2D26A1}"/>
              </a:ext>
            </a:extLst>
          </p:cNvPr>
          <p:cNvSpPr>
            <a:spLocks noGrp="1"/>
          </p:cNvSpPr>
          <p:nvPr>
            <p:ph sz="quarter" idx="13"/>
          </p:nvPr>
        </p:nvSpPr>
        <p:spPr>
          <a:xfrm>
            <a:off x="457200" y="1556327"/>
            <a:ext cx="8229600" cy="2734319"/>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May be boring for the interviewee</a:t>
            </a:r>
          </a:p>
          <a:p>
            <a:pPr marL="255651" lvl="0" indent="-255651">
              <a:spcAft>
                <a:spcPct val="0"/>
              </a:spcAft>
              <a:buSzPts val="2400"/>
              <a:tabLst/>
            </a:pPr>
            <a:r>
              <a:rPr lang="en-US" altLang="en-US" dirty="0">
                <a:solidFill>
                  <a:srgbClr val="000000"/>
                </a:solidFill>
                <a:cs typeface="Arial" panose="020B0604020202020204" pitchFamily="34" charset="0"/>
              </a:rPr>
              <a:t>May fail to obtain rich details</a:t>
            </a:r>
          </a:p>
          <a:p>
            <a:pPr marL="255651" lvl="0" indent="-255651">
              <a:spcAft>
                <a:spcPct val="0"/>
              </a:spcAft>
              <a:buSzPts val="2400"/>
              <a:tabLst/>
            </a:pPr>
            <a:r>
              <a:rPr lang="en-US" altLang="en-US" dirty="0">
                <a:solidFill>
                  <a:srgbClr val="000000"/>
                </a:solidFill>
                <a:cs typeface="Arial" panose="020B0604020202020204" pitchFamily="34" charset="0"/>
              </a:rPr>
              <a:t>May miss some main ideas</a:t>
            </a:r>
          </a:p>
          <a:p>
            <a:pPr marL="255651" lvl="0" indent="-255651">
              <a:spcAft>
                <a:spcPct val="0"/>
              </a:spcAft>
              <a:buSzPts val="2400"/>
              <a:tabLst/>
            </a:pPr>
            <a:r>
              <a:rPr lang="en-US" altLang="en-US" dirty="0">
                <a:solidFill>
                  <a:srgbClr val="000000"/>
                </a:solidFill>
                <a:cs typeface="Arial" panose="020B0604020202020204" pitchFamily="34" charset="0"/>
              </a:rPr>
              <a:t>May fail to build rapport between interviewer and interviewee</a:t>
            </a:r>
          </a:p>
        </p:txBody>
      </p:sp>
    </p:spTree>
    <p:extLst>
      <p:ext uri="{BB962C8B-B14F-4D97-AF65-F5344CB8AC3E}">
        <p14:creationId xmlns:p14="http://schemas.microsoft.com/office/powerpoint/2010/main" val="21185788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4A7BD-D39B-423A-94F6-C73FA14F0DB4}"/>
              </a:ext>
            </a:extLst>
          </p:cNvPr>
          <p:cNvSpPr>
            <a:spLocks noGrp="1"/>
          </p:cNvSpPr>
          <p:nvPr>
            <p:ph type="title"/>
          </p:nvPr>
        </p:nvSpPr>
        <p:spPr/>
        <p:txBody>
          <a:bodyPr/>
          <a:lstStyle/>
          <a:p>
            <a:r>
              <a:rPr lang="en-US" altLang="en-US" sz="3200" dirty="0">
                <a:sym typeface="Arial"/>
              </a:rPr>
              <a:t>Figure 4.5 Attributes of Open-Ended and Closed Questions</a:t>
            </a:r>
            <a:endParaRPr lang="en-US" sz="3200" dirty="0"/>
          </a:p>
        </p:txBody>
      </p:sp>
      <p:pic>
        <p:nvPicPr>
          <p:cNvPr id="5" name="Picture 4" descr="An image shows attributes of open-ended and closed questions. Long description in notes, press F6.">
            <a:extLst>
              <a:ext uri="{FF2B5EF4-FFF2-40B4-BE49-F238E27FC236}">
                <a16:creationId xmlns:a16="http://schemas.microsoft.com/office/drawing/2014/main" id="{6B800087-C8DD-4582-BD52-C6D453E33AFE}"/>
              </a:ext>
            </a:extLst>
          </p:cNvPr>
          <p:cNvPicPr>
            <a:picLocks noChangeAspect="1"/>
          </p:cNvPicPr>
          <p:nvPr/>
        </p:nvPicPr>
        <p:blipFill rotWithShape="1">
          <a:blip r:embed="rId3"/>
          <a:srcRect b="2724"/>
          <a:stretch/>
        </p:blipFill>
        <p:spPr>
          <a:xfrm>
            <a:off x="1188588" y="1685903"/>
            <a:ext cx="6766824" cy="4349137"/>
          </a:xfrm>
          <a:prstGeom prst="rect">
            <a:avLst/>
          </a:prstGeom>
        </p:spPr>
      </p:pic>
    </p:spTree>
    <p:extLst>
      <p:ext uri="{BB962C8B-B14F-4D97-AF65-F5344CB8AC3E}">
        <p14:creationId xmlns:p14="http://schemas.microsoft.com/office/powerpoint/2010/main" val="3016012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F0471-F12B-4BBE-BBFF-1E6ED5E33724}"/>
              </a:ext>
            </a:extLst>
          </p:cNvPr>
          <p:cNvSpPr>
            <a:spLocks noGrp="1"/>
          </p:cNvSpPr>
          <p:nvPr>
            <p:ph type="title"/>
          </p:nvPr>
        </p:nvSpPr>
        <p:spPr/>
        <p:txBody>
          <a:bodyPr/>
          <a:lstStyle/>
          <a:p>
            <a:r>
              <a:rPr lang="en-US" altLang="en-US" dirty="0">
                <a:sym typeface="Arial"/>
              </a:rPr>
              <a:t>Dichotomous Questions</a:t>
            </a:r>
            <a:endParaRPr lang="en-US" dirty="0"/>
          </a:p>
        </p:txBody>
      </p:sp>
      <p:sp>
        <p:nvSpPr>
          <p:cNvPr id="3" name="Content Placeholder 2">
            <a:extLst>
              <a:ext uri="{FF2B5EF4-FFF2-40B4-BE49-F238E27FC236}">
                <a16:creationId xmlns:a16="http://schemas.microsoft.com/office/drawing/2014/main" id="{30BF5D26-6FAE-4962-B858-D8258E761ED7}"/>
              </a:ext>
            </a:extLst>
          </p:cNvPr>
          <p:cNvSpPr>
            <a:spLocks noGrp="1"/>
          </p:cNvSpPr>
          <p:nvPr>
            <p:ph sz="quarter" idx="13"/>
          </p:nvPr>
        </p:nvSpPr>
        <p:spPr>
          <a:xfrm>
            <a:off x="457200" y="1556327"/>
            <a:ext cx="8229600" cy="2185679"/>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Dichotomous questions are those that may be answered with a “yes” or “no” or “agree” or “disagree”</a:t>
            </a:r>
          </a:p>
          <a:p>
            <a:pPr marL="255651" lvl="0" indent="-255651">
              <a:spcAft>
                <a:spcPct val="0"/>
              </a:spcAft>
              <a:buSzPts val="2400"/>
              <a:tabLst/>
            </a:pPr>
            <a:r>
              <a:rPr lang="en-US" altLang="en-US" dirty="0">
                <a:solidFill>
                  <a:srgbClr val="000000"/>
                </a:solidFill>
                <a:cs typeface="Arial" panose="020B0604020202020204" pitchFamily="34" charset="0"/>
              </a:rPr>
              <a:t>Dichotomous questions should be used sparingly</a:t>
            </a:r>
          </a:p>
          <a:p>
            <a:pPr marL="255651" lvl="0" indent="-255651">
              <a:spcAft>
                <a:spcPct val="0"/>
              </a:spcAft>
              <a:buSzPts val="2400"/>
              <a:tabLst/>
            </a:pPr>
            <a:r>
              <a:rPr lang="en-US" altLang="en-US" dirty="0">
                <a:solidFill>
                  <a:srgbClr val="000000"/>
                </a:solidFill>
                <a:cs typeface="Arial" panose="020B0604020202020204" pitchFamily="34" charset="0"/>
              </a:rPr>
              <a:t>A special kind of closed question</a:t>
            </a:r>
          </a:p>
        </p:txBody>
      </p:sp>
    </p:spTree>
    <p:extLst>
      <p:ext uri="{BB962C8B-B14F-4D97-AF65-F5344CB8AC3E}">
        <p14:creationId xmlns:p14="http://schemas.microsoft.com/office/powerpoint/2010/main" val="22800358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95D90-F821-43B0-918E-B34903336DEC}"/>
              </a:ext>
            </a:extLst>
          </p:cNvPr>
          <p:cNvSpPr>
            <a:spLocks noGrp="1"/>
          </p:cNvSpPr>
          <p:nvPr>
            <p:ph type="title"/>
          </p:nvPr>
        </p:nvSpPr>
        <p:spPr/>
        <p:txBody>
          <a:bodyPr/>
          <a:lstStyle/>
          <a:p>
            <a:r>
              <a:rPr lang="en-US" altLang="en-US" dirty="0">
                <a:sym typeface="Arial"/>
              </a:rPr>
              <a:t>Probes</a:t>
            </a:r>
            <a:endParaRPr lang="en-US" dirty="0"/>
          </a:p>
        </p:txBody>
      </p:sp>
      <p:sp>
        <p:nvSpPr>
          <p:cNvPr id="3" name="Content Placeholder 2">
            <a:extLst>
              <a:ext uri="{FF2B5EF4-FFF2-40B4-BE49-F238E27FC236}">
                <a16:creationId xmlns:a16="http://schemas.microsoft.com/office/drawing/2014/main" id="{E7A76321-778E-448B-83FB-32FB3E467DC8}"/>
              </a:ext>
            </a:extLst>
          </p:cNvPr>
          <p:cNvSpPr>
            <a:spLocks noGrp="1"/>
          </p:cNvSpPr>
          <p:nvPr>
            <p:ph sz="quarter" idx="13"/>
          </p:nvPr>
        </p:nvSpPr>
        <p:spPr>
          <a:xfrm>
            <a:off x="457200" y="1556327"/>
            <a:ext cx="8229600" cy="3451771"/>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Probing questions elicit more detail about previous questions</a:t>
            </a:r>
          </a:p>
          <a:p>
            <a:pPr marL="255651" lvl="0" indent="-255651">
              <a:spcAft>
                <a:spcPct val="0"/>
              </a:spcAft>
              <a:buSzPts val="2400"/>
              <a:tabLst/>
            </a:pPr>
            <a:r>
              <a:rPr lang="en-US" altLang="en-US" dirty="0">
                <a:solidFill>
                  <a:srgbClr val="000000"/>
                </a:solidFill>
                <a:cs typeface="Arial" panose="020B0604020202020204" pitchFamily="34" charset="0"/>
              </a:rPr>
              <a:t>The purpose of probing questions is:</a:t>
            </a:r>
          </a:p>
          <a:p>
            <a:pPr marL="741553" lvl="1" indent="-284353">
              <a:spcAft>
                <a:spcPct val="0"/>
              </a:spcAft>
              <a:buSzPts val="2400"/>
            </a:pPr>
            <a:r>
              <a:rPr lang="en-US" altLang="en-US" dirty="0">
                <a:solidFill>
                  <a:srgbClr val="000000"/>
                </a:solidFill>
                <a:cs typeface="Arial" panose="020B0604020202020204" pitchFamily="34" charset="0"/>
              </a:rPr>
              <a:t>To get more meaning</a:t>
            </a:r>
          </a:p>
          <a:p>
            <a:pPr marL="741553" lvl="1" indent="-284353">
              <a:spcAft>
                <a:spcPct val="0"/>
              </a:spcAft>
              <a:buSzPts val="2400"/>
            </a:pPr>
            <a:r>
              <a:rPr lang="en-US" altLang="en-US" dirty="0">
                <a:solidFill>
                  <a:srgbClr val="000000"/>
                </a:solidFill>
                <a:cs typeface="Arial" panose="020B0604020202020204" pitchFamily="34" charset="0"/>
              </a:rPr>
              <a:t>To clarify</a:t>
            </a:r>
          </a:p>
          <a:p>
            <a:pPr marL="741553" lvl="1" indent="-284353">
              <a:spcAft>
                <a:spcPct val="0"/>
              </a:spcAft>
              <a:buSzPts val="2400"/>
            </a:pPr>
            <a:r>
              <a:rPr lang="en-US" altLang="en-US" dirty="0">
                <a:solidFill>
                  <a:srgbClr val="000000"/>
                </a:solidFill>
                <a:cs typeface="Arial" panose="020B0604020202020204" pitchFamily="34" charset="0"/>
              </a:rPr>
              <a:t>To draw out and expand on the interviewee’s point</a:t>
            </a:r>
          </a:p>
          <a:p>
            <a:pPr marL="255651" lvl="0" indent="-255651">
              <a:spcAft>
                <a:spcPct val="0"/>
              </a:spcAft>
              <a:buSzPts val="2400"/>
              <a:tabLst/>
            </a:pPr>
            <a:r>
              <a:rPr lang="en-US" altLang="en-US" dirty="0">
                <a:solidFill>
                  <a:srgbClr val="000000"/>
                </a:solidFill>
                <a:cs typeface="Arial" panose="020B0604020202020204" pitchFamily="34" charset="0"/>
              </a:rPr>
              <a:t>May be either open-ended or closed</a:t>
            </a:r>
          </a:p>
        </p:txBody>
      </p:sp>
    </p:spTree>
    <p:extLst>
      <p:ext uri="{BB962C8B-B14F-4D97-AF65-F5344CB8AC3E}">
        <p14:creationId xmlns:p14="http://schemas.microsoft.com/office/powerpoint/2010/main" val="2930232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FB8EC-2462-4CB5-A440-434D00766A2A}"/>
              </a:ext>
            </a:extLst>
          </p:cNvPr>
          <p:cNvSpPr>
            <a:spLocks noGrp="1"/>
          </p:cNvSpPr>
          <p:nvPr>
            <p:ph type="title"/>
          </p:nvPr>
        </p:nvSpPr>
        <p:spPr/>
        <p:txBody>
          <a:bodyPr/>
          <a:lstStyle/>
          <a:p>
            <a:r>
              <a:rPr lang="en-US" altLang="en-US" dirty="0">
                <a:sym typeface="Arial"/>
              </a:rPr>
              <a:t>Arranging Questions</a:t>
            </a:r>
            <a:endParaRPr lang="en-US" dirty="0"/>
          </a:p>
        </p:txBody>
      </p:sp>
      <p:sp>
        <p:nvSpPr>
          <p:cNvPr id="3" name="Content Placeholder 2">
            <a:extLst>
              <a:ext uri="{FF2B5EF4-FFF2-40B4-BE49-F238E27FC236}">
                <a16:creationId xmlns:a16="http://schemas.microsoft.com/office/drawing/2014/main" id="{1646BBA3-BFB5-41BA-A036-3E1A9C109962}"/>
              </a:ext>
            </a:extLst>
          </p:cNvPr>
          <p:cNvSpPr>
            <a:spLocks noGrp="1"/>
          </p:cNvSpPr>
          <p:nvPr>
            <p:ph sz="quarter" idx="13"/>
          </p:nvPr>
        </p:nvSpPr>
        <p:spPr>
          <a:xfrm>
            <a:off x="457200" y="1556327"/>
            <a:ext cx="8229600" cy="4141088"/>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Pyramid</a:t>
            </a:r>
          </a:p>
          <a:p>
            <a:pPr marL="741553" lvl="1" indent="-284353">
              <a:spcAft>
                <a:spcPct val="0"/>
              </a:spcAft>
              <a:buSzPts val="2400"/>
            </a:pPr>
            <a:r>
              <a:rPr lang="en-US" altLang="en-US" dirty="0">
                <a:solidFill>
                  <a:srgbClr val="000000"/>
                </a:solidFill>
                <a:cs typeface="Arial" panose="020B0604020202020204" pitchFamily="34" charset="0"/>
              </a:rPr>
              <a:t>Starts with closed questions and works toward open-ended questions</a:t>
            </a:r>
          </a:p>
          <a:p>
            <a:pPr marL="255651" lvl="0" indent="-255651">
              <a:spcAft>
                <a:spcPct val="0"/>
              </a:spcAft>
              <a:buSzPts val="2400"/>
              <a:tabLst/>
            </a:pPr>
            <a:r>
              <a:rPr lang="en-US" altLang="en-US" dirty="0">
                <a:solidFill>
                  <a:srgbClr val="000000"/>
                </a:solidFill>
                <a:cs typeface="Arial" panose="020B0604020202020204" pitchFamily="34" charset="0"/>
              </a:rPr>
              <a:t>Funnel</a:t>
            </a:r>
          </a:p>
          <a:p>
            <a:pPr marL="741553" lvl="1" indent="-284353">
              <a:spcAft>
                <a:spcPct val="0"/>
              </a:spcAft>
              <a:buSzPts val="2400"/>
            </a:pPr>
            <a:r>
              <a:rPr lang="en-US" altLang="en-US" dirty="0">
                <a:solidFill>
                  <a:srgbClr val="000000"/>
                </a:solidFill>
                <a:cs typeface="Arial" panose="020B0604020202020204" pitchFamily="34" charset="0"/>
              </a:rPr>
              <a:t>Starts with open-ended questions and works toward closed questions</a:t>
            </a:r>
          </a:p>
          <a:p>
            <a:pPr marL="255651" lvl="0" indent="-255651">
              <a:spcAft>
                <a:spcPct val="0"/>
              </a:spcAft>
              <a:buSzPts val="2400"/>
              <a:tabLst/>
            </a:pPr>
            <a:r>
              <a:rPr lang="en-US" altLang="en-US" dirty="0">
                <a:solidFill>
                  <a:srgbClr val="000000"/>
                </a:solidFill>
                <a:cs typeface="Arial" panose="020B0604020202020204" pitchFamily="34" charset="0"/>
              </a:rPr>
              <a:t>Diamond</a:t>
            </a:r>
          </a:p>
          <a:p>
            <a:pPr marL="741553" lvl="1" indent="-284353">
              <a:spcAft>
                <a:spcPct val="0"/>
              </a:spcAft>
              <a:buSzPts val="2400"/>
            </a:pPr>
            <a:r>
              <a:rPr lang="en-US" altLang="en-US" dirty="0">
                <a:solidFill>
                  <a:srgbClr val="000000"/>
                </a:solidFill>
                <a:cs typeface="Arial" panose="020B0604020202020204" pitchFamily="34" charset="0"/>
              </a:rPr>
              <a:t>Starts with closed, moving toward open-ended, and ends with closed questions</a:t>
            </a:r>
          </a:p>
        </p:txBody>
      </p:sp>
    </p:spTree>
    <p:extLst>
      <p:ext uri="{BB962C8B-B14F-4D97-AF65-F5344CB8AC3E}">
        <p14:creationId xmlns:p14="http://schemas.microsoft.com/office/powerpoint/2010/main" val="41165371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9E9BE-56C3-46DC-A210-62B8CD735C19}"/>
              </a:ext>
            </a:extLst>
          </p:cNvPr>
          <p:cNvSpPr>
            <a:spLocks noGrp="1"/>
          </p:cNvSpPr>
          <p:nvPr>
            <p:ph type="title"/>
          </p:nvPr>
        </p:nvSpPr>
        <p:spPr/>
        <p:txBody>
          <a:bodyPr/>
          <a:lstStyle/>
          <a:p>
            <a:r>
              <a:rPr lang="en-US" altLang="en-US" dirty="0">
                <a:sym typeface="Arial"/>
              </a:rPr>
              <a:t>Pyramid Structure</a:t>
            </a:r>
            <a:endParaRPr lang="en-US" dirty="0"/>
          </a:p>
        </p:txBody>
      </p:sp>
      <p:sp>
        <p:nvSpPr>
          <p:cNvPr id="3" name="Content Placeholder 2">
            <a:extLst>
              <a:ext uri="{FF2B5EF4-FFF2-40B4-BE49-F238E27FC236}">
                <a16:creationId xmlns:a16="http://schemas.microsoft.com/office/drawing/2014/main" id="{65F64ABF-5F0C-414F-9CB8-C7C38F8431A9}"/>
              </a:ext>
            </a:extLst>
          </p:cNvPr>
          <p:cNvSpPr>
            <a:spLocks noGrp="1"/>
          </p:cNvSpPr>
          <p:nvPr>
            <p:ph sz="quarter" idx="13"/>
          </p:nvPr>
        </p:nvSpPr>
        <p:spPr>
          <a:xfrm>
            <a:off x="457200" y="1556327"/>
            <a:ext cx="8229600" cy="2452965"/>
          </a:xfrm>
        </p:spPr>
        <p:txBody>
          <a:bodyPr/>
          <a:lstStyle/>
          <a:p>
            <a:pPr marL="255651" lvl="0" indent="-255651">
              <a:spcAft>
                <a:spcPct val="0"/>
              </a:spcAft>
              <a:buSzPts val="2400"/>
              <a:tabLst/>
            </a:pPr>
            <a:r>
              <a:rPr lang="en-US" altLang="en-US" dirty="0">
                <a:solidFill>
                  <a:srgbClr val="000000"/>
                </a:solidFill>
                <a:latin typeface="Arial" panose="020B0604020202020204" pitchFamily="34" charset="0"/>
                <a:cs typeface="Arial" panose="020B0604020202020204" pitchFamily="34" charset="0"/>
              </a:rPr>
              <a:t>Begins with very detailed, often closed questions</a:t>
            </a:r>
          </a:p>
          <a:p>
            <a:pPr marL="255651" lvl="0" indent="-255651">
              <a:spcAft>
                <a:spcPct val="0"/>
              </a:spcAft>
              <a:buSzPts val="2400"/>
              <a:tabLst/>
            </a:pPr>
            <a:r>
              <a:rPr lang="en-US" altLang="en-US" dirty="0">
                <a:solidFill>
                  <a:srgbClr val="000000"/>
                </a:solidFill>
                <a:latin typeface="Arial" panose="020B0604020202020204" pitchFamily="34" charset="0"/>
                <a:cs typeface="Arial" panose="020B0604020202020204" pitchFamily="34" charset="0"/>
              </a:rPr>
              <a:t>Expands by allowing open-ended questions and more generalized responses</a:t>
            </a:r>
          </a:p>
          <a:p>
            <a:pPr marL="255651" lvl="0" indent="-255651">
              <a:spcAft>
                <a:spcPct val="0"/>
              </a:spcAft>
              <a:buSzPts val="2400"/>
              <a:tabLst/>
            </a:pPr>
            <a:r>
              <a:rPr lang="en-US" altLang="en-US" dirty="0">
                <a:solidFill>
                  <a:srgbClr val="000000"/>
                </a:solidFill>
                <a:latin typeface="Arial" panose="020B0604020202020204" pitchFamily="34" charset="0"/>
                <a:cs typeface="Arial" panose="020B0604020202020204" pitchFamily="34" charset="0"/>
              </a:rPr>
              <a:t>Is useful if interviewees need to be warmed up to the topic or seem reluctant to address the topic</a:t>
            </a:r>
          </a:p>
        </p:txBody>
      </p:sp>
    </p:spTree>
    <p:extLst>
      <p:ext uri="{BB962C8B-B14F-4D97-AF65-F5344CB8AC3E}">
        <p14:creationId xmlns:p14="http://schemas.microsoft.com/office/powerpoint/2010/main" val="31781771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DB1F9-23E8-44BC-BF20-CC77350D3EFE}"/>
              </a:ext>
            </a:extLst>
          </p:cNvPr>
          <p:cNvSpPr>
            <a:spLocks noGrp="1"/>
          </p:cNvSpPr>
          <p:nvPr>
            <p:ph type="title"/>
          </p:nvPr>
        </p:nvSpPr>
        <p:spPr/>
        <p:txBody>
          <a:bodyPr/>
          <a:lstStyle/>
          <a:p>
            <a:r>
              <a:rPr lang="en-US" altLang="en-US" sz="2800" dirty="0">
                <a:sym typeface="Arial"/>
              </a:rPr>
              <a:t>Figure 4.7 Pyramid Structure for Interviewing Goes from Specific to General Questions</a:t>
            </a:r>
            <a:endParaRPr lang="en-US" sz="2800" dirty="0"/>
          </a:p>
        </p:txBody>
      </p:sp>
      <p:pic>
        <p:nvPicPr>
          <p:cNvPr id="5" name="Picture 4" descr="An image shows a pyramid structure for interviewing, going from specific questions to general questions. Long description in notes, press F6.">
            <a:extLst>
              <a:ext uri="{FF2B5EF4-FFF2-40B4-BE49-F238E27FC236}">
                <a16:creationId xmlns:a16="http://schemas.microsoft.com/office/drawing/2014/main" id="{6EF49B3F-544A-40E9-A94B-8B1A3641BBA7}"/>
              </a:ext>
            </a:extLst>
          </p:cNvPr>
          <p:cNvPicPr>
            <a:picLocks noChangeAspect="1"/>
          </p:cNvPicPr>
          <p:nvPr/>
        </p:nvPicPr>
        <p:blipFill rotWithShape="1">
          <a:blip r:embed="rId3"/>
          <a:srcRect t="1" b="2224"/>
          <a:stretch/>
        </p:blipFill>
        <p:spPr>
          <a:xfrm>
            <a:off x="2060750" y="1709958"/>
            <a:ext cx="5022500" cy="4296947"/>
          </a:xfrm>
          <a:prstGeom prst="rect">
            <a:avLst/>
          </a:prstGeom>
        </p:spPr>
      </p:pic>
    </p:spTree>
    <p:extLst>
      <p:ext uri="{BB962C8B-B14F-4D97-AF65-F5344CB8AC3E}">
        <p14:creationId xmlns:p14="http://schemas.microsoft.com/office/powerpoint/2010/main" val="42671835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06446-3EB9-453A-B2B0-18CC897FC36F}"/>
              </a:ext>
            </a:extLst>
          </p:cNvPr>
          <p:cNvSpPr>
            <a:spLocks noGrp="1"/>
          </p:cNvSpPr>
          <p:nvPr>
            <p:ph type="title"/>
          </p:nvPr>
        </p:nvSpPr>
        <p:spPr/>
        <p:txBody>
          <a:bodyPr/>
          <a:lstStyle/>
          <a:p>
            <a:r>
              <a:rPr lang="en-US" altLang="en-US" dirty="0">
                <a:sym typeface="Arial"/>
              </a:rPr>
              <a:t>Funnel Structure</a:t>
            </a:r>
            <a:endParaRPr lang="en-US" dirty="0"/>
          </a:p>
        </p:txBody>
      </p:sp>
      <p:sp>
        <p:nvSpPr>
          <p:cNvPr id="3" name="Content Placeholder 2">
            <a:extLst>
              <a:ext uri="{FF2B5EF4-FFF2-40B4-BE49-F238E27FC236}">
                <a16:creationId xmlns:a16="http://schemas.microsoft.com/office/drawing/2014/main" id="{DA47FF77-9E83-4121-92FA-855F3307893C}"/>
              </a:ext>
            </a:extLst>
          </p:cNvPr>
          <p:cNvSpPr>
            <a:spLocks noGrp="1"/>
          </p:cNvSpPr>
          <p:nvPr>
            <p:ph sz="quarter" idx="13"/>
          </p:nvPr>
        </p:nvSpPr>
        <p:spPr>
          <a:xfrm>
            <a:off x="457200" y="1556327"/>
            <a:ext cx="8229600" cy="3451771"/>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Begins with generalized, open-ended questions</a:t>
            </a:r>
          </a:p>
          <a:p>
            <a:pPr marL="255651" lvl="0" indent="-255651">
              <a:spcAft>
                <a:spcPct val="0"/>
              </a:spcAft>
              <a:buSzPts val="2400"/>
              <a:tabLst/>
            </a:pPr>
            <a:r>
              <a:rPr lang="en-US" altLang="en-US" dirty="0">
                <a:solidFill>
                  <a:srgbClr val="000000"/>
                </a:solidFill>
                <a:cs typeface="Arial" panose="020B0604020202020204" pitchFamily="34" charset="0"/>
              </a:rPr>
              <a:t>Concludes by narrowing the possible responses using closed questions</a:t>
            </a:r>
          </a:p>
          <a:p>
            <a:pPr marL="255651" lvl="0" indent="-255651">
              <a:spcAft>
                <a:spcPct val="0"/>
              </a:spcAft>
              <a:buSzPts val="2400"/>
              <a:tabLst/>
            </a:pPr>
            <a:r>
              <a:rPr lang="en-US" altLang="en-US" dirty="0">
                <a:solidFill>
                  <a:srgbClr val="000000"/>
                </a:solidFill>
                <a:cs typeface="Arial" panose="020B0604020202020204" pitchFamily="34" charset="0"/>
              </a:rPr>
              <a:t>Provides an easy, nonthreatening way to begin an interview</a:t>
            </a:r>
          </a:p>
          <a:p>
            <a:pPr marL="255651" lvl="0" indent="-255651">
              <a:spcAft>
                <a:spcPct val="0"/>
              </a:spcAft>
              <a:buSzPts val="2400"/>
              <a:tabLst/>
            </a:pPr>
            <a:r>
              <a:rPr lang="en-US" altLang="en-US" dirty="0">
                <a:solidFill>
                  <a:srgbClr val="000000"/>
                </a:solidFill>
                <a:cs typeface="Arial" panose="020B0604020202020204" pitchFamily="34" charset="0"/>
              </a:rPr>
              <a:t>Is useful when the interviewee feels emotionally about the topic</a:t>
            </a:r>
          </a:p>
        </p:txBody>
      </p:sp>
    </p:spTree>
    <p:extLst>
      <p:ext uri="{BB962C8B-B14F-4D97-AF65-F5344CB8AC3E}">
        <p14:creationId xmlns:p14="http://schemas.microsoft.com/office/powerpoint/2010/main" val="22406867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7E62E-6080-4548-A5A5-FF01C0C5B175}"/>
              </a:ext>
            </a:extLst>
          </p:cNvPr>
          <p:cNvSpPr>
            <a:spLocks noGrp="1"/>
          </p:cNvSpPr>
          <p:nvPr>
            <p:ph type="title"/>
          </p:nvPr>
        </p:nvSpPr>
        <p:spPr>
          <a:xfrm>
            <a:off x="457200" y="70339"/>
            <a:ext cx="8229600" cy="1242312"/>
          </a:xfrm>
        </p:spPr>
        <p:txBody>
          <a:bodyPr/>
          <a:lstStyle/>
          <a:p>
            <a:r>
              <a:rPr lang="en-US" altLang="en-US" sz="2400" dirty="0">
                <a:sym typeface="Arial"/>
              </a:rPr>
              <a:t>Figure 4.8 Funnel Structure for Interviewing Begins with Broad Questions Then Funnels to Specific Questions</a:t>
            </a:r>
            <a:endParaRPr lang="en-US" sz="2400" dirty="0"/>
          </a:p>
        </p:txBody>
      </p:sp>
      <p:pic>
        <p:nvPicPr>
          <p:cNvPr id="5" name="Picture 4" descr="An image shows the funnel structure for interviewing, moving from general questions to specific questions. Long description in notes, press F6.">
            <a:extLst>
              <a:ext uri="{FF2B5EF4-FFF2-40B4-BE49-F238E27FC236}">
                <a16:creationId xmlns:a16="http://schemas.microsoft.com/office/drawing/2014/main" id="{2A80FAAB-C5A2-4593-905F-5BF20D397E09}"/>
              </a:ext>
            </a:extLst>
          </p:cNvPr>
          <p:cNvPicPr>
            <a:picLocks noChangeAspect="1"/>
          </p:cNvPicPr>
          <p:nvPr/>
        </p:nvPicPr>
        <p:blipFill rotWithShape="1">
          <a:blip r:embed="rId3"/>
          <a:srcRect b="2864"/>
          <a:stretch/>
        </p:blipFill>
        <p:spPr>
          <a:xfrm>
            <a:off x="1838315" y="1666742"/>
            <a:ext cx="5467370" cy="4467787"/>
          </a:xfrm>
          <a:prstGeom prst="rect">
            <a:avLst/>
          </a:prstGeom>
        </p:spPr>
      </p:pic>
    </p:spTree>
    <p:extLst>
      <p:ext uri="{BB962C8B-B14F-4D97-AF65-F5344CB8AC3E}">
        <p14:creationId xmlns:p14="http://schemas.microsoft.com/office/powerpoint/2010/main" val="30725426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7E62E-6080-4548-A5A5-FF01C0C5B175}"/>
              </a:ext>
            </a:extLst>
          </p:cNvPr>
          <p:cNvSpPr>
            <a:spLocks noGrp="1"/>
          </p:cNvSpPr>
          <p:nvPr>
            <p:ph type="title"/>
          </p:nvPr>
        </p:nvSpPr>
        <p:spPr/>
        <p:txBody>
          <a:bodyPr/>
          <a:lstStyle/>
          <a:p>
            <a:r>
              <a:rPr lang="en-US" altLang="en-US" dirty="0">
                <a:sym typeface="Arial"/>
              </a:rPr>
              <a:t>Diamond Structure</a:t>
            </a:r>
            <a:endParaRPr lang="en-US" dirty="0"/>
          </a:p>
        </p:txBody>
      </p:sp>
      <p:sp>
        <p:nvSpPr>
          <p:cNvPr id="3" name="Content Placeholder 2">
            <a:extLst>
              <a:ext uri="{FF2B5EF4-FFF2-40B4-BE49-F238E27FC236}">
                <a16:creationId xmlns:a16="http://schemas.microsoft.com/office/drawing/2014/main" id="{92B052F7-1028-45BD-8203-AFC9B38C3893}"/>
              </a:ext>
            </a:extLst>
          </p:cNvPr>
          <p:cNvSpPr>
            <a:spLocks noGrp="1"/>
          </p:cNvSpPr>
          <p:nvPr>
            <p:ph sz="quarter" idx="13"/>
          </p:nvPr>
        </p:nvSpPr>
        <p:spPr>
          <a:xfrm>
            <a:off x="457200" y="1556327"/>
            <a:ext cx="8280400" cy="3184485"/>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A diamond-shaped structure begins in a very specific way</a:t>
            </a:r>
          </a:p>
          <a:p>
            <a:pPr marL="255651" lvl="0" indent="-255651">
              <a:spcAft>
                <a:spcPct val="0"/>
              </a:spcAft>
              <a:buSzPts val="2400"/>
              <a:tabLst/>
            </a:pPr>
            <a:r>
              <a:rPr lang="en-US" altLang="en-US" dirty="0">
                <a:solidFill>
                  <a:srgbClr val="000000"/>
                </a:solidFill>
                <a:cs typeface="Arial" panose="020B0604020202020204" pitchFamily="34" charset="0"/>
              </a:rPr>
              <a:t>Then more general issues are examined</a:t>
            </a:r>
          </a:p>
          <a:p>
            <a:pPr marL="255651" lvl="0" indent="-255651">
              <a:spcAft>
                <a:spcPct val="0"/>
              </a:spcAft>
              <a:buSzPts val="2400"/>
              <a:tabLst/>
            </a:pPr>
            <a:r>
              <a:rPr lang="en-US" altLang="en-US" dirty="0">
                <a:solidFill>
                  <a:srgbClr val="000000"/>
                </a:solidFill>
                <a:cs typeface="Arial" panose="020B0604020202020204" pitchFamily="34" charset="0"/>
              </a:rPr>
              <a:t>Concludes with specific questions</a:t>
            </a:r>
          </a:p>
          <a:p>
            <a:pPr marL="255651" lvl="0" indent="-255651">
              <a:spcAft>
                <a:spcPct val="0"/>
              </a:spcAft>
              <a:buSzPts val="2400"/>
              <a:tabLst/>
            </a:pPr>
            <a:r>
              <a:rPr lang="en-US" altLang="en-US" dirty="0">
                <a:solidFill>
                  <a:srgbClr val="000000"/>
                </a:solidFill>
                <a:cs typeface="Arial" panose="020B0604020202020204" pitchFamily="34" charset="0"/>
              </a:rPr>
              <a:t>Combines the strength of both the pyramid and funnel structures</a:t>
            </a:r>
          </a:p>
          <a:p>
            <a:pPr marL="255651" lvl="0" indent="-255651">
              <a:spcAft>
                <a:spcPct val="0"/>
              </a:spcAft>
              <a:buSzPts val="2400"/>
              <a:tabLst/>
            </a:pPr>
            <a:r>
              <a:rPr lang="en-US" altLang="en-US" dirty="0">
                <a:solidFill>
                  <a:srgbClr val="000000"/>
                </a:solidFill>
                <a:cs typeface="Arial" panose="020B0604020202020204" pitchFamily="34" charset="0"/>
              </a:rPr>
              <a:t>Takes longer than the other structures</a:t>
            </a:r>
          </a:p>
        </p:txBody>
      </p:sp>
    </p:spTree>
    <p:extLst>
      <p:ext uri="{BB962C8B-B14F-4D97-AF65-F5344CB8AC3E}">
        <p14:creationId xmlns:p14="http://schemas.microsoft.com/office/powerpoint/2010/main" val="40039207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B2A94-820F-4707-93B1-C01A33E785F7}"/>
              </a:ext>
            </a:extLst>
          </p:cNvPr>
          <p:cNvSpPr>
            <a:spLocks noGrp="1"/>
          </p:cNvSpPr>
          <p:nvPr>
            <p:ph type="title"/>
          </p:nvPr>
        </p:nvSpPr>
        <p:spPr/>
        <p:txBody>
          <a:bodyPr/>
          <a:lstStyle/>
          <a:p>
            <a:r>
              <a:rPr lang="en-US" altLang="en-US" sz="2400" dirty="0">
                <a:sym typeface="Arial"/>
              </a:rPr>
              <a:t>Figure 4.9 Diamond-Shaped Structure for Interviewing Combines the Pyramid and Funnel Structures</a:t>
            </a:r>
            <a:endParaRPr lang="en-US" sz="2400" dirty="0"/>
          </a:p>
        </p:txBody>
      </p:sp>
      <p:pic>
        <p:nvPicPr>
          <p:cNvPr id="5" name="Picture 4" descr="An image shows a diamond-shaped structure for interviewing, depicting a combination of pyramid and funnel structure. Long description in notes, press F6.">
            <a:extLst>
              <a:ext uri="{FF2B5EF4-FFF2-40B4-BE49-F238E27FC236}">
                <a16:creationId xmlns:a16="http://schemas.microsoft.com/office/drawing/2014/main" id="{F8A331D5-6C30-43E2-9940-5312C0430BE0}"/>
              </a:ext>
            </a:extLst>
          </p:cNvPr>
          <p:cNvPicPr>
            <a:picLocks noChangeAspect="1"/>
          </p:cNvPicPr>
          <p:nvPr/>
        </p:nvPicPr>
        <p:blipFill rotWithShape="1">
          <a:blip r:embed="rId3"/>
          <a:srcRect b="2544"/>
          <a:stretch/>
        </p:blipFill>
        <p:spPr>
          <a:xfrm>
            <a:off x="2423974" y="1578085"/>
            <a:ext cx="4296053" cy="4664522"/>
          </a:xfrm>
          <a:prstGeom prst="rect">
            <a:avLst/>
          </a:prstGeom>
        </p:spPr>
      </p:pic>
    </p:spTree>
    <p:extLst>
      <p:ext uri="{BB962C8B-B14F-4D97-AF65-F5344CB8AC3E}">
        <p14:creationId xmlns:p14="http://schemas.microsoft.com/office/powerpoint/2010/main" val="40647572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F9CF4-629E-443B-BC1E-22EE317293B3}"/>
              </a:ext>
            </a:extLst>
          </p:cNvPr>
          <p:cNvSpPr>
            <a:spLocks noGrp="1"/>
          </p:cNvSpPr>
          <p:nvPr>
            <p:ph type="title"/>
          </p:nvPr>
        </p:nvSpPr>
        <p:spPr/>
        <p:txBody>
          <a:bodyPr/>
          <a:lstStyle/>
          <a:p>
            <a:r>
              <a:rPr lang="en-US" altLang="en-US" dirty="0">
                <a:sym typeface="Arial"/>
              </a:rPr>
              <a:t>Closing the Interview</a:t>
            </a:r>
            <a:endParaRPr lang="en-US" dirty="0"/>
          </a:p>
        </p:txBody>
      </p:sp>
      <p:sp>
        <p:nvSpPr>
          <p:cNvPr id="3" name="Content Placeholder 2">
            <a:extLst>
              <a:ext uri="{FF2B5EF4-FFF2-40B4-BE49-F238E27FC236}">
                <a16:creationId xmlns:a16="http://schemas.microsoft.com/office/drawing/2014/main" id="{159DD365-050B-4EB3-A5B8-E2355E68731F}"/>
              </a:ext>
            </a:extLst>
          </p:cNvPr>
          <p:cNvSpPr>
            <a:spLocks noGrp="1"/>
          </p:cNvSpPr>
          <p:nvPr>
            <p:ph sz="quarter" idx="13"/>
          </p:nvPr>
        </p:nvSpPr>
        <p:spPr>
          <a:xfrm>
            <a:off x="457200" y="1556327"/>
            <a:ext cx="8229600" cy="3254824"/>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Always ask “Is there anything we haven’t touched on that you feel is important  for me to know?”</a:t>
            </a:r>
          </a:p>
          <a:p>
            <a:pPr marL="255651" lvl="0" indent="-255651">
              <a:spcAft>
                <a:spcPct val="0"/>
              </a:spcAft>
              <a:buSzPts val="2400"/>
              <a:tabLst/>
            </a:pPr>
            <a:r>
              <a:rPr lang="en-US" altLang="en-US" dirty="0">
                <a:solidFill>
                  <a:srgbClr val="000000"/>
                </a:solidFill>
                <a:cs typeface="Arial" panose="020B0604020202020204" pitchFamily="34" charset="0"/>
              </a:rPr>
              <a:t>Summarize and provide feedback on your impressions</a:t>
            </a:r>
          </a:p>
          <a:p>
            <a:pPr marL="255651" lvl="0" indent="-255651">
              <a:spcAft>
                <a:spcPct val="0"/>
              </a:spcAft>
              <a:buSzPts val="2400"/>
              <a:tabLst/>
            </a:pPr>
            <a:r>
              <a:rPr lang="en-US" altLang="en-US" dirty="0">
                <a:solidFill>
                  <a:srgbClr val="000000"/>
                </a:solidFill>
                <a:cs typeface="Arial" panose="020B0604020202020204" pitchFamily="34" charset="0"/>
              </a:rPr>
              <a:t>Ask whom you should talk with next</a:t>
            </a:r>
          </a:p>
          <a:p>
            <a:pPr marL="255651" lvl="0" indent="-255651">
              <a:spcAft>
                <a:spcPct val="0"/>
              </a:spcAft>
              <a:buSzPts val="2400"/>
              <a:tabLst/>
            </a:pPr>
            <a:r>
              <a:rPr lang="en-US" altLang="en-US" dirty="0">
                <a:solidFill>
                  <a:srgbClr val="000000"/>
                </a:solidFill>
                <a:cs typeface="Arial" panose="020B0604020202020204" pitchFamily="34" charset="0"/>
              </a:rPr>
              <a:t>Set up any future appointments</a:t>
            </a:r>
          </a:p>
          <a:p>
            <a:pPr marL="255651" lvl="0" indent="-255651">
              <a:spcAft>
                <a:spcPct val="0"/>
              </a:spcAft>
              <a:buSzPts val="2400"/>
              <a:tabLst/>
            </a:pPr>
            <a:r>
              <a:rPr lang="en-US" altLang="en-US" dirty="0">
                <a:solidFill>
                  <a:srgbClr val="000000"/>
                </a:solidFill>
                <a:cs typeface="Arial" panose="020B0604020202020204" pitchFamily="34" charset="0"/>
              </a:rPr>
              <a:t>Thank them for their time and shake hands.</a:t>
            </a:r>
          </a:p>
        </p:txBody>
      </p:sp>
    </p:spTree>
    <p:extLst>
      <p:ext uri="{BB962C8B-B14F-4D97-AF65-F5344CB8AC3E}">
        <p14:creationId xmlns:p14="http://schemas.microsoft.com/office/powerpoint/2010/main" val="38776959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0573E-85FD-4E55-A374-C2157882A749}"/>
              </a:ext>
            </a:extLst>
          </p:cNvPr>
          <p:cNvSpPr>
            <a:spLocks noGrp="1"/>
          </p:cNvSpPr>
          <p:nvPr>
            <p:ph type="title"/>
          </p:nvPr>
        </p:nvSpPr>
        <p:spPr/>
        <p:txBody>
          <a:bodyPr/>
          <a:lstStyle/>
          <a:p>
            <a:r>
              <a:rPr lang="en-US" altLang="en-US" dirty="0">
                <a:sym typeface="Arial"/>
              </a:rPr>
              <a:t>Interview Report</a:t>
            </a:r>
            <a:endParaRPr lang="en-US" dirty="0"/>
          </a:p>
        </p:txBody>
      </p:sp>
      <p:sp>
        <p:nvSpPr>
          <p:cNvPr id="3" name="Content Placeholder 2">
            <a:extLst>
              <a:ext uri="{FF2B5EF4-FFF2-40B4-BE49-F238E27FC236}">
                <a16:creationId xmlns:a16="http://schemas.microsoft.com/office/drawing/2014/main" id="{196EC3ED-0585-43AB-86CC-1FDDCCC62C96}"/>
              </a:ext>
            </a:extLst>
          </p:cNvPr>
          <p:cNvSpPr>
            <a:spLocks noGrp="1"/>
          </p:cNvSpPr>
          <p:nvPr>
            <p:ph sz="quarter" idx="13"/>
          </p:nvPr>
        </p:nvSpPr>
        <p:spPr>
          <a:xfrm>
            <a:off x="457200" y="1556327"/>
            <a:ext cx="8229600" cy="1721445"/>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Write as soon as possible after the interview</a:t>
            </a:r>
          </a:p>
          <a:p>
            <a:pPr marL="255651" lvl="0" indent="-255651">
              <a:spcAft>
                <a:spcPct val="0"/>
              </a:spcAft>
              <a:buSzPts val="2400"/>
              <a:tabLst/>
            </a:pPr>
            <a:r>
              <a:rPr lang="en-US" altLang="en-US" dirty="0">
                <a:solidFill>
                  <a:srgbClr val="000000"/>
                </a:solidFill>
                <a:cs typeface="Arial" panose="020B0604020202020204" pitchFamily="34" charset="0"/>
              </a:rPr>
              <a:t>Provide an initial summary, then more detail</a:t>
            </a:r>
          </a:p>
          <a:p>
            <a:pPr marL="255651" lvl="0" indent="-255651">
              <a:spcAft>
                <a:spcPct val="0"/>
              </a:spcAft>
              <a:buSzPts val="2400"/>
              <a:tabLst/>
            </a:pPr>
            <a:r>
              <a:rPr lang="en-US" altLang="en-US" dirty="0">
                <a:solidFill>
                  <a:srgbClr val="000000"/>
                </a:solidFill>
                <a:cs typeface="Arial" panose="020B0604020202020204" pitchFamily="34" charset="0"/>
              </a:rPr>
              <a:t>Review the report with the respondent</a:t>
            </a:r>
          </a:p>
        </p:txBody>
      </p:sp>
    </p:spTree>
    <p:extLst>
      <p:ext uri="{BB962C8B-B14F-4D97-AF65-F5344CB8AC3E}">
        <p14:creationId xmlns:p14="http://schemas.microsoft.com/office/powerpoint/2010/main" val="11893227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04176-DE42-447F-AB7E-5A280987FDD9}"/>
              </a:ext>
            </a:extLst>
          </p:cNvPr>
          <p:cNvSpPr>
            <a:spLocks noGrp="1"/>
          </p:cNvSpPr>
          <p:nvPr>
            <p:ph type="title"/>
          </p:nvPr>
        </p:nvSpPr>
        <p:spPr/>
        <p:txBody>
          <a:bodyPr/>
          <a:lstStyle/>
          <a:p>
            <a:r>
              <a:rPr lang="en-US" altLang="en-US" dirty="0">
                <a:sym typeface="Arial"/>
              </a:rPr>
              <a:t>Stories</a:t>
            </a:r>
            <a:endParaRPr lang="en-US" dirty="0"/>
          </a:p>
        </p:txBody>
      </p:sp>
      <p:sp>
        <p:nvSpPr>
          <p:cNvPr id="3" name="Content Placeholder 2">
            <a:extLst>
              <a:ext uri="{FF2B5EF4-FFF2-40B4-BE49-F238E27FC236}">
                <a16:creationId xmlns:a16="http://schemas.microsoft.com/office/drawing/2014/main" id="{1BABDA3B-F367-47BD-B5E9-59E5FDFB7AD7}"/>
              </a:ext>
            </a:extLst>
          </p:cNvPr>
          <p:cNvSpPr>
            <a:spLocks noGrp="1"/>
          </p:cNvSpPr>
          <p:nvPr>
            <p:ph sz="quarter" idx="13"/>
          </p:nvPr>
        </p:nvSpPr>
        <p:spPr>
          <a:xfrm>
            <a:off x="457200" y="1556327"/>
            <a:ext cx="8229600" cy="4295833"/>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Stories originate in the workplace</a:t>
            </a:r>
          </a:p>
          <a:p>
            <a:pPr marL="255651" lvl="0" indent="-255651">
              <a:spcAft>
                <a:spcPct val="0"/>
              </a:spcAft>
              <a:buSzPts val="2400"/>
              <a:tabLst/>
            </a:pPr>
            <a:r>
              <a:rPr lang="en-US" altLang="en-US" dirty="0">
                <a:solidFill>
                  <a:srgbClr val="000000"/>
                </a:solidFill>
                <a:cs typeface="Arial" panose="020B0604020202020204" pitchFamily="34" charset="0"/>
              </a:rPr>
              <a:t>Organizational stories are used to relay some kind of information</a:t>
            </a:r>
          </a:p>
          <a:p>
            <a:pPr marL="255651" lvl="0" indent="-255651">
              <a:spcAft>
                <a:spcPct val="0"/>
              </a:spcAft>
              <a:buSzPts val="2400"/>
              <a:tabLst/>
            </a:pPr>
            <a:r>
              <a:rPr lang="en-US" altLang="en-US" dirty="0">
                <a:solidFill>
                  <a:srgbClr val="000000"/>
                </a:solidFill>
                <a:cs typeface="Arial" panose="020B0604020202020204" pitchFamily="34" charset="0"/>
              </a:rPr>
              <a:t>When a story is told and retold over time it takes on a mythic quality</a:t>
            </a:r>
          </a:p>
          <a:p>
            <a:pPr marL="255651" lvl="0" indent="-255651">
              <a:spcAft>
                <a:spcPct val="0"/>
              </a:spcAft>
              <a:buSzPts val="2400"/>
              <a:tabLst/>
            </a:pPr>
            <a:r>
              <a:rPr lang="en-US" altLang="en-US" dirty="0">
                <a:solidFill>
                  <a:srgbClr val="000000"/>
                </a:solidFill>
                <a:cs typeface="Arial" panose="020B0604020202020204" pitchFamily="34" charset="0"/>
              </a:rPr>
              <a:t>Isolated stories are good when you are looking for facts</a:t>
            </a:r>
          </a:p>
          <a:p>
            <a:pPr marL="255651" lvl="0" indent="-255651">
              <a:spcAft>
                <a:spcPct val="0"/>
              </a:spcAft>
              <a:buSzPts val="2400"/>
              <a:tabLst/>
            </a:pPr>
            <a:r>
              <a:rPr lang="en-US" altLang="en-US" dirty="0">
                <a:solidFill>
                  <a:srgbClr val="000000"/>
                </a:solidFill>
                <a:cs typeface="Arial" panose="020B0604020202020204" pitchFamily="34" charset="0"/>
              </a:rPr>
              <a:t>Enduring stories capture all aspects of the organization and are the ones a systems analyst should look be seeking</a:t>
            </a:r>
          </a:p>
        </p:txBody>
      </p:sp>
    </p:spTree>
    <p:extLst>
      <p:ext uri="{BB962C8B-B14F-4D97-AF65-F5344CB8AC3E}">
        <p14:creationId xmlns:p14="http://schemas.microsoft.com/office/powerpoint/2010/main" val="17813093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9B0A3-DC64-43FF-BDA6-A0614A64A1E3}"/>
              </a:ext>
            </a:extLst>
          </p:cNvPr>
          <p:cNvSpPr>
            <a:spLocks noGrp="1"/>
          </p:cNvSpPr>
          <p:nvPr>
            <p:ph type="title"/>
          </p:nvPr>
        </p:nvSpPr>
        <p:spPr/>
        <p:txBody>
          <a:bodyPr/>
          <a:lstStyle/>
          <a:p>
            <a:r>
              <a:rPr lang="en-US" dirty="0">
                <a:sym typeface="Arial"/>
              </a:rPr>
              <a:t>Listening to Stories</a:t>
            </a:r>
            <a:endParaRPr lang="en-US" dirty="0"/>
          </a:p>
        </p:txBody>
      </p:sp>
      <p:sp>
        <p:nvSpPr>
          <p:cNvPr id="3" name="Content Placeholder 2">
            <a:extLst>
              <a:ext uri="{FF2B5EF4-FFF2-40B4-BE49-F238E27FC236}">
                <a16:creationId xmlns:a16="http://schemas.microsoft.com/office/drawing/2014/main" id="{BE93EBB1-7008-4014-A7F7-3E4FB375E088}"/>
              </a:ext>
            </a:extLst>
          </p:cNvPr>
          <p:cNvSpPr>
            <a:spLocks noGrp="1"/>
          </p:cNvSpPr>
          <p:nvPr>
            <p:ph sz="quarter" idx="13"/>
          </p:nvPr>
        </p:nvSpPr>
        <p:spPr>
          <a:xfrm>
            <a:off x="457200" y="1556327"/>
            <a:ext cx="8229600" cy="3057876"/>
          </a:xfrm>
        </p:spPr>
        <p:txBody>
          <a:bodyPr/>
          <a:lstStyle/>
          <a:p>
            <a:pPr marL="255651" lvl="0" indent="-255651">
              <a:spcAft>
                <a:spcPct val="0"/>
              </a:spcAft>
              <a:buSzPts val="2400"/>
              <a:tabLst/>
            </a:pPr>
            <a:r>
              <a:rPr lang="en-US" dirty="0">
                <a:solidFill>
                  <a:srgbClr val="000000"/>
                </a:solidFill>
                <a:cs typeface="Arial" panose="020B0604020202020204" pitchFamily="34" charset="0"/>
              </a:rPr>
              <a:t>Listening to stories is not efficient</a:t>
            </a:r>
          </a:p>
          <a:p>
            <a:pPr marL="255651" lvl="0" indent="-255651">
              <a:spcAft>
                <a:spcPct val="0"/>
              </a:spcAft>
              <a:buSzPts val="2400"/>
              <a:tabLst/>
            </a:pPr>
            <a:r>
              <a:rPr lang="en-US" dirty="0">
                <a:solidFill>
                  <a:srgbClr val="000000"/>
                </a:solidFill>
                <a:cs typeface="Arial" panose="020B0604020202020204" pitchFamily="34" charset="0"/>
              </a:rPr>
              <a:t>It takes considerably more time than asking interview questions</a:t>
            </a:r>
          </a:p>
          <a:p>
            <a:pPr marL="255651" lvl="0" indent="-255651">
              <a:spcAft>
                <a:spcPct val="0"/>
              </a:spcAft>
              <a:buSzPts val="2400"/>
              <a:tabLst/>
            </a:pPr>
            <a:r>
              <a:rPr lang="en-US" dirty="0">
                <a:solidFill>
                  <a:srgbClr val="000000"/>
                </a:solidFill>
                <a:cs typeface="Arial" panose="020B0604020202020204" pitchFamily="34" charset="0"/>
              </a:rPr>
              <a:t>Listening to stories may be more rewarding</a:t>
            </a:r>
          </a:p>
          <a:p>
            <a:pPr marL="255651" lvl="0" indent="-255651">
              <a:spcAft>
                <a:spcPct val="0"/>
              </a:spcAft>
              <a:buSzPts val="2400"/>
              <a:tabLst/>
            </a:pPr>
            <a:r>
              <a:rPr lang="en-US" dirty="0">
                <a:solidFill>
                  <a:srgbClr val="000000"/>
                </a:solidFill>
                <a:cs typeface="Arial" panose="020B0604020202020204" pitchFamily="34" charset="0"/>
              </a:rPr>
              <a:t>Stories are more easily remembered than interview responses</a:t>
            </a:r>
          </a:p>
        </p:txBody>
      </p:sp>
    </p:spTree>
    <p:extLst>
      <p:ext uri="{BB962C8B-B14F-4D97-AF65-F5344CB8AC3E}">
        <p14:creationId xmlns:p14="http://schemas.microsoft.com/office/powerpoint/2010/main" val="40359027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E22D8-80E8-4E1F-82BC-468565421561}"/>
              </a:ext>
            </a:extLst>
          </p:cNvPr>
          <p:cNvSpPr>
            <a:spLocks noGrp="1"/>
          </p:cNvSpPr>
          <p:nvPr>
            <p:ph type="title"/>
          </p:nvPr>
        </p:nvSpPr>
        <p:spPr/>
        <p:txBody>
          <a:bodyPr/>
          <a:lstStyle/>
          <a:p>
            <a:r>
              <a:rPr lang="en-US" dirty="0">
                <a:sym typeface="Arial"/>
              </a:rPr>
              <a:t>Stories are Made up of Elements</a:t>
            </a:r>
            <a:endParaRPr lang="en-US" dirty="0"/>
          </a:p>
        </p:txBody>
      </p:sp>
      <p:sp>
        <p:nvSpPr>
          <p:cNvPr id="3" name="Content Placeholder 2">
            <a:extLst>
              <a:ext uri="{FF2B5EF4-FFF2-40B4-BE49-F238E27FC236}">
                <a16:creationId xmlns:a16="http://schemas.microsoft.com/office/drawing/2014/main" id="{07C60E08-DD7F-477B-9596-16152F8D8A7B}"/>
              </a:ext>
            </a:extLst>
          </p:cNvPr>
          <p:cNvSpPr>
            <a:spLocks noGrp="1"/>
          </p:cNvSpPr>
          <p:nvPr>
            <p:ph sz="quarter" idx="13"/>
          </p:nvPr>
        </p:nvSpPr>
        <p:spPr>
          <a:xfrm>
            <a:off x="457200" y="1556327"/>
            <a:ext cx="8229600" cy="3662787"/>
          </a:xfrm>
        </p:spPr>
        <p:txBody>
          <a:bodyPr/>
          <a:lstStyle/>
          <a:p>
            <a:pPr marL="255651" lvl="0" indent="-255651">
              <a:spcAft>
                <a:spcPct val="0"/>
              </a:spcAft>
              <a:buSzPts val="2400"/>
              <a:tabLst/>
            </a:pPr>
            <a:r>
              <a:rPr lang="en-US" dirty="0">
                <a:solidFill>
                  <a:srgbClr val="000000"/>
                </a:solidFill>
                <a:cs typeface="Arial" panose="020B0604020202020204" pitchFamily="34" charset="0"/>
              </a:rPr>
              <a:t>All stories have these elements:</a:t>
            </a:r>
          </a:p>
          <a:p>
            <a:pPr marL="741553" lvl="1" indent="-284353">
              <a:spcAft>
                <a:spcPct val="0"/>
              </a:spcAft>
              <a:buSzPts val="2400"/>
            </a:pPr>
            <a:r>
              <a:rPr lang="en-US" dirty="0">
                <a:solidFill>
                  <a:srgbClr val="000000"/>
                </a:solidFill>
                <a:cs typeface="Arial" panose="020B0604020202020204" pitchFamily="34" charset="0"/>
              </a:rPr>
              <a:t>The call to adventure</a:t>
            </a:r>
          </a:p>
          <a:p>
            <a:pPr marL="741553" lvl="1" indent="-284353">
              <a:spcAft>
                <a:spcPct val="0"/>
              </a:spcAft>
              <a:buSzPts val="2400"/>
            </a:pPr>
            <a:r>
              <a:rPr lang="en-US" dirty="0">
                <a:solidFill>
                  <a:srgbClr val="000000"/>
                </a:solidFill>
                <a:cs typeface="Arial" panose="020B0604020202020204" pitchFamily="34" charset="0"/>
              </a:rPr>
              <a:t>The quest</a:t>
            </a:r>
          </a:p>
          <a:p>
            <a:pPr marL="741553" lvl="1" indent="-284353">
              <a:spcAft>
                <a:spcPct val="0"/>
              </a:spcAft>
              <a:buSzPts val="2400"/>
            </a:pPr>
            <a:r>
              <a:rPr lang="en-US" dirty="0">
                <a:solidFill>
                  <a:srgbClr val="000000"/>
                </a:solidFill>
                <a:cs typeface="Arial" panose="020B0604020202020204" pitchFamily="34" charset="0"/>
              </a:rPr>
              <a:t>The struggle</a:t>
            </a:r>
          </a:p>
          <a:p>
            <a:pPr marL="741553" lvl="1" indent="-284353">
              <a:spcAft>
                <a:spcPct val="0"/>
              </a:spcAft>
              <a:buSzPts val="2400"/>
            </a:pPr>
            <a:r>
              <a:rPr lang="en-US" dirty="0">
                <a:solidFill>
                  <a:srgbClr val="000000"/>
                </a:solidFill>
                <a:cs typeface="Arial" panose="020B0604020202020204" pitchFamily="34" charset="0"/>
              </a:rPr>
              <a:t>The transformation</a:t>
            </a:r>
          </a:p>
          <a:p>
            <a:pPr marL="741553" lvl="1" indent="-284353">
              <a:spcAft>
                <a:spcPct val="0"/>
              </a:spcAft>
              <a:buSzPts val="2400"/>
            </a:pPr>
            <a:r>
              <a:rPr lang="en-US" dirty="0">
                <a:solidFill>
                  <a:srgbClr val="000000"/>
                </a:solidFill>
                <a:cs typeface="Arial" panose="020B0604020202020204" pitchFamily="34" charset="0"/>
              </a:rPr>
              <a:t>The resolution</a:t>
            </a:r>
          </a:p>
          <a:p>
            <a:pPr marL="741553" lvl="1" indent="-284353">
              <a:spcAft>
                <a:spcPct val="0"/>
              </a:spcAft>
              <a:buSzPts val="2400"/>
            </a:pPr>
            <a:r>
              <a:rPr lang="en-US" dirty="0">
                <a:solidFill>
                  <a:srgbClr val="000000"/>
                </a:solidFill>
                <a:cs typeface="Arial" panose="020B0604020202020204" pitchFamily="34" charset="0"/>
              </a:rPr>
              <a:t>The moral</a:t>
            </a:r>
          </a:p>
          <a:p>
            <a:pPr marL="741553" lvl="1" indent="-284353">
              <a:spcAft>
                <a:spcPct val="0"/>
              </a:spcAft>
              <a:buSzPts val="2400"/>
            </a:pPr>
            <a:r>
              <a:rPr lang="en-US" dirty="0">
                <a:solidFill>
                  <a:srgbClr val="000000"/>
                </a:solidFill>
                <a:cs typeface="Arial" panose="020B0604020202020204" pitchFamily="34" charset="0"/>
              </a:rPr>
              <a:t>The epilogue</a:t>
            </a:r>
          </a:p>
        </p:txBody>
      </p:sp>
    </p:spTree>
    <p:extLst>
      <p:ext uri="{BB962C8B-B14F-4D97-AF65-F5344CB8AC3E}">
        <p14:creationId xmlns:p14="http://schemas.microsoft.com/office/powerpoint/2010/main" val="17553615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58057-44A1-4566-AB07-6AB60AB2EE49}"/>
              </a:ext>
            </a:extLst>
          </p:cNvPr>
          <p:cNvSpPr>
            <a:spLocks noGrp="1"/>
          </p:cNvSpPr>
          <p:nvPr>
            <p:ph type="title"/>
          </p:nvPr>
        </p:nvSpPr>
        <p:spPr/>
        <p:txBody>
          <a:bodyPr/>
          <a:lstStyle/>
          <a:p>
            <a:r>
              <a:rPr lang="en-US" dirty="0">
                <a:sym typeface="Arial"/>
              </a:rPr>
              <a:t>Reasons for Telling Stories</a:t>
            </a:r>
            <a:endParaRPr lang="en-US" dirty="0"/>
          </a:p>
        </p:txBody>
      </p:sp>
      <p:sp>
        <p:nvSpPr>
          <p:cNvPr id="3" name="Content Placeholder 2">
            <a:extLst>
              <a:ext uri="{FF2B5EF4-FFF2-40B4-BE49-F238E27FC236}">
                <a16:creationId xmlns:a16="http://schemas.microsoft.com/office/drawing/2014/main" id="{5C98F620-C532-4CA0-B015-D822C31E2896}"/>
              </a:ext>
            </a:extLst>
          </p:cNvPr>
          <p:cNvSpPr>
            <a:spLocks noGrp="1"/>
          </p:cNvSpPr>
          <p:nvPr>
            <p:ph sz="quarter" idx="13"/>
          </p:nvPr>
        </p:nvSpPr>
        <p:spPr>
          <a:xfrm>
            <a:off x="457200" y="1556327"/>
            <a:ext cx="8229600" cy="1988731"/>
          </a:xfrm>
        </p:spPr>
        <p:txBody>
          <a:bodyPr/>
          <a:lstStyle/>
          <a:p>
            <a:pPr marL="255651" lvl="0" indent="-255651">
              <a:spcAft>
                <a:spcPct val="0"/>
              </a:spcAft>
              <a:buSzPts val="2400"/>
              <a:tabLst/>
            </a:pPr>
            <a:r>
              <a:rPr lang="en-US" dirty="0">
                <a:solidFill>
                  <a:srgbClr val="000000"/>
                </a:solidFill>
                <a:cs typeface="Arial" panose="020B0604020202020204" pitchFamily="34" charset="0"/>
              </a:rPr>
              <a:t>Rich information from listening carefully to the stories is in itself valuable</a:t>
            </a:r>
          </a:p>
          <a:p>
            <a:pPr marL="255651" lvl="0" indent="-255651">
              <a:spcAft>
                <a:spcPct val="0"/>
              </a:spcAft>
              <a:buSzPts val="2400"/>
              <a:tabLst/>
            </a:pPr>
            <a:r>
              <a:rPr lang="en-US" dirty="0">
                <a:solidFill>
                  <a:srgbClr val="000000"/>
                </a:solidFill>
                <a:cs typeface="Arial" panose="020B0604020202020204" pitchFamily="34" charset="0"/>
              </a:rPr>
              <a:t>The information gleaned from the stories will make more sense and be more valuable if seen in context</a:t>
            </a:r>
          </a:p>
        </p:txBody>
      </p:sp>
    </p:spTree>
    <p:extLst>
      <p:ext uri="{BB962C8B-B14F-4D97-AF65-F5344CB8AC3E}">
        <p14:creationId xmlns:p14="http://schemas.microsoft.com/office/powerpoint/2010/main" val="28540479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BC51A-D175-4E1A-B3BC-220554C821D8}"/>
              </a:ext>
            </a:extLst>
          </p:cNvPr>
          <p:cNvSpPr>
            <a:spLocks noGrp="1"/>
          </p:cNvSpPr>
          <p:nvPr>
            <p:ph type="title"/>
          </p:nvPr>
        </p:nvSpPr>
        <p:spPr/>
        <p:txBody>
          <a:bodyPr/>
          <a:lstStyle/>
          <a:p>
            <a:r>
              <a:rPr lang="en-US" dirty="0">
                <a:sym typeface="Arial"/>
              </a:rPr>
              <a:t>Business Stories</a:t>
            </a:r>
            <a:endParaRPr lang="en-US" dirty="0"/>
          </a:p>
        </p:txBody>
      </p:sp>
      <p:sp>
        <p:nvSpPr>
          <p:cNvPr id="3" name="Content Placeholder 2">
            <a:extLst>
              <a:ext uri="{FF2B5EF4-FFF2-40B4-BE49-F238E27FC236}">
                <a16:creationId xmlns:a16="http://schemas.microsoft.com/office/drawing/2014/main" id="{D89F04B4-70C0-46A0-B1DB-34D3201D5420}"/>
              </a:ext>
            </a:extLst>
          </p:cNvPr>
          <p:cNvSpPr>
            <a:spLocks noGrp="1"/>
          </p:cNvSpPr>
          <p:nvPr>
            <p:ph sz="quarter" idx="13"/>
          </p:nvPr>
        </p:nvSpPr>
        <p:spPr>
          <a:xfrm>
            <a:off x="457200" y="1556327"/>
            <a:ext cx="8229600" cy="2748387"/>
          </a:xfrm>
        </p:spPr>
        <p:txBody>
          <a:bodyPr/>
          <a:lstStyle/>
          <a:p>
            <a:pPr marL="255651" lvl="0" indent="-255651">
              <a:spcAft>
                <a:spcPct val="0"/>
              </a:spcAft>
              <a:buSzPts val="2400"/>
              <a:tabLst/>
            </a:pPr>
            <a:r>
              <a:rPr lang="en-US" dirty="0">
                <a:solidFill>
                  <a:srgbClr val="000000"/>
                </a:solidFill>
                <a:cs typeface="Arial" panose="020B0604020202020204" pitchFamily="34" charset="0"/>
              </a:rPr>
              <a:t>Business stories can be broken down into four important main types:</a:t>
            </a:r>
          </a:p>
          <a:p>
            <a:pPr marL="741553" lvl="1" indent="-284353">
              <a:spcAft>
                <a:spcPct val="0"/>
              </a:spcAft>
              <a:buSzPts val="2400"/>
            </a:pPr>
            <a:r>
              <a:rPr lang="en-US" dirty="0">
                <a:solidFill>
                  <a:srgbClr val="000000"/>
                </a:solidFill>
                <a:cs typeface="Arial" panose="020B0604020202020204" pitchFamily="34" charset="0"/>
              </a:rPr>
              <a:t>Experiential stories</a:t>
            </a:r>
          </a:p>
          <a:p>
            <a:pPr marL="741553" lvl="1" indent="-284353">
              <a:spcAft>
                <a:spcPct val="0"/>
              </a:spcAft>
              <a:buSzPts val="2400"/>
            </a:pPr>
            <a:r>
              <a:rPr lang="en-US" dirty="0">
                <a:solidFill>
                  <a:srgbClr val="000000"/>
                </a:solidFill>
                <a:cs typeface="Arial" panose="020B0604020202020204" pitchFamily="34" charset="0"/>
              </a:rPr>
              <a:t>Explanatory stories</a:t>
            </a:r>
          </a:p>
          <a:p>
            <a:pPr marL="741553" lvl="1" indent="-284353">
              <a:spcAft>
                <a:spcPct val="0"/>
              </a:spcAft>
              <a:buSzPts val="2400"/>
            </a:pPr>
            <a:r>
              <a:rPr lang="en-US" dirty="0">
                <a:solidFill>
                  <a:srgbClr val="000000"/>
                </a:solidFill>
                <a:cs typeface="Arial" panose="020B0604020202020204" pitchFamily="34" charset="0"/>
              </a:rPr>
              <a:t>Validating stories</a:t>
            </a:r>
          </a:p>
          <a:p>
            <a:pPr marL="741553" lvl="1" indent="-284353">
              <a:spcAft>
                <a:spcPct val="0"/>
              </a:spcAft>
              <a:buSzPts val="2400"/>
            </a:pPr>
            <a:r>
              <a:rPr lang="en-US" dirty="0">
                <a:solidFill>
                  <a:srgbClr val="000000"/>
                </a:solidFill>
                <a:cs typeface="Arial" panose="020B0604020202020204" pitchFamily="34" charset="0"/>
              </a:rPr>
              <a:t>Prescriptive stories</a:t>
            </a:r>
          </a:p>
        </p:txBody>
      </p:sp>
    </p:spTree>
    <p:extLst>
      <p:ext uri="{BB962C8B-B14F-4D97-AF65-F5344CB8AC3E}">
        <p14:creationId xmlns:p14="http://schemas.microsoft.com/office/powerpoint/2010/main" val="4233161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4C52F-C0A5-4AB0-8AFF-E8962C2F777B}"/>
              </a:ext>
            </a:extLst>
          </p:cNvPr>
          <p:cNvSpPr>
            <a:spLocks noGrp="1"/>
          </p:cNvSpPr>
          <p:nvPr>
            <p:ph type="title"/>
          </p:nvPr>
        </p:nvSpPr>
        <p:spPr/>
        <p:txBody>
          <a:bodyPr/>
          <a:lstStyle/>
          <a:p>
            <a:r>
              <a:rPr lang="en-US" dirty="0">
                <a:sym typeface="Arial"/>
              </a:rPr>
              <a:t>Stories and the Organization</a:t>
            </a:r>
            <a:endParaRPr lang="en-US" dirty="0"/>
          </a:p>
        </p:txBody>
      </p:sp>
      <p:sp>
        <p:nvSpPr>
          <p:cNvPr id="3" name="Content Placeholder 2">
            <a:extLst>
              <a:ext uri="{FF2B5EF4-FFF2-40B4-BE49-F238E27FC236}">
                <a16:creationId xmlns:a16="http://schemas.microsoft.com/office/drawing/2014/main" id="{CE90E20F-2127-4092-81D9-233F681046A1}"/>
              </a:ext>
            </a:extLst>
          </p:cNvPr>
          <p:cNvSpPr>
            <a:spLocks noGrp="1"/>
          </p:cNvSpPr>
          <p:nvPr>
            <p:ph sz="quarter" idx="13"/>
          </p:nvPr>
        </p:nvSpPr>
        <p:spPr>
          <a:xfrm>
            <a:off x="457200" y="1556327"/>
            <a:ext cx="8229600" cy="2438898"/>
          </a:xfrm>
        </p:spPr>
        <p:txBody>
          <a:bodyPr/>
          <a:lstStyle/>
          <a:p>
            <a:pPr marL="255651" lvl="0" indent="-255651">
              <a:spcAft>
                <a:spcPct val="0"/>
              </a:spcAft>
              <a:buSzPts val="2400"/>
              <a:tabLst/>
            </a:pPr>
            <a:r>
              <a:rPr lang="en-US" dirty="0">
                <a:solidFill>
                  <a:srgbClr val="000000"/>
                </a:solidFill>
                <a:cs typeface="Arial" panose="020B0604020202020204" pitchFamily="34" charset="0"/>
              </a:rPr>
              <a:t>Engage organization participants by reacting to stories</a:t>
            </a:r>
          </a:p>
          <a:p>
            <a:pPr marL="255651" lvl="0" indent="-255651">
              <a:spcAft>
                <a:spcPct val="0"/>
              </a:spcAft>
              <a:buSzPts val="2400"/>
              <a:tabLst/>
            </a:pPr>
            <a:r>
              <a:rPr lang="en-US" dirty="0">
                <a:solidFill>
                  <a:srgbClr val="000000"/>
                </a:solidFill>
                <a:cs typeface="Arial" panose="020B0604020202020204" pitchFamily="34" charset="0"/>
              </a:rPr>
              <a:t>Match one story to another by recounting it to other participants, and collaborating with the stories</a:t>
            </a:r>
          </a:p>
          <a:p>
            <a:pPr marL="255651" lvl="0" indent="-255651">
              <a:spcAft>
                <a:spcPct val="0"/>
              </a:spcAft>
              <a:buSzPts val="2400"/>
              <a:tabLst/>
            </a:pPr>
            <a:r>
              <a:rPr lang="en-US" dirty="0">
                <a:solidFill>
                  <a:srgbClr val="000000"/>
                </a:solidFill>
                <a:cs typeface="Arial" panose="020B0604020202020204" pitchFamily="34" charset="0"/>
              </a:rPr>
              <a:t>It is a way to deeply understand some of the problems associated with information systems</a:t>
            </a:r>
          </a:p>
        </p:txBody>
      </p:sp>
    </p:spTree>
    <p:extLst>
      <p:ext uri="{BB962C8B-B14F-4D97-AF65-F5344CB8AC3E}">
        <p14:creationId xmlns:p14="http://schemas.microsoft.com/office/powerpoint/2010/main" val="39404788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5F7AE-D362-449B-B5F5-4D941ADAD807}"/>
              </a:ext>
            </a:extLst>
          </p:cNvPr>
          <p:cNvSpPr>
            <a:spLocks noGrp="1"/>
          </p:cNvSpPr>
          <p:nvPr>
            <p:ph type="title"/>
          </p:nvPr>
        </p:nvSpPr>
        <p:spPr/>
        <p:txBody>
          <a:bodyPr/>
          <a:lstStyle/>
          <a:p>
            <a:r>
              <a:rPr lang="en-US" altLang="en-US" dirty="0">
                <a:sym typeface="Arial"/>
              </a:rPr>
              <a:t>Purposes for Telling a Story</a:t>
            </a:r>
            <a:endParaRPr lang="en-US" dirty="0"/>
          </a:p>
        </p:txBody>
      </p:sp>
      <p:sp>
        <p:nvSpPr>
          <p:cNvPr id="3" name="Content Placeholder 2">
            <a:extLst>
              <a:ext uri="{FF2B5EF4-FFF2-40B4-BE49-F238E27FC236}">
                <a16:creationId xmlns:a16="http://schemas.microsoft.com/office/drawing/2014/main" id="{B7E5B697-288B-492C-A655-93304AEF029D}"/>
              </a:ext>
            </a:extLst>
          </p:cNvPr>
          <p:cNvSpPr>
            <a:spLocks noGrp="1"/>
          </p:cNvSpPr>
          <p:nvPr>
            <p:ph sz="quarter" idx="13"/>
          </p:nvPr>
        </p:nvSpPr>
        <p:spPr>
          <a:xfrm>
            <a:off x="457200" y="1556327"/>
            <a:ext cx="8229600" cy="4320000"/>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There are four purposes for telling a story:</a:t>
            </a:r>
          </a:p>
          <a:p>
            <a:pPr marL="741553" lvl="1" indent="-284353">
              <a:spcAft>
                <a:spcPct val="0"/>
              </a:spcAft>
              <a:buSzPts val="2400"/>
            </a:pPr>
            <a:r>
              <a:rPr lang="en-US" altLang="en-US" dirty="0">
                <a:solidFill>
                  <a:srgbClr val="000000"/>
                </a:solidFill>
                <a:cs typeface="Arial" panose="020B0604020202020204" pitchFamily="34" charset="0"/>
              </a:rPr>
              <a:t>Experiential stories describe what the business or industry is like</a:t>
            </a:r>
          </a:p>
          <a:p>
            <a:pPr marL="741553" lvl="1" indent="-284353">
              <a:spcAft>
                <a:spcPct val="0"/>
              </a:spcAft>
              <a:buSzPts val="2400"/>
            </a:pPr>
            <a:r>
              <a:rPr lang="en-US" altLang="en-US" dirty="0">
                <a:solidFill>
                  <a:srgbClr val="000000"/>
                </a:solidFill>
                <a:cs typeface="Arial" panose="020B0604020202020204" pitchFamily="34" charset="0"/>
              </a:rPr>
              <a:t>Explanatory stories tell why the organization acted a certain way</a:t>
            </a:r>
          </a:p>
          <a:p>
            <a:pPr marL="741553" lvl="1" indent="-284353">
              <a:spcAft>
                <a:spcPct val="0"/>
              </a:spcAft>
              <a:buSzPts val="2400"/>
            </a:pPr>
            <a:r>
              <a:rPr lang="en-US" altLang="en-US" dirty="0">
                <a:solidFill>
                  <a:srgbClr val="000000"/>
                </a:solidFill>
                <a:cs typeface="Arial" panose="020B0604020202020204" pitchFamily="34" charset="0"/>
              </a:rPr>
              <a:t>Validating stories are used to convince people that the organization made the correct decision</a:t>
            </a:r>
          </a:p>
          <a:p>
            <a:pPr marL="741553" lvl="1" indent="-284353">
              <a:spcAft>
                <a:spcPct val="0"/>
              </a:spcAft>
              <a:buSzPts val="2400"/>
            </a:pPr>
            <a:r>
              <a:rPr lang="en-US" altLang="en-US" dirty="0">
                <a:solidFill>
                  <a:srgbClr val="000000"/>
                </a:solidFill>
                <a:cs typeface="Arial" panose="020B0604020202020204" pitchFamily="34" charset="0"/>
              </a:rPr>
              <a:t>Prescriptive stories tell the listener how to act</a:t>
            </a:r>
          </a:p>
          <a:p>
            <a:pPr marL="255651" lvl="0" indent="-255651">
              <a:spcAft>
                <a:spcPct val="0"/>
              </a:spcAft>
              <a:buSzPts val="2400"/>
              <a:tabLst/>
            </a:pPr>
            <a:r>
              <a:rPr lang="en-US" altLang="en-US" dirty="0">
                <a:solidFill>
                  <a:srgbClr val="000000"/>
                </a:solidFill>
                <a:cs typeface="Arial" panose="020B0604020202020204" pitchFamily="34" charset="0"/>
              </a:rPr>
              <a:t>Systems analysts can use storytelling as a complement to other information gathering methods</a:t>
            </a:r>
          </a:p>
        </p:txBody>
      </p:sp>
    </p:spTree>
    <p:extLst>
      <p:ext uri="{BB962C8B-B14F-4D97-AF65-F5344CB8AC3E}">
        <p14:creationId xmlns:p14="http://schemas.microsoft.com/office/powerpoint/2010/main" val="2550354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CB27E-40DA-4D78-8FF9-CF516BEC6A05}"/>
              </a:ext>
            </a:extLst>
          </p:cNvPr>
          <p:cNvSpPr>
            <a:spLocks noGrp="1"/>
          </p:cNvSpPr>
          <p:nvPr>
            <p:ph type="title"/>
          </p:nvPr>
        </p:nvSpPr>
        <p:spPr/>
        <p:txBody>
          <a:bodyPr/>
          <a:lstStyle/>
          <a:p>
            <a:r>
              <a:rPr lang="en-US" altLang="en-US" dirty="0">
                <a:sym typeface="Arial"/>
              </a:rPr>
              <a:t>Joint Application Design (J</a:t>
            </a:r>
            <a:r>
              <a:rPr lang="en-US" altLang="en-US" sz="100" dirty="0">
                <a:sym typeface="Arial"/>
              </a:rPr>
              <a:t> </a:t>
            </a:r>
            <a:r>
              <a:rPr lang="en-US" altLang="en-US" dirty="0">
                <a:sym typeface="Arial"/>
              </a:rPr>
              <a:t>A</a:t>
            </a:r>
            <a:r>
              <a:rPr lang="en-US" altLang="en-US" sz="100" dirty="0">
                <a:sym typeface="Arial"/>
              </a:rPr>
              <a:t> </a:t>
            </a:r>
            <a:r>
              <a:rPr lang="en-US" altLang="en-US" dirty="0">
                <a:sym typeface="Arial"/>
              </a:rPr>
              <a:t>D)</a:t>
            </a:r>
            <a:endParaRPr lang="en-US" dirty="0"/>
          </a:p>
        </p:txBody>
      </p:sp>
      <p:sp>
        <p:nvSpPr>
          <p:cNvPr id="3" name="Content Placeholder 2">
            <a:extLst>
              <a:ext uri="{FF2B5EF4-FFF2-40B4-BE49-F238E27FC236}">
                <a16:creationId xmlns:a16="http://schemas.microsoft.com/office/drawing/2014/main" id="{B42D6CC7-49D8-45FC-8E89-A3E80E41285B}"/>
              </a:ext>
            </a:extLst>
          </p:cNvPr>
          <p:cNvSpPr>
            <a:spLocks noGrp="1"/>
          </p:cNvSpPr>
          <p:nvPr>
            <p:ph sz="quarter" idx="13"/>
          </p:nvPr>
        </p:nvSpPr>
        <p:spPr>
          <a:xfrm>
            <a:off x="457200" y="1556327"/>
            <a:ext cx="8229600" cy="2354491"/>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Joint Application Design (J</a:t>
            </a:r>
            <a:r>
              <a:rPr lang="en-US" altLang="en-US" sz="100" dirty="0">
                <a:solidFill>
                  <a:srgbClr val="000000"/>
                </a:solidFill>
                <a:cs typeface="Arial" panose="020B0604020202020204" pitchFamily="34" charset="0"/>
              </a:rPr>
              <a:t> </a:t>
            </a:r>
            <a:r>
              <a:rPr lang="en-US" altLang="en-US" dirty="0">
                <a:solidFill>
                  <a:srgbClr val="000000"/>
                </a:solidFill>
                <a:cs typeface="Arial" panose="020B0604020202020204" pitchFamily="34" charset="0"/>
              </a:rPr>
              <a:t>A</a:t>
            </a:r>
            <a:r>
              <a:rPr lang="en-US" altLang="en-US" sz="100" dirty="0">
                <a:solidFill>
                  <a:srgbClr val="000000"/>
                </a:solidFill>
                <a:cs typeface="Arial" panose="020B0604020202020204" pitchFamily="34" charset="0"/>
              </a:rPr>
              <a:t> </a:t>
            </a:r>
            <a:r>
              <a:rPr lang="en-US" altLang="en-US" dirty="0">
                <a:solidFill>
                  <a:srgbClr val="000000"/>
                </a:solidFill>
                <a:cs typeface="Arial" panose="020B0604020202020204" pitchFamily="34" charset="0"/>
              </a:rPr>
              <a:t>D) can replace a series of interviews with the user community</a:t>
            </a:r>
          </a:p>
          <a:p>
            <a:pPr marL="255651" lvl="0" indent="-255651">
              <a:spcAft>
                <a:spcPct val="0"/>
              </a:spcAft>
              <a:buSzPts val="2400"/>
              <a:tabLst/>
            </a:pPr>
            <a:r>
              <a:rPr lang="en-US" altLang="en-US" dirty="0">
                <a:solidFill>
                  <a:srgbClr val="000000"/>
                </a:solidFill>
                <a:cs typeface="Arial" panose="020B0604020202020204" pitchFamily="34" charset="0"/>
              </a:rPr>
              <a:t>J</a:t>
            </a:r>
            <a:r>
              <a:rPr lang="en-US" altLang="en-US" sz="100" dirty="0">
                <a:solidFill>
                  <a:srgbClr val="000000"/>
                </a:solidFill>
                <a:cs typeface="Arial" panose="020B0604020202020204" pitchFamily="34" charset="0"/>
              </a:rPr>
              <a:t> </a:t>
            </a:r>
            <a:r>
              <a:rPr lang="en-US" altLang="en-US" dirty="0">
                <a:solidFill>
                  <a:srgbClr val="000000"/>
                </a:solidFill>
                <a:cs typeface="Arial" panose="020B0604020202020204" pitchFamily="34" charset="0"/>
              </a:rPr>
              <a:t>A</a:t>
            </a:r>
            <a:r>
              <a:rPr lang="en-US" altLang="en-US" sz="100" dirty="0">
                <a:solidFill>
                  <a:srgbClr val="000000"/>
                </a:solidFill>
                <a:cs typeface="Arial" panose="020B0604020202020204" pitchFamily="34" charset="0"/>
              </a:rPr>
              <a:t> </a:t>
            </a:r>
            <a:r>
              <a:rPr lang="en-US" altLang="en-US" dirty="0">
                <a:solidFill>
                  <a:srgbClr val="000000"/>
                </a:solidFill>
                <a:cs typeface="Arial" panose="020B0604020202020204" pitchFamily="34" charset="0"/>
              </a:rPr>
              <a:t>D is a technique that allows the analyst to accomplish requirements analysis and design the user interface with the users in a group setting</a:t>
            </a:r>
          </a:p>
        </p:txBody>
      </p:sp>
    </p:spTree>
    <p:extLst>
      <p:ext uri="{BB962C8B-B14F-4D97-AF65-F5344CB8AC3E}">
        <p14:creationId xmlns:p14="http://schemas.microsoft.com/office/powerpoint/2010/main" val="8512840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E50E8-B579-48FC-B0C4-BDE15F2B1F61}"/>
              </a:ext>
            </a:extLst>
          </p:cNvPr>
          <p:cNvSpPr>
            <a:spLocks noGrp="1"/>
          </p:cNvSpPr>
          <p:nvPr>
            <p:ph type="title"/>
          </p:nvPr>
        </p:nvSpPr>
        <p:spPr/>
        <p:txBody>
          <a:bodyPr/>
          <a:lstStyle/>
          <a:p>
            <a:r>
              <a:rPr lang="en-US" altLang="en-US" sz="3200" dirty="0">
                <a:sym typeface="Arial"/>
              </a:rPr>
              <a:t>Conditions That Support the Use of J</a:t>
            </a:r>
            <a:r>
              <a:rPr lang="en-US" altLang="en-US" sz="100" dirty="0">
                <a:sym typeface="Arial"/>
              </a:rPr>
              <a:t> </a:t>
            </a:r>
            <a:r>
              <a:rPr lang="en-US" altLang="en-US" sz="3200" dirty="0">
                <a:sym typeface="Arial"/>
              </a:rPr>
              <a:t>A</a:t>
            </a:r>
            <a:r>
              <a:rPr lang="en-US" altLang="en-US" sz="100" dirty="0">
                <a:sym typeface="Arial"/>
              </a:rPr>
              <a:t> </a:t>
            </a:r>
            <a:r>
              <a:rPr lang="en-US" altLang="en-US" sz="3200" dirty="0">
                <a:sym typeface="Arial"/>
              </a:rPr>
              <a:t>D</a:t>
            </a:r>
            <a:endParaRPr lang="en-US" sz="3200" dirty="0"/>
          </a:p>
        </p:txBody>
      </p:sp>
      <p:sp>
        <p:nvSpPr>
          <p:cNvPr id="3" name="Content Placeholder 2">
            <a:extLst>
              <a:ext uri="{FF2B5EF4-FFF2-40B4-BE49-F238E27FC236}">
                <a16:creationId xmlns:a16="http://schemas.microsoft.com/office/drawing/2014/main" id="{16CC8886-D1B0-41D6-8D19-B343BB2A4796}"/>
              </a:ext>
            </a:extLst>
          </p:cNvPr>
          <p:cNvSpPr>
            <a:spLocks noGrp="1"/>
          </p:cNvSpPr>
          <p:nvPr>
            <p:ph sz="quarter" idx="13"/>
          </p:nvPr>
        </p:nvSpPr>
        <p:spPr>
          <a:xfrm>
            <a:off x="457200" y="1556327"/>
            <a:ext cx="8229600" cy="3385561"/>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Users are restless and want something new</a:t>
            </a:r>
          </a:p>
          <a:p>
            <a:pPr marL="255651" lvl="0" indent="-255651">
              <a:spcAft>
                <a:spcPct val="0"/>
              </a:spcAft>
              <a:buSzPts val="2400"/>
              <a:tabLst/>
            </a:pPr>
            <a:r>
              <a:rPr lang="en-US" altLang="en-US" dirty="0">
                <a:solidFill>
                  <a:srgbClr val="000000"/>
                </a:solidFill>
                <a:cs typeface="Arial" panose="020B0604020202020204" pitchFamily="34" charset="0"/>
              </a:rPr>
              <a:t>The organizational culture supports joint problem-solving behaviors</a:t>
            </a:r>
          </a:p>
          <a:p>
            <a:pPr marL="255651" lvl="0" indent="-255651">
              <a:spcAft>
                <a:spcPct val="0"/>
              </a:spcAft>
              <a:buSzPts val="2400"/>
              <a:tabLst/>
            </a:pPr>
            <a:r>
              <a:rPr lang="en-US" altLang="en-US" dirty="0">
                <a:solidFill>
                  <a:srgbClr val="000000"/>
                </a:solidFill>
                <a:cs typeface="Arial" panose="020B0604020202020204" pitchFamily="34" charset="0"/>
              </a:rPr>
              <a:t>Analysts forecast an increase in the number of ideas using J</a:t>
            </a:r>
            <a:r>
              <a:rPr lang="en-US" altLang="en-US" sz="100" dirty="0">
                <a:solidFill>
                  <a:srgbClr val="000000"/>
                </a:solidFill>
                <a:cs typeface="Arial" panose="020B0604020202020204" pitchFamily="34" charset="0"/>
              </a:rPr>
              <a:t> </a:t>
            </a:r>
            <a:r>
              <a:rPr lang="en-US" altLang="en-US" dirty="0">
                <a:solidFill>
                  <a:srgbClr val="000000"/>
                </a:solidFill>
                <a:cs typeface="Arial" panose="020B0604020202020204" pitchFamily="34" charset="0"/>
              </a:rPr>
              <a:t>A</a:t>
            </a:r>
            <a:r>
              <a:rPr lang="en-US" altLang="en-US" sz="100" dirty="0">
                <a:solidFill>
                  <a:srgbClr val="000000"/>
                </a:solidFill>
                <a:cs typeface="Arial" panose="020B0604020202020204" pitchFamily="34" charset="0"/>
              </a:rPr>
              <a:t> </a:t>
            </a:r>
            <a:r>
              <a:rPr lang="en-US" altLang="en-US" dirty="0">
                <a:solidFill>
                  <a:srgbClr val="000000"/>
                </a:solidFill>
                <a:cs typeface="Arial" panose="020B0604020202020204" pitchFamily="34" charset="0"/>
              </a:rPr>
              <a:t>D</a:t>
            </a:r>
          </a:p>
          <a:p>
            <a:pPr marL="255651" lvl="0" indent="-255651">
              <a:spcAft>
                <a:spcPct val="0"/>
              </a:spcAft>
              <a:buSzPts val="2400"/>
              <a:tabLst/>
            </a:pPr>
            <a:r>
              <a:rPr lang="en-US" altLang="en-US" dirty="0">
                <a:solidFill>
                  <a:srgbClr val="000000"/>
                </a:solidFill>
                <a:cs typeface="Arial" panose="020B0604020202020204" pitchFamily="34" charset="0"/>
              </a:rPr>
              <a:t>Personnel may be absent from their jobs for the length of time required</a:t>
            </a:r>
          </a:p>
        </p:txBody>
      </p:sp>
    </p:spTree>
    <p:extLst>
      <p:ext uri="{BB962C8B-B14F-4D97-AF65-F5344CB8AC3E}">
        <p14:creationId xmlns:p14="http://schemas.microsoft.com/office/powerpoint/2010/main" val="5509282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06895-5940-4A69-A120-0C4D4E0DB135}"/>
              </a:ext>
            </a:extLst>
          </p:cNvPr>
          <p:cNvSpPr>
            <a:spLocks noGrp="1"/>
          </p:cNvSpPr>
          <p:nvPr>
            <p:ph type="title"/>
          </p:nvPr>
        </p:nvSpPr>
        <p:spPr/>
        <p:txBody>
          <a:bodyPr/>
          <a:lstStyle/>
          <a:p>
            <a:r>
              <a:rPr lang="en-US" altLang="en-US" dirty="0">
                <a:sym typeface="Arial"/>
              </a:rPr>
              <a:t>Who is Involved</a:t>
            </a:r>
            <a:endParaRPr lang="en-US" dirty="0"/>
          </a:p>
        </p:txBody>
      </p:sp>
      <p:sp>
        <p:nvSpPr>
          <p:cNvPr id="3" name="Content Placeholder 2">
            <a:extLst>
              <a:ext uri="{FF2B5EF4-FFF2-40B4-BE49-F238E27FC236}">
                <a16:creationId xmlns:a16="http://schemas.microsoft.com/office/drawing/2014/main" id="{687CFA2E-DD89-4C8D-B90D-C08E8D0B5F01}"/>
              </a:ext>
            </a:extLst>
          </p:cNvPr>
          <p:cNvSpPr>
            <a:spLocks noGrp="1"/>
          </p:cNvSpPr>
          <p:nvPr>
            <p:ph sz="quarter" idx="13"/>
          </p:nvPr>
        </p:nvSpPr>
        <p:spPr>
          <a:xfrm>
            <a:off x="457200" y="1556327"/>
            <a:ext cx="8229600" cy="3282959"/>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The people involved are:</a:t>
            </a:r>
          </a:p>
          <a:p>
            <a:pPr marL="741553" lvl="1" indent="-284353">
              <a:spcAft>
                <a:spcPct val="0"/>
              </a:spcAft>
              <a:buSzPts val="2400"/>
            </a:pPr>
            <a:r>
              <a:rPr lang="en-US" altLang="en-US" dirty="0">
                <a:solidFill>
                  <a:srgbClr val="000000"/>
                </a:solidFill>
                <a:cs typeface="Arial" panose="020B0604020202020204" pitchFamily="34" charset="0"/>
              </a:rPr>
              <a:t>Executive sponsor</a:t>
            </a:r>
          </a:p>
          <a:p>
            <a:pPr marL="741553" lvl="1" indent="-284353">
              <a:spcAft>
                <a:spcPct val="0"/>
              </a:spcAft>
              <a:buSzPts val="2400"/>
            </a:pPr>
            <a:r>
              <a:rPr lang="en-US" altLang="en-US" dirty="0" smtClean="0">
                <a:solidFill>
                  <a:srgbClr val="000000"/>
                </a:solidFill>
                <a:cs typeface="Arial" panose="020B0604020202020204" pitchFamily="34" charset="0"/>
              </a:rPr>
              <a:t>I</a:t>
            </a:r>
            <a:r>
              <a:rPr lang="en-US" altLang="en-US" sz="100" dirty="0" smtClean="0">
                <a:solidFill>
                  <a:srgbClr val="000000"/>
                </a:solidFill>
                <a:cs typeface="Arial" panose="020B0604020202020204" pitchFamily="34" charset="0"/>
              </a:rPr>
              <a:t> </a:t>
            </a:r>
            <a:r>
              <a:rPr lang="en-US" altLang="en-US" dirty="0" smtClean="0">
                <a:solidFill>
                  <a:srgbClr val="000000"/>
                </a:solidFill>
                <a:cs typeface="Arial" panose="020B0604020202020204" pitchFamily="34" charset="0"/>
              </a:rPr>
              <a:t>S </a:t>
            </a:r>
            <a:r>
              <a:rPr lang="en-US" altLang="en-US" dirty="0">
                <a:solidFill>
                  <a:srgbClr val="000000"/>
                </a:solidFill>
                <a:cs typeface="Arial" panose="020B0604020202020204" pitchFamily="34" charset="0"/>
              </a:rPr>
              <a:t>analyst</a:t>
            </a:r>
          </a:p>
          <a:p>
            <a:pPr marL="741553" lvl="1" indent="-284353">
              <a:spcAft>
                <a:spcPct val="0"/>
              </a:spcAft>
              <a:buSzPts val="2400"/>
            </a:pPr>
            <a:r>
              <a:rPr lang="en-US" altLang="en-US" dirty="0">
                <a:solidFill>
                  <a:srgbClr val="000000"/>
                </a:solidFill>
                <a:cs typeface="Arial" panose="020B0604020202020204" pitchFamily="34" charset="0"/>
              </a:rPr>
              <a:t>Users</a:t>
            </a:r>
          </a:p>
          <a:p>
            <a:pPr marL="741553" lvl="1" indent="-284353">
              <a:spcAft>
                <a:spcPct val="0"/>
              </a:spcAft>
              <a:buSzPts val="2400"/>
            </a:pPr>
            <a:r>
              <a:rPr lang="en-US" altLang="en-US" dirty="0">
                <a:solidFill>
                  <a:srgbClr val="000000"/>
                </a:solidFill>
                <a:cs typeface="Arial" panose="020B0604020202020204" pitchFamily="34" charset="0"/>
              </a:rPr>
              <a:t>Session leader</a:t>
            </a:r>
          </a:p>
          <a:p>
            <a:pPr marL="741553" lvl="1" indent="-284353">
              <a:spcAft>
                <a:spcPct val="0"/>
              </a:spcAft>
              <a:buSzPts val="2400"/>
            </a:pPr>
            <a:r>
              <a:rPr lang="en-US" altLang="en-US" dirty="0">
                <a:solidFill>
                  <a:srgbClr val="000000"/>
                </a:solidFill>
                <a:cs typeface="Arial" panose="020B0604020202020204" pitchFamily="34" charset="0"/>
              </a:rPr>
              <a:t>Observers</a:t>
            </a:r>
          </a:p>
          <a:p>
            <a:pPr marL="741553" lvl="1" indent="-284353">
              <a:spcAft>
                <a:spcPct val="0"/>
              </a:spcAft>
              <a:buSzPts val="2400"/>
            </a:pPr>
            <a:r>
              <a:rPr lang="en-US" altLang="en-US" dirty="0">
                <a:solidFill>
                  <a:srgbClr val="000000"/>
                </a:solidFill>
                <a:cs typeface="Arial" panose="020B0604020202020204" pitchFamily="34" charset="0"/>
              </a:rPr>
              <a:t>Scribe</a:t>
            </a:r>
          </a:p>
        </p:txBody>
      </p:sp>
    </p:spTree>
    <p:extLst>
      <p:ext uri="{BB962C8B-B14F-4D97-AF65-F5344CB8AC3E}">
        <p14:creationId xmlns:p14="http://schemas.microsoft.com/office/powerpoint/2010/main" val="18752977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B7B66-564E-40C0-9B52-05A20F5FF001}"/>
              </a:ext>
            </a:extLst>
          </p:cNvPr>
          <p:cNvSpPr>
            <a:spLocks noGrp="1"/>
          </p:cNvSpPr>
          <p:nvPr>
            <p:ph type="title"/>
          </p:nvPr>
        </p:nvSpPr>
        <p:spPr/>
        <p:txBody>
          <a:bodyPr/>
          <a:lstStyle/>
          <a:p>
            <a:r>
              <a:rPr lang="en-US" altLang="en-US" dirty="0">
                <a:sym typeface="Arial"/>
              </a:rPr>
              <a:t>Where to Hold J</a:t>
            </a:r>
            <a:r>
              <a:rPr lang="en-US" altLang="en-US" sz="100" dirty="0">
                <a:sym typeface="Arial"/>
              </a:rPr>
              <a:t> </a:t>
            </a:r>
            <a:r>
              <a:rPr lang="en-US" altLang="en-US" dirty="0">
                <a:sym typeface="Arial"/>
              </a:rPr>
              <a:t>A</a:t>
            </a:r>
            <a:r>
              <a:rPr lang="en-US" altLang="en-US" sz="100" dirty="0">
                <a:sym typeface="Arial"/>
              </a:rPr>
              <a:t> </a:t>
            </a:r>
            <a:r>
              <a:rPr lang="en-US" altLang="en-US" dirty="0">
                <a:sym typeface="Arial"/>
              </a:rPr>
              <a:t>D Meetings</a:t>
            </a:r>
            <a:endParaRPr lang="en-US" dirty="0"/>
          </a:p>
        </p:txBody>
      </p:sp>
      <p:sp>
        <p:nvSpPr>
          <p:cNvPr id="3" name="Content Placeholder 2">
            <a:extLst>
              <a:ext uri="{FF2B5EF4-FFF2-40B4-BE49-F238E27FC236}">
                <a16:creationId xmlns:a16="http://schemas.microsoft.com/office/drawing/2014/main" id="{CAE539FC-C4CB-4A10-BB1C-2B4B16561C5B}"/>
              </a:ext>
            </a:extLst>
          </p:cNvPr>
          <p:cNvSpPr>
            <a:spLocks noGrp="1"/>
          </p:cNvSpPr>
          <p:nvPr>
            <p:ph sz="quarter" idx="13"/>
          </p:nvPr>
        </p:nvSpPr>
        <p:spPr>
          <a:xfrm>
            <a:off x="457200" y="1556327"/>
            <a:ext cx="8229600" cy="3268891"/>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Offsite</a:t>
            </a:r>
          </a:p>
          <a:p>
            <a:pPr marL="741553" lvl="1" indent="-284353">
              <a:spcAft>
                <a:spcPct val="0"/>
              </a:spcAft>
              <a:buSzPts val="2400"/>
            </a:pPr>
            <a:r>
              <a:rPr lang="en-US" altLang="en-US" dirty="0">
                <a:solidFill>
                  <a:srgbClr val="000000"/>
                </a:solidFill>
                <a:cs typeface="Arial" panose="020B0604020202020204" pitchFamily="34" charset="0"/>
              </a:rPr>
              <a:t>Comfortable surroundings</a:t>
            </a:r>
          </a:p>
          <a:p>
            <a:pPr marL="741553" lvl="1" indent="-284353">
              <a:spcAft>
                <a:spcPct val="0"/>
              </a:spcAft>
              <a:buSzPts val="2400"/>
            </a:pPr>
            <a:r>
              <a:rPr lang="en-US" altLang="en-US" dirty="0">
                <a:solidFill>
                  <a:srgbClr val="000000"/>
                </a:solidFill>
                <a:cs typeface="Arial" panose="020B0604020202020204" pitchFamily="34" charset="0"/>
              </a:rPr>
              <a:t>Minimize distractions</a:t>
            </a:r>
          </a:p>
          <a:p>
            <a:pPr marL="255651" lvl="0" indent="-255651">
              <a:spcAft>
                <a:spcPct val="0"/>
              </a:spcAft>
              <a:buSzPts val="2400"/>
              <a:tabLst/>
            </a:pPr>
            <a:r>
              <a:rPr lang="en-US" altLang="en-US" dirty="0">
                <a:solidFill>
                  <a:srgbClr val="000000"/>
                </a:solidFill>
                <a:cs typeface="Arial" panose="020B0604020202020204" pitchFamily="34" charset="0"/>
              </a:rPr>
              <a:t>Attendance</a:t>
            </a:r>
          </a:p>
          <a:p>
            <a:pPr marL="741553" lvl="1" indent="-284353">
              <a:spcAft>
                <a:spcPct val="0"/>
              </a:spcAft>
              <a:buSzPts val="2400"/>
            </a:pPr>
            <a:r>
              <a:rPr lang="en-US" altLang="en-US" dirty="0">
                <a:solidFill>
                  <a:srgbClr val="000000"/>
                </a:solidFill>
                <a:cs typeface="Arial" panose="020B0604020202020204" pitchFamily="34" charset="0"/>
              </a:rPr>
              <a:t>Schedule when participants can attend</a:t>
            </a:r>
          </a:p>
          <a:p>
            <a:pPr marL="741553" lvl="1" indent="-284353">
              <a:spcAft>
                <a:spcPct val="0"/>
              </a:spcAft>
              <a:buSzPts val="2400"/>
            </a:pPr>
            <a:r>
              <a:rPr lang="en-US" altLang="en-US" dirty="0">
                <a:solidFill>
                  <a:srgbClr val="000000"/>
                </a:solidFill>
                <a:cs typeface="Arial" panose="020B0604020202020204" pitchFamily="34" charset="0"/>
              </a:rPr>
              <a:t>Agenda</a:t>
            </a:r>
          </a:p>
          <a:p>
            <a:pPr marL="741553" lvl="1" indent="-284353">
              <a:spcAft>
                <a:spcPct val="0"/>
              </a:spcAft>
              <a:buSzPts val="2400"/>
            </a:pPr>
            <a:r>
              <a:rPr lang="en-US" altLang="en-US" dirty="0">
                <a:solidFill>
                  <a:srgbClr val="000000"/>
                </a:solidFill>
                <a:cs typeface="Arial" panose="020B0604020202020204" pitchFamily="34" charset="0"/>
              </a:rPr>
              <a:t>Orientation meeting</a:t>
            </a:r>
          </a:p>
        </p:txBody>
      </p:sp>
    </p:spTree>
    <p:extLst>
      <p:ext uri="{BB962C8B-B14F-4D97-AF65-F5344CB8AC3E}">
        <p14:creationId xmlns:p14="http://schemas.microsoft.com/office/powerpoint/2010/main" val="3633830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6CBEF-7877-42A8-B99F-19054EEFE5CC}"/>
              </a:ext>
            </a:extLst>
          </p:cNvPr>
          <p:cNvSpPr>
            <a:spLocks noGrp="1"/>
          </p:cNvSpPr>
          <p:nvPr>
            <p:ph type="title"/>
          </p:nvPr>
        </p:nvSpPr>
        <p:spPr/>
        <p:txBody>
          <a:bodyPr/>
          <a:lstStyle/>
          <a:p>
            <a:r>
              <a:rPr lang="en-US" altLang="en-US" dirty="0">
                <a:sym typeface="Arial"/>
              </a:rPr>
              <a:t>Benefits of J</a:t>
            </a:r>
            <a:r>
              <a:rPr lang="en-US" altLang="en-US" sz="100" dirty="0">
                <a:sym typeface="Arial"/>
              </a:rPr>
              <a:t> </a:t>
            </a:r>
            <a:r>
              <a:rPr lang="en-US" altLang="en-US" dirty="0">
                <a:sym typeface="Arial"/>
              </a:rPr>
              <a:t>A</a:t>
            </a:r>
            <a:r>
              <a:rPr lang="en-US" altLang="en-US" sz="100" dirty="0">
                <a:sym typeface="Arial"/>
              </a:rPr>
              <a:t> </a:t>
            </a:r>
            <a:r>
              <a:rPr lang="en-US" altLang="en-US" dirty="0">
                <a:sym typeface="Arial"/>
              </a:rPr>
              <a:t>D</a:t>
            </a:r>
            <a:endParaRPr lang="en-US" dirty="0"/>
          </a:p>
        </p:txBody>
      </p:sp>
      <p:sp>
        <p:nvSpPr>
          <p:cNvPr id="3" name="Content Placeholder 2">
            <a:extLst>
              <a:ext uri="{FF2B5EF4-FFF2-40B4-BE49-F238E27FC236}">
                <a16:creationId xmlns:a16="http://schemas.microsoft.com/office/drawing/2014/main" id="{4D2325CE-1B97-4B2C-8193-750CB461CC0B}"/>
              </a:ext>
            </a:extLst>
          </p:cNvPr>
          <p:cNvSpPr>
            <a:spLocks noGrp="1"/>
          </p:cNvSpPr>
          <p:nvPr>
            <p:ph sz="quarter" idx="13"/>
          </p:nvPr>
        </p:nvSpPr>
        <p:spPr>
          <a:xfrm>
            <a:off x="457200" y="1556327"/>
            <a:ext cx="8229600" cy="2340424"/>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Time is saved, compared with traditional interviewing</a:t>
            </a:r>
          </a:p>
          <a:p>
            <a:pPr marL="255651" lvl="0" indent="-255651">
              <a:spcAft>
                <a:spcPct val="0"/>
              </a:spcAft>
              <a:buSzPts val="2400"/>
              <a:tabLst/>
            </a:pPr>
            <a:r>
              <a:rPr lang="en-US" altLang="en-US" dirty="0">
                <a:solidFill>
                  <a:srgbClr val="000000"/>
                </a:solidFill>
                <a:cs typeface="Arial" panose="020B0604020202020204" pitchFamily="34" charset="0"/>
              </a:rPr>
              <a:t>Rapid development of systems</a:t>
            </a:r>
          </a:p>
          <a:p>
            <a:pPr marL="255651" lvl="0" indent="-255651">
              <a:spcAft>
                <a:spcPct val="0"/>
              </a:spcAft>
              <a:buSzPts val="2400"/>
              <a:tabLst/>
            </a:pPr>
            <a:r>
              <a:rPr lang="en-US" altLang="en-US" dirty="0">
                <a:solidFill>
                  <a:srgbClr val="000000"/>
                </a:solidFill>
                <a:cs typeface="Arial" panose="020B0604020202020204" pitchFamily="34" charset="0"/>
              </a:rPr>
              <a:t>Improved user ownership of the system</a:t>
            </a:r>
          </a:p>
          <a:p>
            <a:pPr marL="255651" lvl="0" indent="-255651">
              <a:spcAft>
                <a:spcPct val="0"/>
              </a:spcAft>
              <a:buSzPts val="2400"/>
              <a:tabLst/>
            </a:pPr>
            <a:r>
              <a:rPr lang="en-US" altLang="en-US" dirty="0">
                <a:solidFill>
                  <a:srgbClr val="000000"/>
                </a:solidFill>
                <a:cs typeface="Arial" panose="020B0604020202020204" pitchFamily="34" charset="0"/>
              </a:rPr>
              <a:t>Creative idea production is improved</a:t>
            </a:r>
          </a:p>
        </p:txBody>
      </p:sp>
    </p:spTree>
    <p:extLst>
      <p:ext uri="{BB962C8B-B14F-4D97-AF65-F5344CB8AC3E}">
        <p14:creationId xmlns:p14="http://schemas.microsoft.com/office/powerpoint/2010/main" val="926017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19EDF-34FB-4C3B-BF17-566C8FFFD69D}"/>
              </a:ext>
            </a:extLst>
          </p:cNvPr>
          <p:cNvSpPr>
            <a:spLocks noGrp="1"/>
          </p:cNvSpPr>
          <p:nvPr>
            <p:ph type="title"/>
          </p:nvPr>
        </p:nvSpPr>
        <p:spPr/>
        <p:txBody>
          <a:bodyPr/>
          <a:lstStyle/>
          <a:p>
            <a:r>
              <a:rPr lang="en-US" altLang="en-US" dirty="0">
                <a:sym typeface="Arial"/>
              </a:rPr>
              <a:t>Drawbacks of Using J</a:t>
            </a:r>
            <a:r>
              <a:rPr lang="en-US" altLang="en-US" sz="100" dirty="0">
                <a:sym typeface="Arial"/>
              </a:rPr>
              <a:t> </a:t>
            </a:r>
            <a:r>
              <a:rPr lang="en-US" altLang="en-US" dirty="0">
                <a:sym typeface="Arial"/>
              </a:rPr>
              <a:t>A</a:t>
            </a:r>
            <a:r>
              <a:rPr lang="en-US" altLang="en-US" sz="100" dirty="0">
                <a:sym typeface="Arial"/>
              </a:rPr>
              <a:t> </a:t>
            </a:r>
            <a:r>
              <a:rPr lang="en-US" altLang="en-US" dirty="0">
                <a:sym typeface="Arial"/>
              </a:rPr>
              <a:t>D</a:t>
            </a:r>
            <a:endParaRPr lang="en-US" dirty="0"/>
          </a:p>
        </p:txBody>
      </p:sp>
      <p:sp>
        <p:nvSpPr>
          <p:cNvPr id="3" name="Content Placeholder 2">
            <a:extLst>
              <a:ext uri="{FF2B5EF4-FFF2-40B4-BE49-F238E27FC236}">
                <a16:creationId xmlns:a16="http://schemas.microsoft.com/office/drawing/2014/main" id="{CA408A8B-16F2-48FE-90AE-1F86FE774BEB}"/>
              </a:ext>
            </a:extLst>
          </p:cNvPr>
          <p:cNvSpPr>
            <a:spLocks noGrp="1"/>
          </p:cNvSpPr>
          <p:nvPr>
            <p:ph sz="quarter" idx="13"/>
          </p:nvPr>
        </p:nvSpPr>
        <p:spPr>
          <a:xfrm>
            <a:off x="457200" y="1556327"/>
            <a:ext cx="8229600" cy="2846861"/>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J</a:t>
            </a:r>
            <a:r>
              <a:rPr lang="en-US" altLang="en-US" sz="100" dirty="0">
                <a:solidFill>
                  <a:srgbClr val="000000"/>
                </a:solidFill>
                <a:cs typeface="Arial" panose="020B0604020202020204" pitchFamily="34" charset="0"/>
              </a:rPr>
              <a:t> </a:t>
            </a:r>
            <a:r>
              <a:rPr lang="en-US" altLang="en-US" dirty="0">
                <a:solidFill>
                  <a:srgbClr val="000000"/>
                </a:solidFill>
                <a:cs typeface="Arial" panose="020B0604020202020204" pitchFamily="34" charset="0"/>
              </a:rPr>
              <a:t>A</a:t>
            </a:r>
            <a:r>
              <a:rPr lang="en-US" altLang="en-US" sz="100" dirty="0">
                <a:solidFill>
                  <a:srgbClr val="000000"/>
                </a:solidFill>
                <a:cs typeface="Arial" panose="020B0604020202020204" pitchFamily="34" charset="0"/>
              </a:rPr>
              <a:t> </a:t>
            </a:r>
            <a:r>
              <a:rPr lang="en-US" altLang="en-US" dirty="0">
                <a:solidFill>
                  <a:srgbClr val="000000"/>
                </a:solidFill>
                <a:cs typeface="Arial" panose="020B0604020202020204" pitchFamily="34" charset="0"/>
              </a:rPr>
              <a:t>D requires a large block of time to be available for all session participants</a:t>
            </a:r>
          </a:p>
          <a:p>
            <a:pPr marL="255651" lvl="0" indent="-255651">
              <a:spcAft>
                <a:spcPct val="0"/>
              </a:spcAft>
              <a:buSzPts val="2400"/>
              <a:tabLst/>
            </a:pPr>
            <a:r>
              <a:rPr lang="en-US" altLang="en-US" dirty="0">
                <a:solidFill>
                  <a:srgbClr val="000000"/>
                </a:solidFill>
                <a:cs typeface="Arial" panose="020B0604020202020204" pitchFamily="34" charset="0"/>
              </a:rPr>
              <a:t>If preparation or the follow-up report is incomplete, the session may not be successful</a:t>
            </a:r>
          </a:p>
          <a:p>
            <a:pPr marL="255651" lvl="0" indent="-255651">
              <a:spcAft>
                <a:spcPct val="0"/>
              </a:spcAft>
              <a:buSzPts val="2400"/>
              <a:tabLst/>
            </a:pPr>
            <a:r>
              <a:rPr lang="en-US" altLang="en-US" dirty="0">
                <a:solidFill>
                  <a:srgbClr val="000000"/>
                </a:solidFill>
                <a:cs typeface="Arial" panose="020B0604020202020204" pitchFamily="34" charset="0"/>
              </a:rPr>
              <a:t>The organizational skills and culture may not be conducive to a J</a:t>
            </a:r>
            <a:r>
              <a:rPr lang="en-US" altLang="en-US" sz="100" dirty="0">
                <a:solidFill>
                  <a:srgbClr val="000000"/>
                </a:solidFill>
                <a:cs typeface="Arial" panose="020B0604020202020204" pitchFamily="34" charset="0"/>
              </a:rPr>
              <a:t> </a:t>
            </a:r>
            <a:r>
              <a:rPr lang="en-US" altLang="en-US" dirty="0">
                <a:solidFill>
                  <a:srgbClr val="000000"/>
                </a:solidFill>
                <a:cs typeface="Arial" panose="020B0604020202020204" pitchFamily="34" charset="0"/>
              </a:rPr>
              <a:t>A</a:t>
            </a:r>
            <a:r>
              <a:rPr lang="en-US" altLang="en-US" sz="100" dirty="0">
                <a:solidFill>
                  <a:srgbClr val="000000"/>
                </a:solidFill>
                <a:cs typeface="Arial" panose="020B0604020202020204" pitchFamily="34" charset="0"/>
              </a:rPr>
              <a:t> </a:t>
            </a:r>
            <a:r>
              <a:rPr lang="en-US" altLang="en-US" dirty="0">
                <a:solidFill>
                  <a:srgbClr val="000000"/>
                </a:solidFill>
                <a:cs typeface="Arial" panose="020B0604020202020204" pitchFamily="34" charset="0"/>
              </a:rPr>
              <a:t>D session</a:t>
            </a:r>
          </a:p>
        </p:txBody>
      </p:sp>
    </p:spTree>
    <p:extLst>
      <p:ext uri="{BB962C8B-B14F-4D97-AF65-F5344CB8AC3E}">
        <p14:creationId xmlns:p14="http://schemas.microsoft.com/office/powerpoint/2010/main" val="10396398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FD384-F896-4287-A2A2-616603FCD9E7}"/>
              </a:ext>
            </a:extLst>
          </p:cNvPr>
          <p:cNvSpPr>
            <a:spLocks noGrp="1"/>
          </p:cNvSpPr>
          <p:nvPr>
            <p:ph type="title"/>
          </p:nvPr>
        </p:nvSpPr>
        <p:spPr/>
        <p:txBody>
          <a:bodyPr/>
          <a:lstStyle/>
          <a:p>
            <a:r>
              <a:rPr lang="en-US" altLang="en-US" dirty="0">
                <a:sym typeface="Arial"/>
              </a:rPr>
              <a:t>Questionnaires</a:t>
            </a:r>
            <a:endParaRPr lang="en-US" dirty="0"/>
          </a:p>
        </p:txBody>
      </p:sp>
      <p:sp>
        <p:nvSpPr>
          <p:cNvPr id="3" name="Content Placeholder 2">
            <a:extLst>
              <a:ext uri="{FF2B5EF4-FFF2-40B4-BE49-F238E27FC236}">
                <a16:creationId xmlns:a16="http://schemas.microsoft.com/office/drawing/2014/main" id="{FAF1C5FD-9397-4D7B-931F-3666A0EAA0C0}"/>
              </a:ext>
            </a:extLst>
          </p:cNvPr>
          <p:cNvSpPr>
            <a:spLocks noGrp="1"/>
          </p:cNvSpPr>
          <p:nvPr>
            <p:ph sz="quarter" idx="13"/>
          </p:nvPr>
        </p:nvSpPr>
        <p:spPr>
          <a:xfrm>
            <a:off x="457200" y="1556327"/>
            <a:ext cx="8229600" cy="2678048"/>
          </a:xfrm>
        </p:spPr>
        <p:txBody>
          <a:bodyPr/>
          <a:lstStyle/>
          <a:p>
            <a:pPr marL="255600">
              <a:buSzPts val="2400"/>
            </a:pPr>
            <a:r>
              <a:rPr lang="en-US" altLang="en-US" dirty="0">
                <a:solidFill>
                  <a:srgbClr val="000000"/>
                </a:solidFill>
                <a:cs typeface="Arial" panose="020B0604020202020204" pitchFamily="34" charset="0"/>
              </a:rPr>
              <a:t>Questionnaires are useful in gathering information from key organization members about:</a:t>
            </a:r>
          </a:p>
          <a:p>
            <a:pPr marL="741553" lvl="1" indent="-284353">
              <a:spcAft>
                <a:spcPct val="0"/>
              </a:spcAft>
              <a:buSzPts val="2400"/>
            </a:pPr>
            <a:r>
              <a:rPr lang="en-US" altLang="en-US" dirty="0">
                <a:solidFill>
                  <a:srgbClr val="000000"/>
                </a:solidFill>
                <a:cs typeface="Arial" panose="020B0604020202020204" pitchFamily="34" charset="0"/>
              </a:rPr>
              <a:t>Attitudes</a:t>
            </a:r>
          </a:p>
          <a:p>
            <a:pPr marL="741553" lvl="1" indent="-284353">
              <a:spcAft>
                <a:spcPct val="0"/>
              </a:spcAft>
              <a:buSzPts val="2400"/>
            </a:pPr>
            <a:r>
              <a:rPr lang="en-US" altLang="en-US" dirty="0">
                <a:solidFill>
                  <a:srgbClr val="000000"/>
                </a:solidFill>
                <a:cs typeface="Arial" panose="020B0604020202020204" pitchFamily="34" charset="0"/>
              </a:rPr>
              <a:t>Beliefs</a:t>
            </a:r>
          </a:p>
          <a:p>
            <a:pPr marL="741553" lvl="1" indent="-284353">
              <a:spcAft>
                <a:spcPct val="0"/>
              </a:spcAft>
              <a:buSzPts val="2400"/>
            </a:pPr>
            <a:r>
              <a:rPr lang="en-US" altLang="en-US" dirty="0">
                <a:solidFill>
                  <a:srgbClr val="000000"/>
                </a:solidFill>
                <a:cs typeface="Arial" panose="020B0604020202020204" pitchFamily="34" charset="0"/>
              </a:rPr>
              <a:t>Behaviors</a:t>
            </a:r>
          </a:p>
          <a:p>
            <a:pPr marL="741553" lvl="1" indent="-284353">
              <a:spcAft>
                <a:spcPct val="0"/>
              </a:spcAft>
              <a:buSzPts val="2400"/>
            </a:pPr>
            <a:r>
              <a:rPr lang="en-US" altLang="en-US" dirty="0">
                <a:solidFill>
                  <a:srgbClr val="000000"/>
                </a:solidFill>
                <a:cs typeface="Arial" panose="020B0604020202020204" pitchFamily="34" charset="0"/>
              </a:rPr>
              <a:t>Characteristics</a:t>
            </a:r>
            <a:endParaRPr lang="en-US" dirty="0">
              <a:solidFill>
                <a:srgbClr val="000000"/>
              </a:solidFill>
              <a:cs typeface="Arial" panose="020B0604020202020204" pitchFamily="34" charset="0"/>
            </a:endParaRPr>
          </a:p>
        </p:txBody>
      </p:sp>
    </p:spTree>
    <p:extLst>
      <p:ext uri="{BB962C8B-B14F-4D97-AF65-F5344CB8AC3E}">
        <p14:creationId xmlns:p14="http://schemas.microsoft.com/office/powerpoint/2010/main" val="21989591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187A8-9C5B-41FE-B95B-9148D8A1DDD1}"/>
              </a:ext>
            </a:extLst>
          </p:cNvPr>
          <p:cNvSpPr>
            <a:spLocks noGrp="1"/>
          </p:cNvSpPr>
          <p:nvPr>
            <p:ph type="title"/>
          </p:nvPr>
        </p:nvSpPr>
        <p:spPr/>
        <p:txBody>
          <a:bodyPr/>
          <a:lstStyle/>
          <a:p>
            <a:r>
              <a:rPr lang="en-US" altLang="en-US" sz="3200" dirty="0">
                <a:sym typeface="Arial"/>
              </a:rPr>
              <a:t>Planning for the Use of Questionnaires</a:t>
            </a:r>
            <a:endParaRPr lang="en-US" sz="3200" dirty="0"/>
          </a:p>
        </p:txBody>
      </p:sp>
      <p:sp>
        <p:nvSpPr>
          <p:cNvPr id="3" name="Content Placeholder 2">
            <a:extLst>
              <a:ext uri="{FF2B5EF4-FFF2-40B4-BE49-F238E27FC236}">
                <a16:creationId xmlns:a16="http://schemas.microsoft.com/office/drawing/2014/main" id="{83927928-6E92-4B9F-B282-7EDE08694CEC}"/>
              </a:ext>
            </a:extLst>
          </p:cNvPr>
          <p:cNvSpPr>
            <a:spLocks noGrp="1"/>
          </p:cNvSpPr>
          <p:nvPr>
            <p:ph sz="quarter" idx="13"/>
          </p:nvPr>
        </p:nvSpPr>
        <p:spPr>
          <a:xfrm>
            <a:off x="457200" y="1556327"/>
            <a:ext cx="8229600" cy="2467033"/>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Organization members are widely dispersed</a:t>
            </a:r>
          </a:p>
          <a:p>
            <a:pPr marL="255651" lvl="0" indent="-255651">
              <a:spcAft>
                <a:spcPct val="0"/>
              </a:spcAft>
              <a:buSzPts val="2400"/>
              <a:tabLst/>
            </a:pPr>
            <a:r>
              <a:rPr lang="en-US" altLang="en-US" dirty="0">
                <a:solidFill>
                  <a:srgbClr val="000000"/>
                </a:solidFill>
                <a:cs typeface="Arial" panose="020B0604020202020204" pitchFamily="34" charset="0"/>
              </a:rPr>
              <a:t>Many members are involved with the project</a:t>
            </a:r>
          </a:p>
          <a:p>
            <a:pPr marL="255651" lvl="0" indent="-255651">
              <a:spcAft>
                <a:spcPct val="0"/>
              </a:spcAft>
              <a:buSzPts val="2400"/>
              <a:tabLst/>
            </a:pPr>
            <a:r>
              <a:rPr lang="en-US" altLang="en-US" dirty="0">
                <a:solidFill>
                  <a:srgbClr val="000000"/>
                </a:solidFill>
                <a:cs typeface="Arial" panose="020B0604020202020204" pitchFamily="34" charset="0"/>
              </a:rPr>
              <a:t>Exploratory work is needed</a:t>
            </a:r>
          </a:p>
          <a:p>
            <a:pPr marL="255651" lvl="0" indent="-255651">
              <a:spcAft>
                <a:spcPct val="0"/>
              </a:spcAft>
              <a:buSzPts val="2400"/>
              <a:tabLst/>
            </a:pPr>
            <a:r>
              <a:rPr lang="en-US" altLang="en-US" dirty="0">
                <a:solidFill>
                  <a:srgbClr val="000000"/>
                </a:solidFill>
                <a:cs typeface="Arial" panose="020B0604020202020204" pitchFamily="34" charset="0"/>
              </a:rPr>
              <a:t>Problem solving prior to interviews is necessary</a:t>
            </a:r>
          </a:p>
        </p:txBody>
      </p:sp>
    </p:spTree>
    <p:extLst>
      <p:ext uri="{BB962C8B-B14F-4D97-AF65-F5344CB8AC3E}">
        <p14:creationId xmlns:p14="http://schemas.microsoft.com/office/powerpoint/2010/main" val="42521573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E2D39-776A-42F9-8A85-43B94D6E0C7C}"/>
              </a:ext>
            </a:extLst>
          </p:cNvPr>
          <p:cNvSpPr>
            <a:spLocks noGrp="1"/>
          </p:cNvSpPr>
          <p:nvPr>
            <p:ph type="title"/>
          </p:nvPr>
        </p:nvSpPr>
        <p:spPr/>
        <p:txBody>
          <a:bodyPr/>
          <a:lstStyle/>
          <a:p>
            <a:r>
              <a:rPr lang="en-US" altLang="en-US" dirty="0">
                <a:sym typeface="Arial"/>
              </a:rPr>
              <a:t>Writing Questions</a:t>
            </a:r>
            <a:endParaRPr lang="en-US" dirty="0"/>
          </a:p>
        </p:txBody>
      </p:sp>
      <p:sp>
        <p:nvSpPr>
          <p:cNvPr id="3" name="Content Placeholder 2">
            <a:extLst>
              <a:ext uri="{FF2B5EF4-FFF2-40B4-BE49-F238E27FC236}">
                <a16:creationId xmlns:a16="http://schemas.microsoft.com/office/drawing/2014/main" id="{46738B3A-878D-4E3B-9320-EE5331D188FC}"/>
              </a:ext>
            </a:extLst>
          </p:cNvPr>
          <p:cNvSpPr>
            <a:spLocks noGrp="1"/>
          </p:cNvSpPr>
          <p:nvPr>
            <p:ph sz="quarter" idx="13"/>
          </p:nvPr>
        </p:nvSpPr>
        <p:spPr>
          <a:xfrm>
            <a:off x="457200" y="1556327"/>
            <a:ext cx="8229600" cy="3282959"/>
          </a:xfrm>
        </p:spPr>
        <p:txBody>
          <a:bodyPr/>
          <a:lstStyle/>
          <a:p>
            <a:pPr indent="-256032">
              <a:buSzPts val="2400"/>
            </a:pPr>
            <a:r>
              <a:rPr lang="en-US" altLang="en-US" dirty="0">
                <a:solidFill>
                  <a:srgbClr val="000000"/>
                </a:solidFill>
                <a:cs typeface="Arial" panose="020B0604020202020204" pitchFamily="34" charset="0"/>
              </a:rPr>
              <a:t>Questions are designed as either:</a:t>
            </a:r>
          </a:p>
          <a:p>
            <a:pPr marL="741553" lvl="1" indent="-284353">
              <a:spcAft>
                <a:spcPct val="0"/>
              </a:spcAft>
              <a:buSzPts val="2400"/>
            </a:pPr>
            <a:r>
              <a:rPr lang="en-US" altLang="en-US" dirty="0">
                <a:solidFill>
                  <a:srgbClr val="000000"/>
                </a:solidFill>
                <a:cs typeface="Arial" panose="020B0604020202020204" pitchFamily="34" charset="0"/>
              </a:rPr>
              <a:t>Open-ended</a:t>
            </a:r>
          </a:p>
          <a:p>
            <a:pPr marL="1144778" lvl="2" indent="-230378">
              <a:spcAft>
                <a:spcPct val="0"/>
              </a:spcAft>
              <a:buSzPts val="2400"/>
            </a:pPr>
            <a:r>
              <a:rPr lang="en-US" altLang="en-US" dirty="0">
                <a:solidFill>
                  <a:srgbClr val="000000"/>
                </a:solidFill>
                <a:cs typeface="Arial" panose="020B0604020202020204" pitchFamily="34" charset="0"/>
              </a:rPr>
              <a:t>Try to anticipate the response you will get</a:t>
            </a:r>
          </a:p>
          <a:p>
            <a:pPr marL="1144778" lvl="2" indent="-230378">
              <a:spcAft>
                <a:spcPct val="0"/>
              </a:spcAft>
              <a:buSzPts val="2400"/>
            </a:pPr>
            <a:r>
              <a:rPr lang="en-US" altLang="en-US" dirty="0">
                <a:solidFill>
                  <a:srgbClr val="000000"/>
                </a:solidFill>
                <a:cs typeface="Arial" panose="020B0604020202020204" pitchFamily="34" charset="0"/>
              </a:rPr>
              <a:t>Well suited for getting opinions</a:t>
            </a:r>
          </a:p>
          <a:p>
            <a:pPr marL="741553" lvl="1" indent="-284353">
              <a:spcAft>
                <a:spcPct val="0"/>
              </a:spcAft>
              <a:buSzPts val="2400"/>
            </a:pPr>
            <a:r>
              <a:rPr lang="en-US" altLang="en-US" dirty="0">
                <a:solidFill>
                  <a:srgbClr val="000000"/>
                </a:solidFill>
                <a:cs typeface="Arial" panose="020B0604020202020204" pitchFamily="34" charset="0"/>
              </a:rPr>
              <a:t>Closed</a:t>
            </a:r>
          </a:p>
          <a:p>
            <a:pPr marL="1144778" lvl="2" indent="-230378">
              <a:spcAft>
                <a:spcPct val="0"/>
              </a:spcAft>
              <a:buSzPts val="2400"/>
            </a:pPr>
            <a:r>
              <a:rPr lang="en-US" altLang="en-US" dirty="0">
                <a:solidFill>
                  <a:srgbClr val="000000"/>
                </a:solidFill>
                <a:cs typeface="Arial" panose="020B0604020202020204" pitchFamily="34" charset="0"/>
              </a:rPr>
              <a:t>Use when all the options may be listed</a:t>
            </a:r>
          </a:p>
          <a:p>
            <a:pPr marL="1144778" lvl="2" indent="-230378">
              <a:spcAft>
                <a:spcPct val="0"/>
              </a:spcAft>
              <a:buSzPts val="2400"/>
            </a:pPr>
            <a:r>
              <a:rPr lang="en-US" altLang="en-US" dirty="0">
                <a:solidFill>
                  <a:srgbClr val="000000"/>
                </a:solidFill>
                <a:cs typeface="Arial" panose="020B0604020202020204" pitchFamily="34" charset="0"/>
              </a:rPr>
              <a:t>When the options are mutually exclusive</a:t>
            </a:r>
            <a:endParaRPr lang="en-US" dirty="0">
              <a:solidFill>
                <a:srgbClr val="000000"/>
              </a:solidFill>
              <a:cs typeface="Arial" panose="020B0604020202020204" pitchFamily="34" charset="0"/>
            </a:endParaRPr>
          </a:p>
        </p:txBody>
      </p:sp>
    </p:spTree>
    <p:extLst>
      <p:ext uri="{BB962C8B-B14F-4D97-AF65-F5344CB8AC3E}">
        <p14:creationId xmlns:p14="http://schemas.microsoft.com/office/powerpoint/2010/main" val="2399017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E4900-9D59-417A-9EEE-36DB9E656AC3}"/>
              </a:ext>
            </a:extLst>
          </p:cNvPr>
          <p:cNvSpPr>
            <a:spLocks noGrp="1"/>
          </p:cNvSpPr>
          <p:nvPr>
            <p:ph type="title"/>
          </p:nvPr>
        </p:nvSpPr>
        <p:spPr/>
        <p:txBody>
          <a:bodyPr/>
          <a:lstStyle/>
          <a:p>
            <a:r>
              <a:rPr lang="en-US" altLang="en-US" sz="2600" dirty="0">
                <a:sym typeface="Arial"/>
              </a:rPr>
              <a:t>Figure 4.13 Trade-Offs between the Use of Open-Ended and Closed Questions on Questionnaires</a:t>
            </a:r>
            <a:endParaRPr lang="en-US" sz="2600" dirty="0"/>
          </a:p>
        </p:txBody>
      </p:sp>
      <p:pic>
        <p:nvPicPr>
          <p:cNvPr id="5" name="Picture 4" descr="An image shows trade-offs between the use of open-ended and closed questions on questionnaires. Long description n notes, press F6.">
            <a:extLst>
              <a:ext uri="{FF2B5EF4-FFF2-40B4-BE49-F238E27FC236}">
                <a16:creationId xmlns:a16="http://schemas.microsoft.com/office/drawing/2014/main" id="{3324F2DD-3976-44BF-870E-4DDDED8C21CB}"/>
              </a:ext>
            </a:extLst>
          </p:cNvPr>
          <p:cNvPicPr>
            <a:picLocks noChangeAspect="1"/>
          </p:cNvPicPr>
          <p:nvPr/>
        </p:nvPicPr>
        <p:blipFill rotWithShape="1">
          <a:blip r:embed="rId3"/>
          <a:srcRect b="4010"/>
          <a:stretch/>
        </p:blipFill>
        <p:spPr>
          <a:xfrm>
            <a:off x="734052" y="1821012"/>
            <a:ext cx="7675896" cy="4059283"/>
          </a:xfrm>
          <a:prstGeom prst="rect">
            <a:avLst/>
          </a:prstGeom>
        </p:spPr>
      </p:pic>
    </p:spTree>
    <p:extLst>
      <p:ext uri="{BB962C8B-B14F-4D97-AF65-F5344CB8AC3E}">
        <p14:creationId xmlns:p14="http://schemas.microsoft.com/office/powerpoint/2010/main" val="13708669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176D0-0DE8-4587-9D74-148261C49422}"/>
              </a:ext>
            </a:extLst>
          </p:cNvPr>
          <p:cNvSpPr>
            <a:spLocks noGrp="1"/>
          </p:cNvSpPr>
          <p:nvPr>
            <p:ph type="title"/>
          </p:nvPr>
        </p:nvSpPr>
        <p:spPr/>
        <p:txBody>
          <a:bodyPr/>
          <a:lstStyle/>
          <a:p>
            <a:r>
              <a:rPr lang="en-US" altLang="en-US" dirty="0">
                <a:sym typeface="Arial"/>
              </a:rPr>
              <a:t>Questionnaire Language</a:t>
            </a:r>
            <a:endParaRPr lang="en-US" dirty="0"/>
          </a:p>
        </p:txBody>
      </p:sp>
      <p:sp>
        <p:nvSpPr>
          <p:cNvPr id="3" name="Content Placeholder 2">
            <a:extLst>
              <a:ext uri="{FF2B5EF4-FFF2-40B4-BE49-F238E27FC236}">
                <a16:creationId xmlns:a16="http://schemas.microsoft.com/office/drawing/2014/main" id="{AD3823F0-A151-4FBF-9D54-2300106B769D}"/>
              </a:ext>
            </a:extLst>
          </p:cNvPr>
          <p:cNvSpPr>
            <a:spLocks noGrp="1"/>
          </p:cNvSpPr>
          <p:nvPr>
            <p:ph sz="quarter" idx="13"/>
          </p:nvPr>
        </p:nvSpPr>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Simple</a:t>
            </a:r>
          </a:p>
          <a:p>
            <a:pPr marL="255651" lvl="0" indent="-255651">
              <a:spcAft>
                <a:spcPct val="0"/>
              </a:spcAft>
              <a:buSzPts val="2400"/>
              <a:tabLst/>
            </a:pPr>
            <a:r>
              <a:rPr lang="en-US" altLang="en-US" dirty="0">
                <a:solidFill>
                  <a:srgbClr val="000000"/>
                </a:solidFill>
                <a:cs typeface="Arial" panose="020B0604020202020204" pitchFamily="34" charset="0"/>
              </a:rPr>
              <a:t>Specific</a:t>
            </a:r>
          </a:p>
          <a:p>
            <a:pPr marL="255651" lvl="0" indent="-255651">
              <a:spcAft>
                <a:spcPct val="0"/>
              </a:spcAft>
              <a:buSzPts val="2400"/>
              <a:tabLst/>
            </a:pPr>
            <a:r>
              <a:rPr lang="en-US" altLang="en-US" dirty="0">
                <a:solidFill>
                  <a:srgbClr val="000000"/>
                </a:solidFill>
                <a:cs typeface="Arial" panose="020B0604020202020204" pitchFamily="34" charset="0"/>
              </a:rPr>
              <a:t>Short</a:t>
            </a:r>
          </a:p>
          <a:p>
            <a:pPr marL="255651" lvl="0" indent="-255651">
              <a:spcAft>
                <a:spcPct val="0"/>
              </a:spcAft>
              <a:buSzPts val="2400"/>
              <a:tabLst/>
            </a:pPr>
            <a:r>
              <a:rPr lang="en-US" altLang="en-US" dirty="0">
                <a:solidFill>
                  <a:srgbClr val="000000"/>
                </a:solidFill>
                <a:cs typeface="Arial" panose="020B0604020202020204" pitchFamily="34" charset="0"/>
              </a:rPr>
              <a:t>Not patronizing</a:t>
            </a:r>
          </a:p>
          <a:p>
            <a:pPr marL="255651" lvl="0" indent="-255651">
              <a:spcAft>
                <a:spcPct val="0"/>
              </a:spcAft>
              <a:buSzPts val="2400"/>
              <a:tabLst/>
            </a:pPr>
            <a:r>
              <a:rPr lang="en-US" altLang="en-US" dirty="0">
                <a:solidFill>
                  <a:srgbClr val="000000"/>
                </a:solidFill>
                <a:cs typeface="Arial" panose="020B0604020202020204" pitchFamily="34" charset="0"/>
              </a:rPr>
              <a:t>Free of bias</a:t>
            </a:r>
          </a:p>
          <a:p>
            <a:pPr marL="255651" lvl="0" indent="-255651">
              <a:spcAft>
                <a:spcPct val="0"/>
              </a:spcAft>
              <a:buSzPts val="2400"/>
              <a:tabLst/>
            </a:pPr>
            <a:r>
              <a:rPr lang="en-US" altLang="en-US" dirty="0">
                <a:solidFill>
                  <a:srgbClr val="000000"/>
                </a:solidFill>
                <a:cs typeface="Arial" panose="020B0604020202020204" pitchFamily="34" charset="0"/>
              </a:rPr>
              <a:t>Addressed to those who are knowledgeable</a:t>
            </a:r>
          </a:p>
          <a:p>
            <a:pPr marL="255651" lvl="0" indent="-255651">
              <a:spcAft>
                <a:spcPct val="0"/>
              </a:spcAft>
              <a:buSzPts val="2400"/>
              <a:tabLst/>
            </a:pPr>
            <a:r>
              <a:rPr lang="en-US" altLang="en-US" dirty="0">
                <a:solidFill>
                  <a:srgbClr val="000000"/>
                </a:solidFill>
                <a:cs typeface="Arial" panose="020B0604020202020204" pitchFamily="34" charset="0"/>
              </a:rPr>
              <a:t>Technically accurate</a:t>
            </a:r>
          </a:p>
          <a:p>
            <a:pPr marL="255651" lvl="0" indent="-255651">
              <a:spcAft>
                <a:spcPct val="0"/>
              </a:spcAft>
              <a:buSzPts val="2400"/>
              <a:tabLst/>
            </a:pPr>
            <a:r>
              <a:rPr lang="en-US" altLang="en-US" dirty="0">
                <a:solidFill>
                  <a:srgbClr val="000000"/>
                </a:solidFill>
                <a:cs typeface="Arial" panose="020B0604020202020204" pitchFamily="34" charset="0"/>
              </a:rPr>
              <a:t>Appropriate for the reading level of the respondent</a:t>
            </a:r>
          </a:p>
        </p:txBody>
      </p:sp>
    </p:spTree>
    <p:extLst>
      <p:ext uri="{BB962C8B-B14F-4D97-AF65-F5344CB8AC3E}">
        <p14:creationId xmlns:p14="http://schemas.microsoft.com/office/powerpoint/2010/main" val="33683551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03C98-2E55-408B-81EC-CC6FD34C41D6}"/>
              </a:ext>
            </a:extLst>
          </p:cNvPr>
          <p:cNvSpPr>
            <a:spLocks noGrp="1"/>
          </p:cNvSpPr>
          <p:nvPr>
            <p:ph type="title"/>
          </p:nvPr>
        </p:nvSpPr>
        <p:spPr/>
        <p:txBody>
          <a:bodyPr/>
          <a:lstStyle/>
          <a:p>
            <a:r>
              <a:rPr lang="en-US" altLang="en-US" dirty="0">
                <a:sym typeface="Arial"/>
              </a:rPr>
              <a:t>Measurement Scales</a:t>
            </a:r>
            <a:endParaRPr lang="en-US" dirty="0"/>
          </a:p>
        </p:txBody>
      </p:sp>
      <p:sp>
        <p:nvSpPr>
          <p:cNvPr id="3" name="Content Placeholder 2">
            <a:extLst>
              <a:ext uri="{FF2B5EF4-FFF2-40B4-BE49-F238E27FC236}">
                <a16:creationId xmlns:a16="http://schemas.microsoft.com/office/drawing/2014/main" id="{11F03BD8-8E83-4D67-85CB-64CE36B105A9}"/>
              </a:ext>
            </a:extLst>
          </p:cNvPr>
          <p:cNvSpPr>
            <a:spLocks noGrp="1"/>
          </p:cNvSpPr>
          <p:nvPr>
            <p:ph sz="quarter" idx="13"/>
          </p:nvPr>
        </p:nvSpPr>
        <p:spPr>
          <a:xfrm>
            <a:off x="457200" y="1556327"/>
            <a:ext cx="8229600" cy="1580768"/>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The two different forms of measurement scales are:</a:t>
            </a:r>
          </a:p>
          <a:p>
            <a:pPr marL="741553" lvl="1" indent="-284353">
              <a:spcAft>
                <a:spcPct val="0"/>
              </a:spcAft>
              <a:buSzPts val="2400"/>
            </a:pPr>
            <a:r>
              <a:rPr lang="en-US" altLang="en-US" dirty="0">
                <a:solidFill>
                  <a:srgbClr val="000000"/>
                </a:solidFill>
                <a:cs typeface="Arial" panose="020B0604020202020204" pitchFamily="34" charset="0"/>
              </a:rPr>
              <a:t>Nominal</a:t>
            </a:r>
          </a:p>
          <a:p>
            <a:pPr marL="741553" lvl="1" indent="-284353">
              <a:spcAft>
                <a:spcPct val="0"/>
              </a:spcAft>
              <a:buSzPts val="2400"/>
            </a:pPr>
            <a:r>
              <a:rPr lang="en-US" altLang="en-US" dirty="0">
                <a:solidFill>
                  <a:srgbClr val="000000"/>
                </a:solidFill>
                <a:cs typeface="Arial" panose="020B0604020202020204" pitchFamily="34" charset="0"/>
              </a:rPr>
              <a:t>Interval</a:t>
            </a:r>
          </a:p>
        </p:txBody>
      </p:sp>
    </p:spTree>
    <p:extLst>
      <p:ext uri="{BB962C8B-B14F-4D97-AF65-F5344CB8AC3E}">
        <p14:creationId xmlns:p14="http://schemas.microsoft.com/office/powerpoint/2010/main" val="17990198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90B6F-FEB9-4040-ACD0-FA727854F726}"/>
              </a:ext>
            </a:extLst>
          </p:cNvPr>
          <p:cNvSpPr>
            <a:spLocks noGrp="1"/>
          </p:cNvSpPr>
          <p:nvPr>
            <p:ph type="title"/>
          </p:nvPr>
        </p:nvSpPr>
        <p:spPr/>
        <p:txBody>
          <a:bodyPr/>
          <a:lstStyle/>
          <a:p>
            <a:r>
              <a:rPr lang="en-US" altLang="en-US" dirty="0">
                <a:sym typeface="Arial"/>
              </a:rPr>
              <a:t>Nominal Scales</a:t>
            </a:r>
            <a:endParaRPr lang="en-US" dirty="0"/>
          </a:p>
        </p:txBody>
      </p:sp>
      <p:sp>
        <p:nvSpPr>
          <p:cNvPr id="4" name="Content Placeholder 3">
            <a:extLst>
              <a:ext uri="{FF2B5EF4-FFF2-40B4-BE49-F238E27FC236}">
                <a16:creationId xmlns:a16="http://schemas.microsoft.com/office/drawing/2014/main" id="{E78C87B0-C87F-4350-84D6-CC5E1F0C766D}"/>
              </a:ext>
            </a:extLst>
          </p:cNvPr>
          <p:cNvSpPr>
            <a:spLocks noGrp="1"/>
          </p:cNvSpPr>
          <p:nvPr>
            <p:ph sz="quarter" idx="13"/>
          </p:nvPr>
        </p:nvSpPr>
        <p:spPr>
          <a:xfrm>
            <a:off x="457200" y="1556327"/>
            <a:ext cx="8229600" cy="1763648"/>
          </a:xfrm>
        </p:spPr>
        <p:txBody>
          <a:bodyPr/>
          <a:lstStyle/>
          <a:p>
            <a:pPr marL="255651" lvl="0" indent="-255651">
              <a:spcAft>
                <a:spcPct val="0"/>
              </a:spcAft>
              <a:buSzPts val="2400"/>
            </a:pPr>
            <a:r>
              <a:rPr lang="en-US" altLang="en-US" dirty="0">
                <a:solidFill>
                  <a:srgbClr val="000000"/>
                </a:solidFill>
                <a:cs typeface="Arial" panose="020B0604020202020204" pitchFamily="34" charset="0"/>
              </a:rPr>
              <a:t>Nominal scales are used to classify things</a:t>
            </a:r>
          </a:p>
          <a:p>
            <a:pPr marL="255651" lvl="0" indent="-255651">
              <a:spcAft>
                <a:spcPct val="0"/>
              </a:spcAft>
              <a:buSzPts val="2400"/>
            </a:pPr>
            <a:r>
              <a:rPr lang="en-US" altLang="en-US" dirty="0">
                <a:solidFill>
                  <a:srgbClr val="000000"/>
                </a:solidFill>
                <a:cs typeface="Arial" panose="020B0604020202020204" pitchFamily="34" charset="0"/>
              </a:rPr>
              <a:t>It is the weakest form of measurement</a:t>
            </a:r>
          </a:p>
          <a:p>
            <a:pPr marL="255651" lvl="0" indent="-255651">
              <a:spcAft>
                <a:spcPct val="0"/>
              </a:spcAft>
              <a:buSzPts val="2400"/>
            </a:pPr>
            <a:r>
              <a:rPr lang="en-US" altLang="en-US" dirty="0">
                <a:solidFill>
                  <a:srgbClr val="000000"/>
                </a:solidFill>
                <a:cs typeface="Arial" panose="020B0604020202020204" pitchFamily="34" charset="0"/>
              </a:rPr>
              <a:t>Data may be totaled</a:t>
            </a:r>
          </a:p>
        </p:txBody>
      </p:sp>
      <p:sp>
        <p:nvSpPr>
          <p:cNvPr id="5" name="Content Placeholder 4">
            <a:extLst>
              <a:ext uri="{FF2B5EF4-FFF2-40B4-BE49-F238E27FC236}">
                <a16:creationId xmlns:a16="http://schemas.microsoft.com/office/drawing/2014/main" id="{979FB0E9-BF00-4F33-926F-E9A7F396B2C3}"/>
              </a:ext>
            </a:extLst>
          </p:cNvPr>
          <p:cNvSpPr>
            <a:spLocks noGrp="1"/>
          </p:cNvSpPr>
          <p:nvPr>
            <p:ph sz="quarter" idx="14"/>
          </p:nvPr>
        </p:nvSpPr>
        <p:spPr>
          <a:xfrm>
            <a:off x="457200" y="3437350"/>
            <a:ext cx="8229600" cy="2597691"/>
          </a:xfrm>
        </p:spPr>
        <p:txBody>
          <a:bodyPr/>
          <a:lstStyle/>
          <a:p>
            <a:pPr marL="0" lvl="0" indent="0">
              <a:spcBef>
                <a:spcPct val="50000"/>
              </a:spcBef>
              <a:buSzPts val="2400"/>
              <a:buNone/>
            </a:pPr>
            <a:r>
              <a:rPr lang="en-US" altLang="en-US" dirty="0">
                <a:solidFill>
                  <a:srgbClr val="000000"/>
                </a:solidFill>
                <a:latin typeface="Arial (Body)"/>
              </a:rPr>
              <a:t>What type of software do you use the most?</a:t>
            </a:r>
          </a:p>
          <a:p>
            <a:pPr marL="0" lvl="0" indent="0">
              <a:spcBef>
                <a:spcPts val="1000"/>
              </a:spcBef>
              <a:buSzPts val="2400"/>
              <a:buNone/>
            </a:pPr>
            <a:r>
              <a:rPr lang="en-US" altLang="en-US" dirty="0">
                <a:solidFill>
                  <a:srgbClr val="000000"/>
                </a:solidFill>
                <a:latin typeface="Arial (Body)"/>
              </a:rPr>
              <a:t>1 = Word Processor</a:t>
            </a:r>
          </a:p>
          <a:p>
            <a:pPr marL="0" lvl="0" indent="0">
              <a:spcBef>
                <a:spcPts val="1000"/>
              </a:spcBef>
              <a:buSzPts val="2400"/>
              <a:buNone/>
            </a:pPr>
            <a:r>
              <a:rPr lang="en-US" altLang="en-US" dirty="0">
                <a:solidFill>
                  <a:srgbClr val="000000"/>
                </a:solidFill>
                <a:latin typeface="Arial (Body)"/>
              </a:rPr>
              <a:t>2 = Spreadsheet</a:t>
            </a:r>
          </a:p>
          <a:p>
            <a:pPr marL="0" lvl="0" indent="0">
              <a:spcBef>
                <a:spcPts val="1000"/>
              </a:spcBef>
              <a:buSzPts val="2400"/>
              <a:buNone/>
            </a:pPr>
            <a:r>
              <a:rPr lang="en-US" altLang="en-US" dirty="0">
                <a:solidFill>
                  <a:srgbClr val="000000"/>
                </a:solidFill>
                <a:latin typeface="Arial (Body)"/>
              </a:rPr>
              <a:t>3 = Database</a:t>
            </a:r>
          </a:p>
          <a:p>
            <a:pPr marL="0" lvl="0" indent="0">
              <a:spcBef>
                <a:spcPts val="1000"/>
              </a:spcBef>
              <a:buSzPts val="2400"/>
              <a:buNone/>
            </a:pPr>
            <a:r>
              <a:rPr lang="en-US" altLang="en-US" dirty="0">
                <a:solidFill>
                  <a:srgbClr val="000000"/>
                </a:solidFill>
                <a:latin typeface="Arial (Body)"/>
              </a:rPr>
              <a:t>4 = An Email Program</a:t>
            </a:r>
            <a:endParaRPr lang="en-US" dirty="0"/>
          </a:p>
        </p:txBody>
      </p:sp>
    </p:spTree>
    <p:extLst>
      <p:ext uri="{BB962C8B-B14F-4D97-AF65-F5344CB8AC3E}">
        <p14:creationId xmlns:p14="http://schemas.microsoft.com/office/powerpoint/2010/main" val="26475111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DAAD8-F974-49A8-A035-1E7DA4579118}"/>
              </a:ext>
            </a:extLst>
          </p:cNvPr>
          <p:cNvSpPr>
            <a:spLocks noGrp="1"/>
          </p:cNvSpPr>
          <p:nvPr>
            <p:ph type="title"/>
          </p:nvPr>
        </p:nvSpPr>
        <p:spPr/>
        <p:txBody>
          <a:bodyPr/>
          <a:lstStyle/>
          <a:p>
            <a:r>
              <a:rPr lang="en-US" altLang="en-US" dirty="0">
                <a:sym typeface="Arial"/>
              </a:rPr>
              <a:t>Interval Scales</a:t>
            </a:r>
            <a:endParaRPr lang="en-US" dirty="0"/>
          </a:p>
        </p:txBody>
      </p:sp>
      <p:sp>
        <p:nvSpPr>
          <p:cNvPr id="3" name="Content Placeholder 2">
            <a:extLst>
              <a:ext uri="{FF2B5EF4-FFF2-40B4-BE49-F238E27FC236}">
                <a16:creationId xmlns:a16="http://schemas.microsoft.com/office/drawing/2014/main" id="{AE900034-9EBA-4362-9E76-7BB81D12E2A5}"/>
              </a:ext>
            </a:extLst>
          </p:cNvPr>
          <p:cNvSpPr>
            <a:spLocks noGrp="1"/>
          </p:cNvSpPr>
          <p:nvPr>
            <p:ph sz="quarter" idx="13"/>
          </p:nvPr>
        </p:nvSpPr>
        <p:spPr>
          <a:xfrm>
            <a:off x="457200" y="1556327"/>
            <a:ext cx="8229600" cy="2115341"/>
          </a:xfrm>
        </p:spPr>
        <p:txBody>
          <a:bodyPr/>
          <a:lstStyle/>
          <a:p>
            <a:pPr marL="255651" lvl="0" indent="-255651">
              <a:spcAft>
                <a:spcPct val="0"/>
              </a:spcAft>
              <a:buSzPts val="2400"/>
            </a:pPr>
            <a:r>
              <a:rPr lang="en-US" altLang="en-US" dirty="0">
                <a:solidFill>
                  <a:srgbClr val="000000"/>
                </a:solidFill>
                <a:cs typeface="Arial" panose="020B0604020202020204" pitchFamily="34" charset="0"/>
              </a:rPr>
              <a:t>An interval scale is used when the intervals are equal</a:t>
            </a:r>
          </a:p>
          <a:p>
            <a:pPr marL="255651" lvl="0" indent="-255651">
              <a:spcAft>
                <a:spcPct val="0"/>
              </a:spcAft>
              <a:buSzPts val="2400"/>
            </a:pPr>
            <a:r>
              <a:rPr lang="en-US" altLang="en-US" dirty="0">
                <a:solidFill>
                  <a:srgbClr val="000000"/>
                </a:solidFill>
                <a:cs typeface="Arial" panose="020B0604020202020204" pitchFamily="34" charset="0"/>
              </a:rPr>
              <a:t>There is no absolute zero</a:t>
            </a:r>
          </a:p>
          <a:p>
            <a:pPr marL="255651" lvl="0" indent="-255651">
              <a:spcAft>
                <a:spcPct val="0"/>
              </a:spcAft>
              <a:buSzPts val="2400"/>
            </a:pPr>
            <a:r>
              <a:rPr lang="en-US" altLang="en-US" dirty="0">
                <a:solidFill>
                  <a:srgbClr val="000000"/>
                </a:solidFill>
                <a:cs typeface="Arial" panose="020B0604020202020204" pitchFamily="34" charset="0"/>
              </a:rPr>
              <a:t>Examples of interval scales include the Fahrenheit or Centigrade scale</a:t>
            </a:r>
          </a:p>
        </p:txBody>
      </p:sp>
      <p:pic>
        <p:nvPicPr>
          <p:cNvPr id="5" name="Picture 4" descr="An image representing a numeric rating scale for the support given by the technical support group. The rating points are 1, 2, 3, 4, 5 where 1 is the least means not useful at all and 5 is maximum which means extremely useful.">
            <a:extLst>
              <a:ext uri="{FF2B5EF4-FFF2-40B4-BE49-F238E27FC236}">
                <a16:creationId xmlns:a16="http://schemas.microsoft.com/office/drawing/2014/main" id="{A04EE1FB-682E-4427-AF1B-DA4A33CBC093}"/>
              </a:ext>
            </a:extLst>
          </p:cNvPr>
          <p:cNvPicPr>
            <a:picLocks noChangeAspect="1"/>
          </p:cNvPicPr>
          <p:nvPr/>
        </p:nvPicPr>
        <p:blipFill>
          <a:blip r:embed="rId3"/>
          <a:stretch>
            <a:fillRect/>
          </a:stretch>
        </p:blipFill>
        <p:spPr>
          <a:xfrm>
            <a:off x="865215" y="3928478"/>
            <a:ext cx="7413570" cy="1589499"/>
          </a:xfrm>
          <a:prstGeom prst="rect">
            <a:avLst/>
          </a:prstGeom>
        </p:spPr>
      </p:pic>
    </p:spTree>
    <p:extLst>
      <p:ext uri="{BB962C8B-B14F-4D97-AF65-F5344CB8AC3E}">
        <p14:creationId xmlns:p14="http://schemas.microsoft.com/office/powerpoint/2010/main" val="19043831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1BE24-943F-4B4A-B221-DEEA1C7D42AC}"/>
              </a:ext>
            </a:extLst>
          </p:cNvPr>
          <p:cNvSpPr>
            <a:spLocks noGrp="1"/>
          </p:cNvSpPr>
          <p:nvPr>
            <p:ph type="title"/>
          </p:nvPr>
        </p:nvSpPr>
        <p:spPr/>
        <p:txBody>
          <a:bodyPr/>
          <a:lstStyle/>
          <a:p>
            <a:r>
              <a:rPr lang="en-US" altLang="en-US" dirty="0">
                <a:sym typeface="Arial"/>
              </a:rPr>
              <a:t>Validity and Reliability</a:t>
            </a:r>
            <a:endParaRPr lang="en-US" dirty="0"/>
          </a:p>
        </p:txBody>
      </p:sp>
      <p:sp>
        <p:nvSpPr>
          <p:cNvPr id="3" name="Content Placeholder 2">
            <a:extLst>
              <a:ext uri="{FF2B5EF4-FFF2-40B4-BE49-F238E27FC236}">
                <a16:creationId xmlns:a16="http://schemas.microsoft.com/office/drawing/2014/main" id="{95E075FB-D427-4B2C-8A63-AD0CAA45DFC0}"/>
              </a:ext>
            </a:extLst>
          </p:cNvPr>
          <p:cNvSpPr>
            <a:spLocks noGrp="1"/>
          </p:cNvSpPr>
          <p:nvPr>
            <p:ph sz="quarter" idx="13"/>
          </p:nvPr>
        </p:nvSpPr>
        <p:spPr>
          <a:xfrm>
            <a:off x="457200" y="1556327"/>
            <a:ext cx="8229600" cy="2298221"/>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Validity is the degree to which the question measures what the analyst intends to measure</a:t>
            </a:r>
          </a:p>
          <a:p>
            <a:pPr marL="255651" lvl="0" indent="-255651">
              <a:spcAft>
                <a:spcPct val="0"/>
              </a:spcAft>
              <a:buSzPts val="2400"/>
              <a:tabLst/>
            </a:pPr>
            <a:r>
              <a:rPr lang="en-US" altLang="en-US" dirty="0">
                <a:solidFill>
                  <a:srgbClr val="000000"/>
                </a:solidFill>
                <a:cs typeface="Arial" panose="020B0604020202020204" pitchFamily="34" charset="0"/>
              </a:rPr>
              <a:t>Reliability of scales refers to consistency in response—getting the same results if the same questionnaire was administered again under the same conditions</a:t>
            </a:r>
          </a:p>
        </p:txBody>
      </p:sp>
    </p:spTree>
    <p:extLst>
      <p:ext uri="{BB962C8B-B14F-4D97-AF65-F5344CB8AC3E}">
        <p14:creationId xmlns:p14="http://schemas.microsoft.com/office/powerpoint/2010/main" val="16234233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B7B2F-A1B4-4872-B089-895477590C74}"/>
              </a:ext>
            </a:extLst>
          </p:cNvPr>
          <p:cNvSpPr>
            <a:spLocks noGrp="1"/>
          </p:cNvSpPr>
          <p:nvPr>
            <p:ph type="title"/>
          </p:nvPr>
        </p:nvSpPr>
        <p:spPr/>
        <p:txBody>
          <a:bodyPr/>
          <a:lstStyle/>
          <a:p>
            <a:r>
              <a:rPr lang="en-US" altLang="en-US" dirty="0">
                <a:sym typeface="Arial"/>
              </a:rPr>
              <a:t>Problems with Scales</a:t>
            </a:r>
            <a:endParaRPr lang="en-US" dirty="0"/>
          </a:p>
        </p:txBody>
      </p:sp>
      <p:sp>
        <p:nvSpPr>
          <p:cNvPr id="3" name="Content Placeholder 2">
            <a:extLst>
              <a:ext uri="{FF2B5EF4-FFF2-40B4-BE49-F238E27FC236}">
                <a16:creationId xmlns:a16="http://schemas.microsoft.com/office/drawing/2014/main" id="{4BD051F3-EACD-4D62-9374-88B14197FE4D}"/>
              </a:ext>
            </a:extLst>
          </p:cNvPr>
          <p:cNvSpPr>
            <a:spLocks noGrp="1"/>
          </p:cNvSpPr>
          <p:nvPr>
            <p:ph sz="quarter" idx="13"/>
          </p:nvPr>
        </p:nvSpPr>
        <p:spPr>
          <a:xfrm>
            <a:off x="457200" y="1556327"/>
            <a:ext cx="8229600" cy="1735513"/>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Leniency</a:t>
            </a:r>
          </a:p>
          <a:p>
            <a:pPr marL="255651" lvl="0" indent="-255651">
              <a:spcAft>
                <a:spcPct val="0"/>
              </a:spcAft>
              <a:buSzPts val="2400"/>
              <a:tabLst/>
            </a:pPr>
            <a:r>
              <a:rPr lang="en-US" altLang="en-US" dirty="0">
                <a:solidFill>
                  <a:srgbClr val="000000"/>
                </a:solidFill>
                <a:cs typeface="Arial" panose="020B0604020202020204" pitchFamily="34" charset="0"/>
              </a:rPr>
              <a:t>Central tendency</a:t>
            </a:r>
          </a:p>
          <a:p>
            <a:pPr marL="255651" lvl="0" indent="-255651">
              <a:spcAft>
                <a:spcPct val="0"/>
              </a:spcAft>
              <a:buSzPts val="2400"/>
              <a:tabLst/>
            </a:pPr>
            <a:r>
              <a:rPr lang="en-US" altLang="en-US" dirty="0">
                <a:solidFill>
                  <a:srgbClr val="000000"/>
                </a:solidFill>
                <a:cs typeface="Arial" panose="020B0604020202020204" pitchFamily="34" charset="0"/>
              </a:rPr>
              <a:t>Halo effect</a:t>
            </a:r>
          </a:p>
        </p:txBody>
      </p:sp>
    </p:spTree>
    <p:extLst>
      <p:ext uri="{BB962C8B-B14F-4D97-AF65-F5344CB8AC3E}">
        <p14:creationId xmlns:p14="http://schemas.microsoft.com/office/powerpoint/2010/main" val="37918527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631B3-4BE1-44A0-959B-BCE2F4122525}"/>
              </a:ext>
            </a:extLst>
          </p:cNvPr>
          <p:cNvSpPr>
            <a:spLocks noGrp="1"/>
          </p:cNvSpPr>
          <p:nvPr>
            <p:ph type="title"/>
          </p:nvPr>
        </p:nvSpPr>
        <p:spPr/>
        <p:txBody>
          <a:bodyPr/>
          <a:lstStyle/>
          <a:p>
            <a:r>
              <a:rPr lang="en-US" altLang="en-US" dirty="0">
                <a:sym typeface="Arial"/>
              </a:rPr>
              <a:t>Leniency</a:t>
            </a:r>
            <a:endParaRPr lang="en-US" dirty="0"/>
          </a:p>
        </p:txBody>
      </p:sp>
      <p:sp>
        <p:nvSpPr>
          <p:cNvPr id="3" name="Content Placeholder 2">
            <a:extLst>
              <a:ext uri="{FF2B5EF4-FFF2-40B4-BE49-F238E27FC236}">
                <a16:creationId xmlns:a16="http://schemas.microsoft.com/office/drawing/2014/main" id="{E53B5F1B-914C-4216-A57C-2D9CD9ED6BBA}"/>
              </a:ext>
            </a:extLst>
          </p:cNvPr>
          <p:cNvSpPr>
            <a:spLocks noGrp="1"/>
          </p:cNvSpPr>
          <p:nvPr>
            <p:ph sz="quarter" idx="13"/>
          </p:nvPr>
        </p:nvSpPr>
        <p:spPr>
          <a:xfrm>
            <a:off x="457200" y="1556327"/>
            <a:ext cx="8229600" cy="1397888"/>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Caused by easy raters</a:t>
            </a:r>
          </a:p>
          <a:p>
            <a:pPr marL="741553" lvl="1" indent="-284353">
              <a:spcAft>
                <a:spcPct val="0"/>
              </a:spcAft>
              <a:buSzPts val="2400"/>
            </a:pPr>
            <a:r>
              <a:rPr lang="en-US" altLang="en-US" dirty="0">
                <a:solidFill>
                  <a:srgbClr val="000000"/>
                </a:solidFill>
                <a:cs typeface="Arial" panose="020B0604020202020204" pitchFamily="34" charset="0"/>
              </a:rPr>
              <a:t>Solution is to move the “average” category to the left or right of center</a:t>
            </a:r>
          </a:p>
        </p:txBody>
      </p:sp>
    </p:spTree>
    <p:extLst>
      <p:ext uri="{BB962C8B-B14F-4D97-AF65-F5344CB8AC3E}">
        <p14:creationId xmlns:p14="http://schemas.microsoft.com/office/powerpoint/2010/main" val="29561191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F8FFB-0C6B-47E1-9D83-8D7588FEB809}"/>
              </a:ext>
            </a:extLst>
          </p:cNvPr>
          <p:cNvSpPr>
            <a:spLocks noGrp="1"/>
          </p:cNvSpPr>
          <p:nvPr>
            <p:ph type="title"/>
          </p:nvPr>
        </p:nvSpPr>
        <p:spPr/>
        <p:txBody>
          <a:bodyPr/>
          <a:lstStyle/>
          <a:p>
            <a:r>
              <a:rPr lang="en-US" altLang="en-US" dirty="0">
                <a:sym typeface="Arial"/>
              </a:rPr>
              <a:t>Central Tendency</a:t>
            </a:r>
            <a:endParaRPr lang="en-US" dirty="0"/>
          </a:p>
        </p:txBody>
      </p:sp>
      <p:sp>
        <p:nvSpPr>
          <p:cNvPr id="3" name="Content Placeholder 2">
            <a:extLst>
              <a:ext uri="{FF2B5EF4-FFF2-40B4-BE49-F238E27FC236}">
                <a16:creationId xmlns:a16="http://schemas.microsoft.com/office/drawing/2014/main" id="{0B6C4158-DCB3-4136-8564-F340CCDFE0EE}"/>
              </a:ext>
            </a:extLst>
          </p:cNvPr>
          <p:cNvSpPr>
            <a:spLocks noGrp="1"/>
          </p:cNvSpPr>
          <p:nvPr>
            <p:ph sz="quarter" idx="13"/>
          </p:nvPr>
        </p:nvSpPr>
        <p:spPr>
          <a:xfrm>
            <a:off x="457200" y="1556327"/>
            <a:ext cx="8229600" cy="2663981"/>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Central tendency occurs when respondents rate everything as average</a:t>
            </a:r>
          </a:p>
          <a:p>
            <a:pPr marL="741553" lvl="1" indent="-284353">
              <a:spcAft>
                <a:spcPct val="0"/>
              </a:spcAft>
              <a:buSzPts val="2400"/>
            </a:pPr>
            <a:r>
              <a:rPr lang="en-US" altLang="en-US" dirty="0">
                <a:solidFill>
                  <a:srgbClr val="000000"/>
                </a:solidFill>
                <a:cs typeface="Arial" panose="020B0604020202020204" pitchFamily="34" charset="0"/>
              </a:rPr>
              <a:t>Improve by making the differences smaller at the two ends</a:t>
            </a:r>
          </a:p>
          <a:p>
            <a:pPr marL="741553" lvl="1" indent="-284353">
              <a:spcAft>
                <a:spcPct val="0"/>
              </a:spcAft>
              <a:buSzPts val="2400"/>
            </a:pPr>
            <a:r>
              <a:rPr lang="en-US" altLang="en-US" dirty="0">
                <a:solidFill>
                  <a:srgbClr val="000000"/>
                </a:solidFill>
                <a:cs typeface="Arial" panose="020B0604020202020204" pitchFamily="34" charset="0"/>
              </a:rPr>
              <a:t>Adjust the strength of the descriptors</a:t>
            </a:r>
          </a:p>
          <a:p>
            <a:pPr marL="741553" lvl="1" indent="-284353">
              <a:spcAft>
                <a:spcPct val="0"/>
              </a:spcAft>
              <a:buSzPts val="2400"/>
            </a:pPr>
            <a:r>
              <a:rPr lang="en-US" altLang="en-US" dirty="0">
                <a:solidFill>
                  <a:srgbClr val="000000"/>
                </a:solidFill>
                <a:cs typeface="Arial" panose="020B0604020202020204" pitchFamily="34" charset="0"/>
              </a:rPr>
              <a:t>Create a scale with more points</a:t>
            </a:r>
          </a:p>
        </p:txBody>
      </p:sp>
    </p:spTree>
    <p:extLst>
      <p:ext uri="{BB962C8B-B14F-4D97-AF65-F5344CB8AC3E}">
        <p14:creationId xmlns:p14="http://schemas.microsoft.com/office/powerpoint/2010/main" val="367258862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52244-0184-4B00-B7B4-15F4A79558A9}"/>
              </a:ext>
            </a:extLst>
          </p:cNvPr>
          <p:cNvSpPr>
            <a:spLocks noGrp="1"/>
          </p:cNvSpPr>
          <p:nvPr>
            <p:ph type="title"/>
          </p:nvPr>
        </p:nvSpPr>
        <p:spPr/>
        <p:txBody>
          <a:bodyPr/>
          <a:lstStyle/>
          <a:p>
            <a:r>
              <a:rPr lang="en-US" altLang="en-US" dirty="0">
                <a:sym typeface="Arial"/>
              </a:rPr>
              <a:t>Halo Effect</a:t>
            </a:r>
            <a:endParaRPr lang="en-US" dirty="0"/>
          </a:p>
        </p:txBody>
      </p:sp>
      <p:sp>
        <p:nvSpPr>
          <p:cNvPr id="3" name="Content Placeholder 2">
            <a:extLst>
              <a:ext uri="{FF2B5EF4-FFF2-40B4-BE49-F238E27FC236}">
                <a16:creationId xmlns:a16="http://schemas.microsoft.com/office/drawing/2014/main" id="{183D23F3-0229-47E2-B1D2-02D8E1EDD4BD}"/>
              </a:ext>
            </a:extLst>
          </p:cNvPr>
          <p:cNvSpPr>
            <a:spLocks noGrp="1"/>
          </p:cNvSpPr>
          <p:nvPr>
            <p:ph sz="quarter" idx="13"/>
          </p:nvPr>
        </p:nvSpPr>
        <p:spPr>
          <a:xfrm>
            <a:off x="457200" y="1556327"/>
            <a:ext cx="8229600" cy="1872673"/>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When the impression formed in one question carries into the next question</a:t>
            </a:r>
          </a:p>
          <a:p>
            <a:pPr marL="255651" lvl="0" indent="-255651">
              <a:spcAft>
                <a:spcPct val="0"/>
              </a:spcAft>
              <a:buSzPts val="2400"/>
              <a:tabLst/>
            </a:pPr>
            <a:r>
              <a:rPr lang="en-US" altLang="en-US" dirty="0">
                <a:solidFill>
                  <a:srgbClr val="000000"/>
                </a:solidFill>
                <a:cs typeface="Arial" panose="020B0604020202020204" pitchFamily="34" charset="0"/>
              </a:rPr>
              <a:t>Solution is to place one trait and several items on each page</a:t>
            </a:r>
          </a:p>
        </p:txBody>
      </p:sp>
    </p:spTree>
    <p:extLst>
      <p:ext uri="{BB962C8B-B14F-4D97-AF65-F5344CB8AC3E}">
        <p14:creationId xmlns:p14="http://schemas.microsoft.com/office/powerpoint/2010/main" val="29389707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B7A1A-2786-41D6-9E6B-0A3C4A670ADB}"/>
              </a:ext>
            </a:extLst>
          </p:cNvPr>
          <p:cNvSpPr>
            <a:spLocks noGrp="1"/>
          </p:cNvSpPr>
          <p:nvPr>
            <p:ph type="title"/>
          </p:nvPr>
        </p:nvSpPr>
        <p:spPr/>
        <p:txBody>
          <a:bodyPr/>
          <a:lstStyle/>
          <a:p>
            <a:r>
              <a:rPr lang="en-US" altLang="en-US" dirty="0">
                <a:sym typeface="Arial"/>
              </a:rPr>
              <a:t>Designing the Questionnaire</a:t>
            </a:r>
            <a:endParaRPr lang="en-US" dirty="0"/>
          </a:p>
        </p:txBody>
      </p:sp>
      <p:sp>
        <p:nvSpPr>
          <p:cNvPr id="3" name="Content Placeholder 2">
            <a:extLst>
              <a:ext uri="{FF2B5EF4-FFF2-40B4-BE49-F238E27FC236}">
                <a16:creationId xmlns:a16="http://schemas.microsoft.com/office/drawing/2014/main" id="{27186949-098C-47BC-B48A-1A665F99BBCB}"/>
              </a:ext>
            </a:extLst>
          </p:cNvPr>
          <p:cNvSpPr>
            <a:spLocks noGrp="1"/>
          </p:cNvSpPr>
          <p:nvPr>
            <p:ph sz="quarter" idx="13"/>
          </p:nvPr>
        </p:nvSpPr>
        <p:spPr>
          <a:xfrm>
            <a:off x="457200" y="1556327"/>
            <a:ext cx="8229600" cy="2720251"/>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Allow ample white space</a:t>
            </a:r>
          </a:p>
          <a:p>
            <a:pPr marL="255651" lvl="0" indent="-255651">
              <a:spcAft>
                <a:spcPct val="0"/>
              </a:spcAft>
              <a:buSzPts val="2400"/>
              <a:tabLst/>
            </a:pPr>
            <a:r>
              <a:rPr lang="en-US" altLang="en-US" dirty="0">
                <a:solidFill>
                  <a:srgbClr val="000000"/>
                </a:solidFill>
                <a:cs typeface="Arial" panose="020B0604020202020204" pitchFamily="34" charset="0"/>
              </a:rPr>
              <a:t>Allow ample space to write or type in responses</a:t>
            </a:r>
          </a:p>
          <a:p>
            <a:pPr marL="255651" lvl="0" indent="-255651">
              <a:spcAft>
                <a:spcPct val="0"/>
              </a:spcAft>
              <a:buSzPts val="2400"/>
              <a:tabLst/>
            </a:pPr>
            <a:r>
              <a:rPr lang="en-US" altLang="en-US" dirty="0">
                <a:solidFill>
                  <a:srgbClr val="000000"/>
                </a:solidFill>
                <a:cs typeface="Arial" panose="020B0604020202020204" pitchFamily="34" charset="0"/>
              </a:rPr>
              <a:t>Make it easy for respondents to clearly mark their answers</a:t>
            </a:r>
          </a:p>
          <a:p>
            <a:pPr marL="255651" lvl="0" indent="-255651">
              <a:spcAft>
                <a:spcPct val="0"/>
              </a:spcAft>
              <a:buSzPts val="2400"/>
              <a:tabLst/>
            </a:pPr>
            <a:r>
              <a:rPr lang="en-US" altLang="en-US" dirty="0">
                <a:solidFill>
                  <a:srgbClr val="000000"/>
                </a:solidFill>
                <a:cs typeface="Arial" panose="020B0604020202020204" pitchFamily="34" charset="0"/>
              </a:rPr>
              <a:t>Be consistent in style</a:t>
            </a:r>
          </a:p>
        </p:txBody>
      </p:sp>
    </p:spTree>
    <p:extLst>
      <p:ext uri="{BB962C8B-B14F-4D97-AF65-F5344CB8AC3E}">
        <p14:creationId xmlns:p14="http://schemas.microsoft.com/office/powerpoint/2010/main" val="20948625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BA7F9-85DF-4671-B5AE-E597C342A524}"/>
              </a:ext>
            </a:extLst>
          </p:cNvPr>
          <p:cNvSpPr>
            <a:spLocks noGrp="1"/>
          </p:cNvSpPr>
          <p:nvPr>
            <p:ph type="title"/>
          </p:nvPr>
        </p:nvSpPr>
        <p:spPr/>
        <p:txBody>
          <a:bodyPr/>
          <a:lstStyle/>
          <a:p>
            <a:r>
              <a:rPr lang="en-US" altLang="en-US" dirty="0">
                <a:sym typeface="Arial"/>
              </a:rPr>
              <a:t>Order of Questions</a:t>
            </a:r>
            <a:endParaRPr lang="en-US" dirty="0"/>
          </a:p>
        </p:txBody>
      </p:sp>
      <p:sp>
        <p:nvSpPr>
          <p:cNvPr id="3" name="Content Placeholder 2">
            <a:extLst>
              <a:ext uri="{FF2B5EF4-FFF2-40B4-BE49-F238E27FC236}">
                <a16:creationId xmlns:a16="http://schemas.microsoft.com/office/drawing/2014/main" id="{A5167BF4-BC5F-4A94-A6F3-315294D0EE19}"/>
              </a:ext>
            </a:extLst>
          </p:cNvPr>
          <p:cNvSpPr>
            <a:spLocks noGrp="1"/>
          </p:cNvSpPr>
          <p:nvPr>
            <p:ph sz="quarter" idx="13"/>
          </p:nvPr>
        </p:nvSpPr>
        <p:spPr>
          <a:xfrm>
            <a:off x="457200" y="1556327"/>
            <a:ext cx="8229600" cy="1872673"/>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Place most important questions first</a:t>
            </a:r>
          </a:p>
          <a:p>
            <a:pPr marL="255651" lvl="0" indent="-255651">
              <a:spcAft>
                <a:spcPct val="0"/>
              </a:spcAft>
              <a:buSzPts val="2400"/>
              <a:tabLst/>
            </a:pPr>
            <a:r>
              <a:rPr lang="en-US" altLang="en-US" dirty="0">
                <a:solidFill>
                  <a:srgbClr val="000000"/>
                </a:solidFill>
                <a:cs typeface="Arial" panose="020B0604020202020204" pitchFamily="34" charset="0"/>
              </a:rPr>
              <a:t>Cluster items of similar content together</a:t>
            </a:r>
          </a:p>
          <a:p>
            <a:pPr marL="255651" lvl="0" indent="-255651">
              <a:spcAft>
                <a:spcPct val="0"/>
              </a:spcAft>
              <a:buSzPts val="2400"/>
              <a:tabLst/>
            </a:pPr>
            <a:r>
              <a:rPr lang="en-US" altLang="en-US" dirty="0">
                <a:solidFill>
                  <a:srgbClr val="000000"/>
                </a:solidFill>
                <a:cs typeface="Arial" panose="020B0604020202020204" pitchFamily="34" charset="0"/>
              </a:rPr>
              <a:t>Introduce less controversial questions first</a:t>
            </a:r>
          </a:p>
        </p:txBody>
      </p:sp>
    </p:spTree>
    <p:extLst>
      <p:ext uri="{BB962C8B-B14F-4D97-AF65-F5344CB8AC3E}">
        <p14:creationId xmlns:p14="http://schemas.microsoft.com/office/powerpoint/2010/main" val="6501958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1AD4D-3F81-47C5-9572-464537F2C373}"/>
              </a:ext>
            </a:extLst>
          </p:cNvPr>
          <p:cNvSpPr>
            <a:spLocks noGrp="1"/>
          </p:cNvSpPr>
          <p:nvPr>
            <p:ph type="title"/>
          </p:nvPr>
        </p:nvSpPr>
        <p:spPr/>
        <p:txBody>
          <a:bodyPr/>
          <a:lstStyle/>
          <a:p>
            <a:r>
              <a:rPr lang="en-US" altLang="en-US" dirty="0">
                <a:sym typeface="Arial"/>
              </a:rPr>
              <a:t>Administering Questionnaires</a:t>
            </a:r>
            <a:endParaRPr lang="en-US" dirty="0"/>
          </a:p>
        </p:txBody>
      </p:sp>
      <p:sp>
        <p:nvSpPr>
          <p:cNvPr id="3" name="Content Placeholder 2">
            <a:extLst>
              <a:ext uri="{FF2B5EF4-FFF2-40B4-BE49-F238E27FC236}">
                <a16:creationId xmlns:a16="http://schemas.microsoft.com/office/drawing/2014/main" id="{D92228EA-A003-45F9-94F2-8125FD3ECCE0}"/>
              </a:ext>
            </a:extLst>
          </p:cNvPr>
          <p:cNvSpPr>
            <a:spLocks noGrp="1"/>
          </p:cNvSpPr>
          <p:nvPr>
            <p:ph sz="quarter" idx="13"/>
          </p:nvPr>
        </p:nvSpPr>
        <p:spPr>
          <a:xfrm>
            <a:off x="457200" y="1556327"/>
            <a:ext cx="8229600" cy="1988731"/>
          </a:xfrm>
        </p:spPr>
        <p:txBody>
          <a:bodyPr/>
          <a:lstStyle/>
          <a:p>
            <a:pPr marL="255651" lvl="0" indent="-255651">
              <a:spcAft>
                <a:spcPct val="0"/>
              </a:spcAft>
              <a:buSzPts val="2400"/>
              <a:tabLst/>
            </a:pPr>
            <a:r>
              <a:rPr lang="en-US" altLang="en-US" dirty="0">
                <a:solidFill>
                  <a:srgbClr val="000000"/>
                </a:solidFill>
                <a:latin typeface="Arial" panose="020B0604020202020204" pitchFamily="34" charset="0"/>
                <a:cs typeface="Arial" panose="020B0604020202020204" pitchFamily="34" charset="0"/>
              </a:rPr>
              <a:t>Administering questionnaires has two main questions:</a:t>
            </a:r>
          </a:p>
          <a:p>
            <a:pPr marL="741553" lvl="1" indent="-284353">
              <a:spcAft>
                <a:spcPct val="0"/>
              </a:spcAft>
              <a:buSzPts val="2400"/>
            </a:pPr>
            <a:r>
              <a:rPr lang="en-US" altLang="en-US" dirty="0">
                <a:solidFill>
                  <a:srgbClr val="000000"/>
                </a:solidFill>
                <a:latin typeface="Arial" panose="020B0604020202020204" pitchFamily="34" charset="0"/>
                <a:cs typeface="Arial" panose="020B0604020202020204" pitchFamily="34" charset="0"/>
              </a:rPr>
              <a:t>Who in the organization should receive the questionnaire</a:t>
            </a:r>
          </a:p>
          <a:p>
            <a:pPr marL="741553" lvl="1" indent="-284353">
              <a:spcAft>
                <a:spcPct val="0"/>
              </a:spcAft>
              <a:buSzPts val="2400"/>
            </a:pPr>
            <a:r>
              <a:rPr lang="en-US" altLang="en-US" dirty="0">
                <a:solidFill>
                  <a:srgbClr val="000000"/>
                </a:solidFill>
                <a:latin typeface="Arial" panose="020B0604020202020204" pitchFamily="34" charset="0"/>
                <a:cs typeface="Arial" panose="020B0604020202020204" pitchFamily="34" charset="0"/>
              </a:rPr>
              <a:t>How should the questionnaire be administered</a:t>
            </a:r>
          </a:p>
        </p:txBody>
      </p:sp>
    </p:spTree>
    <p:extLst>
      <p:ext uri="{BB962C8B-B14F-4D97-AF65-F5344CB8AC3E}">
        <p14:creationId xmlns:p14="http://schemas.microsoft.com/office/powerpoint/2010/main" val="27920699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DC4ED-9DE7-4791-862B-76F0662F18E6}"/>
              </a:ext>
            </a:extLst>
          </p:cNvPr>
          <p:cNvSpPr>
            <a:spLocks noGrp="1"/>
          </p:cNvSpPr>
          <p:nvPr>
            <p:ph type="title"/>
          </p:nvPr>
        </p:nvSpPr>
        <p:spPr/>
        <p:txBody>
          <a:bodyPr/>
          <a:lstStyle/>
          <a:p>
            <a:r>
              <a:rPr lang="en-US" altLang="en-US" sz="3200" dirty="0">
                <a:sym typeface="Arial"/>
              </a:rPr>
              <a:t>Figure 4.14 Ways to Capture Responses When Designing a Web Survey</a:t>
            </a:r>
            <a:endParaRPr lang="en-US" sz="3200" dirty="0"/>
          </a:p>
        </p:txBody>
      </p:sp>
      <p:graphicFrame>
        <p:nvGraphicFramePr>
          <p:cNvPr id="4" name="Table 3">
            <a:extLst>
              <a:ext uri="{FF2B5EF4-FFF2-40B4-BE49-F238E27FC236}">
                <a16:creationId xmlns:a16="http://schemas.microsoft.com/office/drawing/2014/main" id="{B83D5CAE-8272-42C1-AACA-3ADEDE30C78C}"/>
              </a:ext>
            </a:extLst>
          </p:cNvPr>
          <p:cNvGraphicFramePr>
            <a:graphicFrameLocks noGrp="1"/>
          </p:cNvGraphicFramePr>
          <p:nvPr>
            <p:extLst>
              <p:ext uri="{D42A27DB-BD31-4B8C-83A1-F6EECF244321}">
                <p14:modId xmlns:p14="http://schemas.microsoft.com/office/powerpoint/2010/main" val="3255207177"/>
              </p:ext>
            </p:extLst>
          </p:nvPr>
        </p:nvGraphicFramePr>
        <p:xfrm>
          <a:off x="468313" y="1565816"/>
          <a:ext cx="8172447" cy="4428593"/>
        </p:xfrm>
        <a:graphic>
          <a:graphicData uri="http://schemas.openxmlformats.org/drawingml/2006/table">
            <a:tbl>
              <a:tblPr firstRow="1" bandRow="1">
                <a:tableStyleId>{5940675A-B579-460E-94D1-54222C63F5DA}</a:tableStyleId>
              </a:tblPr>
              <a:tblGrid>
                <a:gridCol w="1993533">
                  <a:extLst>
                    <a:ext uri="{9D8B030D-6E8A-4147-A177-3AD203B41FA5}">
                      <a16:colId xmlns:a16="http://schemas.microsoft.com/office/drawing/2014/main" val="3422174107"/>
                    </a:ext>
                  </a:extLst>
                </a:gridCol>
                <a:gridCol w="2414954">
                  <a:extLst>
                    <a:ext uri="{9D8B030D-6E8A-4147-A177-3AD203B41FA5}">
                      <a16:colId xmlns:a16="http://schemas.microsoft.com/office/drawing/2014/main" val="3021021323"/>
                    </a:ext>
                  </a:extLst>
                </a:gridCol>
                <a:gridCol w="3763960">
                  <a:extLst>
                    <a:ext uri="{9D8B030D-6E8A-4147-A177-3AD203B41FA5}">
                      <a16:colId xmlns:a16="http://schemas.microsoft.com/office/drawing/2014/main" val="2946977000"/>
                    </a:ext>
                  </a:extLst>
                </a:gridCol>
              </a:tblGrid>
              <a:tr h="333322">
                <a:tc>
                  <a:txBody>
                    <a:bodyPr/>
                    <a:lstStyle/>
                    <a:p>
                      <a:pPr algn="l"/>
                      <a:r>
                        <a:rPr lang="en-US" sz="1400" b="1" i="0" u="none" strike="noStrike" cap="none" baseline="0" dirty="0">
                          <a:solidFill>
                            <a:schemeClr val="tx1"/>
                          </a:solidFill>
                          <a:latin typeface="+mn-lt"/>
                          <a:ea typeface="Arial"/>
                          <a:cs typeface="Arial" panose="020B0604020202020204" pitchFamily="34" charset="0"/>
                          <a:sym typeface="Arial"/>
                        </a:rPr>
                        <a:t>Name</a:t>
                      </a:r>
                      <a:endParaRPr lang="en-US" sz="1400" dirty="0">
                        <a:solidFill>
                          <a:schemeClr val="tx1"/>
                        </a:solidFill>
                        <a:latin typeface="+mn-lt"/>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u="none" strike="noStrike" cap="none" baseline="0" dirty="0">
                          <a:solidFill>
                            <a:schemeClr val="tx1"/>
                          </a:solidFill>
                          <a:latin typeface="+mn-lt"/>
                          <a:ea typeface="Arial"/>
                          <a:cs typeface="Arial" panose="020B0604020202020204" pitchFamily="34" charset="0"/>
                          <a:sym typeface="Arial"/>
                        </a:rPr>
                        <a:t>Appearance</a:t>
                      </a:r>
                      <a:endParaRPr lang="en-US" sz="1400" dirty="0">
                        <a:solidFill>
                          <a:schemeClr val="tx1"/>
                        </a:solidFill>
                        <a:latin typeface="+mn-lt"/>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u="none" strike="noStrike" cap="none" baseline="0" dirty="0">
                          <a:solidFill>
                            <a:schemeClr val="tx1"/>
                          </a:solidFill>
                          <a:latin typeface="+mn-lt"/>
                          <a:ea typeface="Arial"/>
                          <a:cs typeface="Arial" panose="020B0604020202020204" pitchFamily="34" charset="0"/>
                          <a:sym typeface="Arial"/>
                        </a:rPr>
                        <a:t>Purpose</a:t>
                      </a:r>
                      <a:endParaRPr lang="en-US" sz="1400" dirty="0">
                        <a:solidFill>
                          <a:schemeClr val="tx1"/>
                        </a:solidFill>
                        <a:latin typeface="+mn-lt"/>
                        <a:cs typeface="Arial" panose="020B0604020202020204" pitchFamily="34" charset="0"/>
                      </a:endParaRPr>
                    </a:p>
                  </a:txBody>
                  <a:tcPr/>
                </a:tc>
                <a:extLst>
                  <a:ext uri="{0D108BD9-81ED-4DB2-BD59-A6C34878D82A}">
                    <a16:rowId xmlns:a16="http://schemas.microsoft.com/office/drawing/2014/main" val="3775346583"/>
                  </a:ext>
                </a:extLst>
              </a:tr>
              <a:tr h="652528">
                <a:tc>
                  <a:txBody>
                    <a:bodyPr/>
                    <a:lstStyle/>
                    <a:p>
                      <a:pPr algn="l"/>
                      <a:r>
                        <a:rPr lang="en-US" sz="1400" b="0" i="0" u="none" strike="noStrike" cap="none" baseline="0" dirty="0">
                          <a:solidFill>
                            <a:schemeClr val="tx1"/>
                          </a:solidFill>
                          <a:latin typeface="+mn-lt"/>
                          <a:ea typeface="Arial"/>
                          <a:cs typeface="Arial" panose="020B0604020202020204" pitchFamily="34" charset="0"/>
                          <a:sym typeface="Arial"/>
                        </a:rPr>
                        <a:t>One-line text box</a:t>
                      </a:r>
                      <a:endParaRPr lang="en-US" sz="1400" dirty="0">
                        <a:solidFill>
                          <a:schemeClr val="tx1"/>
                        </a:solidFill>
                        <a:latin typeface="+mn-lt"/>
                        <a:cs typeface="Arial" panose="020B0604020202020204" pitchFamily="34" charset="0"/>
                      </a:endParaRPr>
                    </a:p>
                  </a:txBody>
                  <a:tcPr/>
                </a:tc>
                <a:tc>
                  <a:txBody>
                    <a:bodyPr/>
                    <a:lstStyle/>
                    <a:p>
                      <a:pPr algn="l"/>
                      <a:r>
                        <a:rPr lang="en-US" sz="100" dirty="0" smtClean="0">
                          <a:solidFill>
                            <a:schemeClr val="tx1"/>
                          </a:solidFill>
                          <a:latin typeface="+mn-lt"/>
                          <a:cs typeface="Arial" panose="020B0604020202020204" pitchFamily="34" charset="0"/>
                        </a:rPr>
                        <a:t>A single line text box is shown</a:t>
                      </a:r>
                      <a:endParaRPr lang="en-US" sz="100" dirty="0">
                        <a:solidFill>
                          <a:schemeClr val="tx1"/>
                        </a:solidFill>
                        <a:latin typeface="+mn-lt"/>
                        <a:cs typeface="Arial" panose="020B0604020202020204" pitchFamily="34" charset="0"/>
                      </a:endParaRPr>
                    </a:p>
                  </a:txBody>
                  <a:tcPr marT="90000"/>
                </a:tc>
                <a:tc>
                  <a:txBody>
                    <a:bodyPr/>
                    <a:lstStyle/>
                    <a:p>
                      <a:pPr algn="l"/>
                      <a:r>
                        <a:rPr lang="en-US" sz="1400" b="0" i="0" u="none" strike="noStrike" cap="none" baseline="0" dirty="0">
                          <a:solidFill>
                            <a:schemeClr val="tx1"/>
                          </a:solidFill>
                          <a:latin typeface="+mn-lt"/>
                          <a:ea typeface="Arial"/>
                          <a:cs typeface="Arial" panose="020B0604020202020204" pitchFamily="34" charset="0"/>
                          <a:sym typeface="Arial"/>
                        </a:rPr>
                        <a:t>Used to obtain a small amount of text and limit the answer to a few words</a:t>
                      </a:r>
                      <a:endParaRPr lang="en-US" sz="1400" dirty="0">
                        <a:solidFill>
                          <a:schemeClr val="tx1"/>
                        </a:solidFill>
                        <a:latin typeface="+mn-lt"/>
                        <a:cs typeface="Arial" panose="020B0604020202020204" pitchFamily="34" charset="0"/>
                      </a:endParaRPr>
                    </a:p>
                  </a:txBody>
                  <a:tcPr/>
                </a:tc>
                <a:extLst>
                  <a:ext uri="{0D108BD9-81ED-4DB2-BD59-A6C34878D82A}">
                    <a16:rowId xmlns:a16="http://schemas.microsoft.com/office/drawing/2014/main" val="30779231"/>
                  </a:ext>
                </a:extLst>
              </a:tr>
              <a:tr h="506437">
                <a:tc>
                  <a:txBody>
                    <a:bodyPr/>
                    <a:lstStyle/>
                    <a:p>
                      <a:pPr algn="l"/>
                      <a:r>
                        <a:rPr lang="en-US" sz="1400" b="0" i="0" u="none" strike="noStrike" cap="none" baseline="0" dirty="0">
                          <a:solidFill>
                            <a:schemeClr val="tx1"/>
                          </a:solidFill>
                          <a:latin typeface="+mn-lt"/>
                          <a:ea typeface="Arial"/>
                          <a:cs typeface="Arial" panose="020B0604020202020204" pitchFamily="34" charset="0"/>
                          <a:sym typeface="Arial"/>
                        </a:rPr>
                        <a:t>Scrolling text box</a:t>
                      </a:r>
                      <a:endParaRPr lang="en-US" sz="1400" dirty="0">
                        <a:solidFill>
                          <a:schemeClr val="tx1"/>
                        </a:solidFill>
                        <a:latin typeface="+mn-lt"/>
                        <a:cs typeface="Arial" panose="020B0604020202020204" pitchFamily="34" charset="0"/>
                      </a:endParaRPr>
                    </a:p>
                  </a:txBody>
                  <a:tcPr/>
                </a:tc>
                <a:tc>
                  <a:txBody>
                    <a:bodyPr/>
                    <a:lstStyle/>
                    <a:p>
                      <a:pPr algn="l"/>
                      <a:r>
                        <a:rPr lang="en-US" sz="100" dirty="0" smtClean="0">
                          <a:solidFill>
                            <a:schemeClr val="tx1"/>
                          </a:solidFill>
                          <a:latin typeface="+mn-lt"/>
                          <a:cs typeface="Arial" panose="020B0604020202020204" pitchFamily="34" charset="0"/>
                        </a:rPr>
                        <a:t>Multi line text box with horizontal and vertical scroll bars shown</a:t>
                      </a:r>
                      <a:endParaRPr lang="en-US" sz="100" dirty="0">
                        <a:solidFill>
                          <a:schemeClr val="tx1"/>
                        </a:solidFill>
                        <a:latin typeface="+mn-lt"/>
                        <a:cs typeface="Arial" panose="020B0604020202020204" pitchFamily="34" charset="0"/>
                      </a:endParaRPr>
                    </a:p>
                  </a:txBody>
                  <a:tcPr marT="90000"/>
                </a:tc>
                <a:tc>
                  <a:txBody>
                    <a:bodyPr/>
                    <a:lstStyle/>
                    <a:p>
                      <a:pPr algn="l"/>
                      <a:r>
                        <a:rPr lang="en-US" sz="1400" b="0" i="0" u="none" strike="noStrike" cap="none" baseline="0" dirty="0">
                          <a:solidFill>
                            <a:schemeClr val="tx1"/>
                          </a:solidFill>
                          <a:latin typeface="+mn-lt"/>
                          <a:ea typeface="Arial"/>
                          <a:cs typeface="Arial" panose="020B0604020202020204" pitchFamily="34" charset="0"/>
                          <a:sym typeface="Arial"/>
                        </a:rPr>
                        <a:t>Used to obtain one or more paragraphs of text</a:t>
                      </a:r>
                      <a:endParaRPr lang="en-US" sz="1400" dirty="0">
                        <a:solidFill>
                          <a:schemeClr val="tx1"/>
                        </a:solidFill>
                        <a:latin typeface="+mn-lt"/>
                        <a:cs typeface="Arial" panose="020B0604020202020204" pitchFamily="34" charset="0"/>
                      </a:endParaRPr>
                    </a:p>
                  </a:txBody>
                  <a:tcPr/>
                </a:tc>
                <a:extLst>
                  <a:ext uri="{0D108BD9-81ED-4DB2-BD59-A6C34878D82A}">
                    <a16:rowId xmlns:a16="http://schemas.microsoft.com/office/drawing/2014/main" val="2759563211"/>
                  </a:ext>
                </a:extLst>
              </a:tr>
              <a:tr h="599063">
                <a:tc>
                  <a:txBody>
                    <a:bodyPr/>
                    <a:lstStyle/>
                    <a:p>
                      <a:pPr algn="l"/>
                      <a:r>
                        <a:rPr lang="en-US" sz="1400" b="0" i="0" u="none" strike="noStrike" cap="none" baseline="0" dirty="0">
                          <a:solidFill>
                            <a:schemeClr val="tx1"/>
                          </a:solidFill>
                          <a:latin typeface="+mn-lt"/>
                          <a:ea typeface="Arial"/>
                          <a:cs typeface="Arial" panose="020B0604020202020204" pitchFamily="34" charset="0"/>
                          <a:sym typeface="Arial"/>
                        </a:rPr>
                        <a:t>Check box</a:t>
                      </a:r>
                      <a:endParaRPr lang="en-US" sz="1400" dirty="0">
                        <a:solidFill>
                          <a:schemeClr val="tx1"/>
                        </a:solidFill>
                        <a:latin typeface="+mn-lt"/>
                        <a:cs typeface="Arial" panose="020B0604020202020204" pitchFamily="34" charset="0"/>
                      </a:endParaRPr>
                    </a:p>
                  </a:txBody>
                  <a:tcPr/>
                </a:tc>
                <a:tc>
                  <a:txBody>
                    <a:bodyPr/>
                    <a:lstStyle/>
                    <a:p>
                      <a:pPr algn="l"/>
                      <a:r>
                        <a:rPr lang="en-US" sz="100" dirty="0" smtClean="0">
                          <a:solidFill>
                            <a:schemeClr val="tx1"/>
                          </a:solidFill>
                          <a:latin typeface="+mn-lt"/>
                          <a:cs typeface="Arial" panose="020B0604020202020204" pitchFamily="34" charset="0"/>
                        </a:rPr>
                        <a:t>Checkbox is shown</a:t>
                      </a:r>
                      <a:endParaRPr lang="en-US" sz="100" dirty="0">
                        <a:solidFill>
                          <a:schemeClr val="tx1"/>
                        </a:solidFill>
                        <a:latin typeface="+mn-lt"/>
                        <a:cs typeface="Arial" panose="020B0604020202020204" pitchFamily="34" charset="0"/>
                      </a:endParaRPr>
                    </a:p>
                  </a:txBody>
                  <a:tcPr marL="180000" marR="540000" marT="90000"/>
                </a:tc>
                <a:tc>
                  <a:txBody>
                    <a:bodyPr/>
                    <a:lstStyle/>
                    <a:p>
                      <a:r>
                        <a:rPr lang="en-US" sz="1400" b="0" i="0" u="none" strike="noStrike" cap="none" baseline="0" dirty="0">
                          <a:solidFill>
                            <a:schemeClr val="tx1"/>
                          </a:solidFill>
                          <a:latin typeface="+mn-lt"/>
                          <a:ea typeface="Arial"/>
                          <a:cs typeface="Arial" panose="020B0604020202020204" pitchFamily="34" charset="0"/>
                          <a:sym typeface="Arial"/>
                        </a:rPr>
                        <a:t>Used to obtain a yes-no answer (e.g., Do you wish to be included on the mailing list?)</a:t>
                      </a:r>
                      <a:endParaRPr lang="en-US" sz="1400" dirty="0">
                        <a:solidFill>
                          <a:schemeClr val="tx1"/>
                        </a:solidFill>
                        <a:latin typeface="+mn-lt"/>
                        <a:cs typeface="Arial" panose="020B0604020202020204" pitchFamily="34" charset="0"/>
                      </a:endParaRPr>
                    </a:p>
                  </a:txBody>
                  <a:tcPr/>
                </a:tc>
                <a:extLst>
                  <a:ext uri="{0D108BD9-81ED-4DB2-BD59-A6C34878D82A}">
                    <a16:rowId xmlns:a16="http://schemas.microsoft.com/office/drawing/2014/main" val="3385436120"/>
                  </a:ext>
                </a:extLst>
              </a:tr>
              <a:tr h="529159">
                <a:tc>
                  <a:txBody>
                    <a:bodyPr/>
                    <a:lstStyle/>
                    <a:p>
                      <a:pPr algn="l"/>
                      <a:r>
                        <a:rPr lang="en-US" sz="1400" b="0" i="0" u="none" strike="noStrike" cap="none" baseline="0" dirty="0">
                          <a:solidFill>
                            <a:schemeClr val="tx1"/>
                          </a:solidFill>
                          <a:latin typeface="+mn-lt"/>
                          <a:ea typeface="Arial"/>
                          <a:cs typeface="Arial" panose="020B0604020202020204" pitchFamily="34" charset="0"/>
                          <a:sym typeface="Arial"/>
                        </a:rPr>
                        <a:t>Radio button</a:t>
                      </a:r>
                      <a:endParaRPr lang="en-US" sz="1400" dirty="0">
                        <a:solidFill>
                          <a:schemeClr val="tx1"/>
                        </a:solidFill>
                        <a:latin typeface="+mn-lt"/>
                        <a:cs typeface="Arial" panose="020B0604020202020204" pitchFamily="34" charset="0"/>
                      </a:endParaRPr>
                    </a:p>
                  </a:txBody>
                  <a:tcPr/>
                </a:tc>
                <a:tc>
                  <a:txBody>
                    <a:bodyPr/>
                    <a:lstStyle/>
                    <a:p>
                      <a:pPr algn="l"/>
                      <a:r>
                        <a:rPr lang="en-US" sz="100" dirty="0" smtClean="0">
                          <a:solidFill>
                            <a:schemeClr val="tx1"/>
                          </a:solidFill>
                          <a:latin typeface="+mn-lt"/>
                          <a:cs typeface="Arial" panose="020B0604020202020204" pitchFamily="34" charset="0"/>
                        </a:rPr>
                        <a:t>Checked radio button</a:t>
                      </a:r>
                      <a:endParaRPr lang="en-US" sz="100" dirty="0">
                        <a:solidFill>
                          <a:schemeClr val="tx1"/>
                        </a:solidFill>
                        <a:latin typeface="+mn-lt"/>
                        <a:cs typeface="Arial" panose="020B0604020202020204" pitchFamily="34" charset="0"/>
                      </a:endParaRPr>
                    </a:p>
                  </a:txBody>
                  <a:tcPr marL="180000" marR="90000" marT="90000"/>
                </a:tc>
                <a:tc>
                  <a:txBody>
                    <a:bodyPr/>
                    <a:lstStyle/>
                    <a:p>
                      <a:pPr algn="l"/>
                      <a:r>
                        <a:rPr lang="en-US" sz="1400" b="0" i="0" u="none" strike="noStrike" cap="none" baseline="0" dirty="0">
                          <a:solidFill>
                            <a:schemeClr val="tx1"/>
                          </a:solidFill>
                          <a:latin typeface="+mn-lt"/>
                          <a:ea typeface="Arial"/>
                          <a:cs typeface="Arial" panose="020B0604020202020204" pitchFamily="34" charset="0"/>
                          <a:sym typeface="Arial"/>
                        </a:rPr>
                        <a:t>Used to obtain a yes-no or true-false answer</a:t>
                      </a:r>
                      <a:endParaRPr lang="en-US" sz="1400" dirty="0">
                        <a:solidFill>
                          <a:schemeClr val="tx1"/>
                        </a:solidFill>
                        <a:latin typeface="+mn-lt"/>
                        <a:cs typeface="Arial" panose="020B0604020202020204" pitchFamily="34" charset="0"/>
                      </a:endParaRPr>
                    </a:p>
                  </a:txBody>
                  <a:tcPr/>
                </a:tc>
                <a:extLst>
                  <a:ext uri="{0D108BD9-81ED-4DB2-BD59-A6C34878D82A}">
                    <a16:rowId xmlns:a16="http://schemas.microsoft.com/office/drawing/2014/main" val="240197032"/>
                  </a:ext>
                </a:extLst>
              </a:tr>
              <a:tr h="652528">
                <a:tc>
                  <a:txBody>
                    <a:bodyPr/>
                    <a:lstStyle/>
                    <a:p>
                      <a:pPr algn="l"/>
                      <a:r>
                        <a:rPr lang="en-US" sz="1400" b="0" i="0" u="none" strike="noStrike" cap="none" baseline="0" dirty="0">
                          <a:solidFill>
                            <a:schemeClr val="tx1"/>
                          </a:solidFill>
                          <a:latin typeface="+mn-lt"/>
                          <a:ea typeface="Arial"/>
                          <a:cs typeface="Arial" panose="020B0604020202020204" pitchFamily="34" charset="0"/>
                          <a:sym typeface="Arial"/>
                        </a:rPr>
                        <a:t>Drop-down menu</a:t>
                      </a:r>
                      <a:endParaRPr lang="en-US" sz="1400" dirty="0">
                        <a:solidFill>
                          <a:schemeClr val="tx1"/>
                        </a:solidFill>
                        <a:latin typeface="+mn-lt"/>
                        <a:cs typeface="Arial" panose="020B0604020202020204" pitchFamily="34" charset="0"/>
                      </a:endParaRPr>
                    </a:p>
                  </a:txBody>
                  <a:tcPr/>
                </a:tc>
                <a:tc>
                  <a:txBody>
                    <a:bodyPr/>
                    <a:lstStyle/>
                    <a:p>
                      <a:pPr algn="l"/>
                      <a:r>
                        <a:rPr lang="en-US" sz="100" dirty="0" smtClean="0">
                          <a:solidFill>
                            <a:schemeClr val="tx1"/>
                          </a:solidFill>
                          <a:latin typeface="+mn-lt"/>
                          <a:cs typeface="Arial" panose="020B0604020202020204" pitchFamily="34" charset="0"/>
                        </a:rPr>
                        <a:t>Image of a dropdown button is shown </a:t>
                      </a:r>
                      <a:endParaRPr lang="en-US" sz="100" dirty="0">
                        <a:solidFill>
                          <a:schemeClr val="tx1"/>
                        </a:solidFill>
                        <a:latin typeface="+mn-lt"/>
                        <a:cs typeface="Arial" panose="020B0604020202020204" pitchFamily="34" charset="0"/>
                      </a:endParaRPr>
                    </a:p>
                  </a:txBody>
                  <a:tcPr marL="180000" marR="540000" marT="90000"/>
                </a:tc>
                <a:tc>
                  <a:txBody>
                    <a:bodyPr/>
                    <a:lstStyle/>
                    <a:p>
                      <a:r>
                        <a:rPr lang="en-US" sz="1400" b="0" i="0" u="none" strike="noStrike" cap="none" baseline="0" dirty="0">
                          <a:solidFill>
                            <a:schemeClr val="tx1"/>
                          </a:solidFill>
                          <a:latin typeface="+mn-lt"/>
                          <a:ea typeface="Arial"/>
                          <a:cs typeface="Arial" panose="020B0604020202020204" pitchFamily="34" charset="0"/>
                          <a:sym typeface="Arial"/>
                        </a:rPr>
                        <a:t>Used to obtain more consistent results</a:t>
                      </a:r>
                    </a:p>
                    <a:p>
                      <a:r>
                        <a:rPr lang="en-US" sz="1400" b="0" i="0" u="none" strike="noStrike" cap="none" baseline="0" dirty="0">
                          <a:solidFill>
                            <a:schemeClr val="tx1"/>
                          </a:solidFill>
                          <a:latin typeface="+mn-lt"/>
                          <a:ea typeface="Arial"/>
                          <a:cs typeface="Arial" panose="020B0604020202020204" pitchFamily="34" charset="0"/>
                          <a:sym typeface="Arial"/>
                        </a:rPr>
                        <a:t>(Respondent is able to choose the appropriate answer from a predetermined list [e.g., a list of state abbreviations])</a:t>
                      </a:r>
                      <a:endParaRPr lang="en-US" sz="1400" dirty="0">
                        <a:solidFill>
                          <a:schemeClr val="tx1"/>
                        </a:solidFill>
                        <a:latin typeface="+mn-lt"/>
                        <a:cs typeface="Arial" panose="020B0604020202020204" pitchFamily="34" charset="0"/>
                      </a:endParaRPr>
                    </a:p>
                  </a:txBody>
                  <a:tcPr/>
                </a:tc>
                <a:extLst>
                  <a:ext uri="{0D108BD9-81ED-4DB2-BD59-A6C34878D82A}">
                    <a16:rowId xmlns:a16="http://schemas.microsoft.com/office/drawing/2014/main" val="2545251943"/>
                  </a:ext>
                </a:extLst>
              </a:tr>
              <a:tr h="851481">
                <a:tc>
                  <a:txBody>
                    <a:bodyPr/>
                    <a:lstStyle/>
                    <a:p>
                      <a:pPr algn="l"/>
                      <a:r>
                        <a:rPr lang="en-US" sz="1400" b="0" i="0" u="none" strike="noStrike" cap="none" baseline="0" dirty="0">
                          <a:solidFill>
                            <a:schemeClr val="tx1"/>
                          </a:solidFill>
                          <a:latin typeface="+mn-lt"/>
                          <a:ea typeface="Arial"/>
                          <a:cs typeface="Arial" panose="020B0604020202020204" pitchFamily="34" charset="0"/>
                          <a:sym typeface="Arial"/>
                        </a:rPr>
                        <a:t>Push button</a:t>
                      </a:r>
                      <a:endParaRPr lang="en-US" sz="1400" dirty="0">
                        <a:solidFill>
                          <a:schemeClr val="tx1"/>
                        </a:solidFill>
                        <a:latin typeface="+mn-lt"/>
                        <a:cs typeface="Arial" panose="020B0604020202020204" pitchFamily="34" charset="0"/>
                      </a:endParaRPr>
                    </a:p>
                  </a:txBody>
                  <a:tcPr/>
                </a:tc>
                <a:tc>
                  <a:txBody>
                    <a:bodyPr/>
                    <a:lstStyle/>
                    <a:p>
                      <a:pPr algn="l"/>
                      <a:r>
                        <a:rPr lang="en-US" sz="100" b="0" i="0" u="none" strike="noStrike" cap="none" dirty="0" smtClean="0">
                          <a:solidFill>
                            <a:schemeClr val="tx1"/>
                          </a:solidFill>
                          <a:effectLst/>
                          <a:latin typeface="+mn-lt"/>
                          <a:ea typeface="Arial"/>
                          <a:cs typeface="Arial" panose="020B0604020202020204" pitchFamily="34" charset="0"/>
                          <a:sym typeface="Arial"/>
                        </a:rPr>
                        <a:t>Push button, Image of a button labeled as Button is shown</a:t>
                      </a:r>
                      <a:endParaRPr lang="en-US" sz="100" dirty="0">
                        <a:solidFill>
                          <a:schemeClr val="tx1"/>
                        </a:solidFill>
                        <a:latin typeface="+mn-lt"/>
                        <a:cs typeface="Arial" panose="020B0604020202020204" pitchFamily="34" charset="0"/>
                      </a:endParaRPr>
                    </a:p>
                  </a:txBody>
                  <a:tcPr marL="180000" marT="90000"/>
                </a:tc>
                <a:tc>
                  <a:txBody>
                    <a:bodyPr/>
                    <a:lstStyle/>
                    <a:p>
                      <a:r>
                        <a:rPr lang="en-US" sz="1400" b="0" i="0" u="none" strike="noStrike" cap="none" baseline="0" dirty="0">
                          <a:solidFill>
                            <a:schemeClr val="tx1"/>
                          </a:solidFill>
                          <a:latin typeface="+mn-lt"/>
                          <a:ea typeface="Arial"/>
                          <a:cs typeface="Arial" panose="020B0604020202020204" pitchFamily="34" charset="0"/>
                          <a:sym typeface="Arial"/>
                        </a:rPr>
                        <a:t>Most often used for an action (e.g., a respondent pushes a button marked “Submit” or “Clear”)</a:t>
                      </a:r>
                      <a:endParaRPr lang="en-US" sz="1400" dirty="0">
                        <a:solidFill>
                          <a:schemeClr val="tx1"/>
                        </a:solidFill>
                        <a:latin typeface="+mn-lt"/>
                        <a:cs typeface="Arial" panose="020B0604020202020204" pitchFamily="34" charset="0"/>
                      </a:endParaRPr>
                    </a:p>
                  </a:txBody>
                  <a:tcPr/>
                </a:tc>
                <a:extLst>
                  <a:ext uri="{0D108BD9-81ED-4DB2-BD59-A6C34878D82A}">
                    <a16:rowId xmlns:a16="http://schemas.microsoft.com/office/drawing/2014/main" val="4226968075"/>
                  </a:ext>
                </a:extLst>
              </a:tr>
            </a:tbl>
          </a:graphicData>
        </a:graphic>
      </p:graphicFrame>
      <p:pic>
        <p:nvPicPr>
          <p:cNvPr id="5" name="Picture 4">
            <a:extLst>
              <a:ext uri="{FF2B5EF4-FFF2-40B4-BE49-F238E27FC236}">
                <a16:creationId xmlns:a16="http://schemas.microsoft.com/office/drawing/2014/main" id="{45910313-6D21-4CC5-8D16-116B7A214C11}"/>
              </a:ext>
              <a:ext uri="{C183D7F6-B498-43B3-948B-1728B52AA6E4}">
                <adec:decorative xmlns:adec="http://schemas.microsoft.com/office/drawing/2017/decorative" xmlns="" val="1"/>
              </a:ext>
            </a:extLst>
          </p:cNvPr>
          <p:cNvPicPr>
            <a:picLocks noChangeAspect="1"/>
          </p:cNvPicPr>
          <p:nvPr/>
        </p:nvPicPr>
        <p:blipFill>
          <a:blip r:embed="rId3"/>
          <a:stretch>
            <a:fillRect/>
          </a:stretch>
        </p:blipFill>
        <p:spPr>
          <a:xfrm>
            <a:off x="2553183" y="1940940"/>
            <a:ext cx="1709324" cy="248578"/>
          </a:xfrm>
          <a:prstGeom prst="rect">
            <a:avLst/>
          </a:prstGeom>
        </p:spPr>
      </p:pic>
      <p:pic>
        <p:nvPicPr>
          <p:cNvPr id="6" name="Picture 5">
            <a:extLst>
              <a:ext uri="{FF2B5EF4-FFF2-40B4-BE49-F238E27FC236}">
                <a16:creationId xmlns:a16="http://schemas.microsoft.com/office/drawing/2014/main" id="{D4FEB7E3-9C4A-4992-80B8-7B744E56E4D3}"/>
              </a:ext>
              <a:ext uri="{C183D7F6-B498-43B3-948B-1728B52AA6E4}">
                <adec:decorative xmlns:adec="http://schemas.microsoft.com/office/drawing/2017/decorative" xmlns="" val="1"/>
              </a:ext>
            </a:extLst>
          </p:cNvPr>
          <p:cNvPicPr>
            <a:picLocks noChangeAspect="1"/>
          </p:cNvPicPr>
          <p:nvPr/>
        </p:nvPicPr>
        <p:blipFill>
          <a:blip r:embed="rId4"/>
          <a:stretch>
            <a:fillRect/>
          </a:stretch>
        </p:blipFill>
        <p:spPr>
          <a:xfrm>
            <a:off x="2543535" y="2590587"/>
            <a:ext cx="1006297" cy="406817"/>
          </a:xfrm>
          <a:prstGeom prst="rect">
            <a:avLst/>
          </a:prstGeom>
        </p:spPr>
      </p:pic>
      <p:pic>
        <p:nvPicPr>
          <p:cNvPr id="7" name="Picture 6">
            <a:extLst>
              <a:ext uri="{FF2B5EF4-FFF2-40B4-BE49-F238E27FC236}">
                <a16:creationId xmlns:a16="http://schemas.microsoft.com/office/drawing/2014/main" id="{55399DAD-D073-4478-A6B7-9D55E8CC80A7}"/>
              </a:ext>
              <a:ext uri="{C183D7F6-B498-43B3-948B-1728B52AA6E4}">
                <adec:decorative xmlns:adec="http://schemas.microsoft.com/office/drawing/2017/decorative" xmlns="" val="1"/>
              </a:ext>
            </a:extLst>
          </p:cNvPr>
          <p:cNvPicPr>
            <a:picLocks noChangeAspect="1"/>
          </p:cNvPicPr>
          <p:nvPr/>
        </p:nvPicPr>
        <p:blipFill>
          <a:blip r:embed="rId5"/>
          <a:stretch>
            <a:fillRect/>
          </a:stretch>
        </p:blipFill>
        <p:spPr>
          <a:xfrm>
            <a:off x="2551199" y="3155678"/>
            <a:ext cx="341921" cy="340961"/>
          </a:xfrm>
          <a:prstGeom prst="rect">
            <a:avLst/>
          </a:prstGeom>
        </p:spPr>
      </p:pic>
      <p:pic>
        <p:nvPicPr>
          <p:cNvPr id="8" name="Picture 7">
            <a:extLst>
              <a:ext uri="{FF2B5EF4-FFF2-40B4-BE49-F238E27FC236}">
                <a16:creationId xmlns:a16="http://schemas.microsoft.com/office/drawing/2014/main" id="{DD959ECC-2C25-4B09-9AE3-19E61E7F4F55}"/>
              </a:ext>
              <a:ext uri="{C183D7F6-B498-43B3-948B-1728B52AA6E4}">
                <adec:decorative xmlns:adec="http://schemas.microsoft.com/office/drawing/2017/decorative" xmlns="" val="1"/>
              </a:ext>
            </a:extLst>
          </p:cNvPr>
          <p:cNvPicPr>
            <a:picLocks noChangeAspect="1"/>
          </p:cNvPicPr>
          <p:nvPr/>
        </p:nvPicPr>
        <p:blipFill>
          <a:blip r:embed="rId6"/>
          <a:stretch>
            <a:fillRect/>
          </a:stretch>
        </p:blipFill>
        <p:spPr>
          <a:xfrm>
            <a:off x="2543535" y="3760069"/>
            <a:ext cx="321300" cy="311500"/>
          </a:xfrm>
          <a:prstGeom prst="rect">
            <a:avLst/>
          </a:prstGeom>
        </p:spPr>
      </p:pic>
      <p:pic>
        <p:nvPicPr>
          <p:cNvPr id="9" name="Picture 8">
            <a:extLst>
              <a:ext uri="{FF2B5EF4-FFF2-40B4-BE49-F238E27FC236}">
                <a16:creationId xmlns:a16="http://schemas.microsoft.com/office/drawing/2014/main" id="{B919D2F1-10C2-42AE-AE7F-0C2068766C9C}"/>
              </a:ext>
              <a:ext uri="{C183D7F6-B498-43B3-948B-1728B52AA6E4}">
                <adec:decorative xmlns:adec="http://schemas.microsoft.com/office/drawing/2017/decorative" xmlns="" val="1"/>
              </a:ext>
            </a:extLst>
          </p:cNvPr>
          <p:cNvPicPr>
            <a:picLocks noChangeAspect="1"/>
          </p:cNvPicPr>
          <p:nvPr/>
        </p:nvPicPr>
        <p:blipFill>
          <a:blip r:embed="rId7"/>
          <a:stretch>
            <a:fillRect/>
          </a:stretch>
        </p:blipFill>
        <p:spPr>
          <a:xfrm>
            <a:off x="2539351" y="4259304"/>
            <a:ext cx="606340" cy="377903"/>
          </a:xfrm>
          <a:prstGeom prst="rect">
            <a:avLst/>
          </a:prstGeom>
        </p:spPr>
      </p:pic>
      <p:pic>
        <p:nvPicPr>
          <p:cNvPr id="10" name="Picture 9">
            <a:extLst>
              <a:ext uri="{FF2B5EF4-FFF2-40B4-BE49-F238E27FC236}">
                <a16:creationId xmlns:a16="http://schemas.microsoft.com/office/drawing/2014/main" id="{009E038A-10E8-4EB1-854C-35F9F1ED2822}"/>
              </a:ext>
              <a:ext uri="{C183D7F6-B498-43B3-948B-1728B52AA6E4}">
                <adec:decorative xmlns:adec="http://schemas.microsoft.com/office/drawing/2017/decorative" xmlns="" val="1"/>
              </a:ext>
            </a:extLst>
          </p:cNvPr>
          <p:cNvPicPr>
            <a:picLocks noChangeAspect="1"/>
          </p:cNvPicPr>
          <p:nvPr/>
        </p:nvPicPr>
        <p:blipFill>
          <a:blip r:embed="rId8"/>
          <a:stretch>
            <a:fillRect/>
          </a:stretch>
        </p:blipFill>
        <p:spPr>
          <a:xfrm>
            <a:off x="2543535" y="5199205"/>
            <a:ext cx="944907" cy="401334"/>
          </a:xfrm>
          <a:prstGeom prst="rect">
            <a:avLst/>
          </a:prstGeom>
        </p:spPr>
      </p:pic>
    </p:spTree>
    <p:extLst>
      <p:ext uri="{BB962C8B-B14F-4D97-AF65-F5344CB8AC3E}">
        <p14:creationId xmlns:p14="http://schemas.microsoft.com/office/powerpoint/2010/main" val="12311166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8F918-4422-4585-8CAC-9919CAE2598C}"/>
              </a:ext>
            </a:extLst>
          </p:cNvPr>
          <p:cNvSpPr>
            <a:spLocks noGrp="1"/>
          </p:cNvSpPr>
          <p:nvPr>
            <p:ph type="title"/>
          </p:nvPr>
        </p:nvSpPr>
        <p:spPr/>
        <p:txBody>
          <a:bodyPr/>
          <a:lstStyle/>
          <a:p>
            <a:r>
              <a:rPr lang="en-US" altLang="en-US" sz="3200" dirty="0">
                <a:sym typeface="Arial"/>
              </a:rPr>
              <a:t>Electronically Submitting Questionnaires</a:t>
            </a:r>
            <a:endParaRPr lang="en-US" sz="3200" dirty="0"/>
          </a:p>
        </p:txBody>
      </p:sp>
      <p:sp>
        <p:nvSpPr>
          <p:cNvPr id="3" name="Content Placeholder 2">
            <a:extLst>
              <a:ext uri="{FF2B5EF4-FFF2-40B4-BE49-F238E27FC236}">
                <a16:creationId xmlns:a16="http://schemas.microsoft.com/office/drawing/2014/main" id="{5644C0A9-6A16-4B9C-8D94-93C0DEF85F4D}"/>
              </a:ext>
            </a:extLst>
          </p:cNvPr>
          <p:cNvSpPr>
            <a:spLocks noGrp="1"/>
          </p:cNvSpPr>
          <p:nvPr>
            <p:ph sz="quarter" idx="13"/>
          </p:nvPr>
        </p:nvSpPr>
        <p:spPr>
          <a:xfrm>
            <a:off x="457200" y="1556327"/>
            <a:ext cx="8229600" cy="1327550"/>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Reduced costs</a:t>
            </a:r>
          </a:p>
          <a:p>
            <a:pPr marL="255651" lvl="0" indent="-255651">
              <a:spcAft>
                <a:spcPct val="0"/>
              </a:spcAft>
              <a:buSzPts val="2400"/>
              <a:tabLst/>
            </a:pPr>
            <a:r>
              <a:rPr lang="en-US" altLang="en-US" dirty="0">
                <a:solidFill>
                  <a:srgbClr val="000000"/>
                </a:solidFill>
                <a:cs typeface="Arial" panose="020B0604020202020204" pitchFamily="34" charset="0"/>
              </a:rPr>
              <a:t>Collecting and storing the results electronically</a:t>
            </a:r>
          </a:p>
        </p:txBody>
      </p:sp>
    </p:spTree>
    <p:extLst>
      <p:ext uri="{BB962C8B-B14F-4D97-AF65-F5344CB8AC3E}">
        <p14:creationId xmlns:p14="http://schemas.microsoft.com/office/powerpoint/2010/main" val="86381420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C96F2-8A1E-4B12-8149-92A8CAF7F8CB}"/>
              </a:ext>
            </a:extLst>
          </p:cNvPr>
          <p:cNvSpPr>
            <a:spLocks noGrp="1"/>
          </p:cNvSpPr>
          <p:nvPr>
            <p:ph type="title"/>
          </p:nvPr>
        </p:nvSpPr>
        <p:spPr/>
        <p:txBody>
          <a:bodyPr/>
          <a:lstStyle/>
          <a:p>
            <a:r>
              <a:rPr lang="en-US" altLang="en-US" dirty="0">
                <a:sym typeface="Arial"/>
              </a:rPr>
              <a:t>Requirements Prioritization</a:t>
            </a:r>
            <a:endParaRPr lang="en-US" dirty="0"/>
          </a:p>
        </p:txBody>
      </p:sp>
      <p:sp>
        <p:nvSpPr>
          <p:cNvPr id="3" name="Content Placeholder 2">
            <a:extLst>
              <a:ext uri="{FF2B5EF4-FFF2-40B4-BE49-F238E27FC236}">
                <a16:creationId xmlns:a16="http://schemas.microsoft.com/office/drawing/2014/main" id="{7BA0CEF0-A2BD-4B2A-AFDD-1DD5EC49E776}"/>
              </a:ext>
            </a:extLst>
          </p:cNvPr>
          <p:cNvSpPr>
            <a:spLocks noGrp="1"/>
          </p:cNvSpPr>
          <p:nvPr>
            <p:ph sz="quarter" idx="13"/>
          </p:nvPr>
        </p:nvSpPr>
        <p:spPr>
          <a:xfrm>
            <a:off x="457200" y="1556327"/>
            <a:ext cx="8229600" cy="3420486"/>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Six methods used for requirement prioritization include:</a:t>
            </a:r>
          </a:p>
          <a:p>
            <a:pPr marL="742569" lvl="1" indent="-255651">
              <a:spcAft>
                <a:spcPct val="0"/>
              </a:spcAft>
              <a:buSzPts val="2400"/>
            </a:pPr>
            <a:r>
              <a:rPr lang="en-US" altLang="en-US" dirty="0">
                <a:solidFill>
                  <a:srgbClr val="000000"/>
                </a:solidFill>
                <a:cs typeface="Arial" panose="020B0604020202020204" pitchFamily="34" charset="0"/>
              </a:rPr>
              <a:t>Simple Ranking</a:t>
            </a:r>
          </a:p>
          <a:p>
            <a:pPr marL="742569" lvl="1" indent="-255651">
              <a:spcAft>
                <a:spcPct val="0"/>
              </a:spcAft>
              <a:buSzPts val="2400"/>
            </a:pPr>
            <a:r>
              <a:rPr lang="en-US" altLang="en-US" dirty="0">
                <a:solidFill>
                  <a:srgbClr val="000000"/>
                </a:solidFill>
                <a:cs typeface="Arial" panose="020B0604020202020204" pitchFamily="34" charset="0"/>
              </a:rPr>
              <a:t>100-token Method</a:t>
            </a:r>
          </a:p>
          <a:p>
            <a:pPr marL="742569" lvl="1" indent="-255651">
              <a:spcAft>
                <a:spcPct val="0"/>
              </a:spcAft>
              <a:buSzPts val="2400"/>
            </a:pPr>
            <a:r>
              <a:rPr lang="en-US" altLang="en-US" dirty="0" smtClean="0">
                <a:solidFill>
                  <a:srgbClr val="000000"/>
                </a:solidFill>
                <a:cs typeface="Arial" panose="020B0604020202020204" pitchFamily="34" charset="0"/>
              </a:rPr>
              <a:t>M</a:t>
            </a:r>
            <a:r>
              <a:rPr lang="en-US" altLang="en-US" sz="100" dirty="0" smtClean="0">
                <a:solidFill>
                  <a:srgbClr val="000000"/>
                </a:solidFill>
                <a:cs typeface="Arial" panose="020B0604020202020204" pitchFamily="34" charset="0"/>
              </a:rPr>
              <a:t> </a:t>
            </a:r>
            <a:r>
              <a:rPr lang="en-US" altLang="en-US" dirty="0" smtClean="0">
                <a:solidFill>
                  <a:srgbClr val="000000"/>
                </a:solidFill>
                <a:cs typeface="Arial" panose="020B0604020202020204" pitchFamily="34" charset="0"/>
              </a:rPr>
              <a:t>o</a:t>
            </a:r>
            <a:r>
              <a:rPr lang="en-US" altLang="en-US" sz="100" dirty="0" smtClean="0">
                <a:solidFill>
                  <a:srgbClr val="000000"/>
                </a:solidFill>
                <a:cs typeface="Arial" panose="020B0604020202020204" pitchFamily="34" charset="0"/>
              </a:rPr>
              <a:t> </a:t>
            </a:r>
            <a:r>
              <a:rPr lang="en-US" altLang="en-US" dirty="0" smtClean="0">
                <a:solidFill>
                  <a:srgbClr val="000000"/>
                </a:solidFill>
                <a:cs typeface="Arial" panose="020B0604020202020204" pitchFamily="34" charset="0"/>
              </a:rPr>
              <a:t>S</a:t>
            </a:r>
            <a:r>
              <a:rPr lang="en-US" altLang="en-US" sz="100" dirty="0" smtClean="0">
                <a:solidFill>
                  <a:srgbClr val="000000"/>
                </a:solidFill>
                <a:cs typeface="Arial" panose="020B0604020202020204" pitchFamily="34" charset="0"/>
              </a:rPr>
              <a:t> </a:t>
            </a:r>
            <a:r>
              <a:rPr lang="en-US" altLang="en-US" dirty="0" smtClean="0">
                <a:solidFill>
                  <a:srgbClr val="000000"/>
                </a:solidFill>
                <a:cs typeface="Arial" panose="020B0604020202020204" pitchFamily="34" charset="0"/>
              </a:rPr>
              <a:t>C</a:t>
            </a:r>
            <a:r>
              <a:rPr lang="en-US" altLang="en-US" sz="100" dirty="0" smtClean="0">
                <a:solidFill>
                  <a:srgbClr val="000000"/>
                </a:solidFill>
                <a:cs typeface="Arial" panose="020B0604020202020204" pitchFamily="34" charset="0"/>
              </a:rPr>
              <a:t> </a:t>
            </a:r>
            <a:r>
              <a:rPr lang="en-US" altLang="en-US" dirty="0" smtClean="0">
                <a:solidFill>
                  <a:srgbClr val="000000"/>
                </a:solidFill>
                <a:cs typeface="Arial" panose="020B0604020202020204" pitchFamily="34" charset="0"/>
              </a:rPr>
              <a:t>o</a:t>
            </a:r>
            <a:r>
              <a:rPr lang="en-US" altLang="en-US" sz="100" dirty="0" smtClean="0">
                <a:solidFill>
                  <a:srgbClr val="000000"/>
                </a:solidFill>
                <a:cs typeface="Arial" panose="020B0604020202020204" pitchFamily="34" charset="0"/>
              </a:rPr>
              <a:t> </a:t>
            </a:r>
            <a:r>
              <a:rPr lang="en-US" altLang="en-US" dirty="0" smtClean="0">
                <a:solidFill>
                  <a:srgbClr val="000000"/>
                </a:solidFill>
                <a:cs typeface="Arial" panose="020B0604020202020204" pitchFamily="34" charset="0"/>
              </a:rPr>
              <a:t>W </a:t>
            </a:r>
            <a:r>
              <a:rPr lang="en-US" altLang="en-US" dirty="0">
                <a:solidFill>
                  <a:srgbClr val="000000"/>
                </a:solidFill>
                <a:cs typeface="Arial" panose="020B0604020202020204" pitchFamily="34" charset="0"/>
              </a:rPr>
              <a:t>Method</a:t>
            </a:r>
          </a:p>
          <a:p>
            <a:pPr marL="742569" lvl="1" indent="-255651">
              <a:spcAft>
                <a:spcPct val="0"/>
              </a:spcAft>
              <a:buSzPts val="2400"/>
            </a:pPr>
            <a:r>
              <a:rPr lang="en-US" altLang="en-US" dirty="0">
                <a:solidFill>
                  <a:srgbClr val="000000"/>
                </a:solidFill>
                <a:cs typeface="Arial" panose="020B0604020202020204" pitchFamily="34" charset="0"/>
              </a:rPr>
              <a:t>Urgent/Important Matrix</a:t>
            </a:r>
          </a:p>
          <a:p>
            <a:pPr marL="742569" lvl="1" indent="-255651">
              <a:spcAft>
                <a:spcPct val="0"/>
              </a:spcAft>
              <a:buSzPts val="2400"/>
            </a:pPr>
            <a:r>
              <a:rPr lang="en-US" altLang="en-US" dirty="0">
                <a:solidFill>
                  <a:srgbClr val="000000"/>
                </a:solidFill>
                <a:cs typeface="Arial" panose="020B0604020202020204" pitchFamily="34" charset="0"/>
              </a:rPr>
              <a:t>Analytic Hierarchy Processing (A</a:t>
            </a:r>
            <a:r>
              <a:rPr lang="en-US" altLang="en-US" sz="100" dirty="0">
                <a:solidFill>
                  <a:srgbClr val="000000"/>
                </a:solidFill>
                <a:cs typeface="Arial" panose="020B0604020202020204" pitchFamily="34" charset="0"/>
              </a:rPr>
              <a:t> </a:t>
            </a:r>
            <a:r>
              <a:rPr lang="en-US" altLang="en-US" dirty="0">
                <a:solidFill>
                  <a:srgbClr val="000000"/>
                </a:solidFill>
                <a:cs typeface="Arial" panose="020B0604020202020204" pitchFamily="34" charset="0"/>
              </a:rPr>
              <a:t>H</a:t>
            </a:r>
            <a:r>
              <a:rPr lang="en-US" altLang="en-US" sz="100" dirty="0">
                <a:solidFill>
                  <a:srgbClr val="000000"/>
                </a:solidFill>
                <a:cs typeface="Arial" panose="020B0604020202020204" pitchFamily="34" charset="0"/>
              </a:rPr>
              <a:t> </a:t>
            </a:r>
            <a:r>
              <a:rPr lang="en-US" altLang="en-US" dirty="0">
                <a:solidFill>
                  <a:srgbClr val="000000"/>
                </a:solidFill>
                <a:cs typeface="Arial" panose="020B0604020202020204" pitchFamily="34" charset="0"/>
              </a:rPr>
              <a:t>P)</a:t>
            </a:r>
          </a:p>
          <a:p>
            <a:pPr marL="742569" lvl="1" indent="-255651">
              <a:spcAft>
                <a:spcPct val="0"/>
              </a:spcAft>
              <a:buSzPts val="2400"/>
            </a:pPr>
            <a:r>
              <a:rPr lang="en-US" altLang="en-US" dirty="0">
                <a:solidFill>
                  <a:srgbClr val="000000"/>
                </a:solidFill>
                <a:cs typeface="Arial" panose="020B0604020202020204" pitchFamily="34" charset="0"/>
              </a:rPr>
              <a:t>Q-Sorts</a:t>
            </a:r>
          </a:p>
        </p:txBody>
      </p:sp>
    </p:spTree>
    <p:extLst>
      <p:ext uri="{BB962C8B-B14F-4D97-AF65-F5344CB8AC3E}">
        <p14:creationId xmlns:p14="http://schemas.microsoft.com/office/powerpoint/2010/main" val="366949783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7B76E-C866-486D-90A2-75094F73956B}"/>
              </a:ext>
            </a:extLst>
          </p:cNvPr>
          <p:cNvSpPr>
            <a:spLocks noGrp="1"/>
          </p:cNvSpPr>
          <p:nvPr>
            <p:ph type="title"/>
          </p:nvPr>
        </p:nvSpPr>
        <p:spPr/>
        <p:txBody>
          <a:bodyPr/>
          <a:lstStyle/>
          <a:p>
            <a:r>
              <a:rPr lang="en-US" sz="3200" dirty="0"/>
              <a:t>Figure 4.15 Six Methods Used for Requirements Prioritization</a:t>
            </a:r>
          </a:p>
        </p:txBody>
      </p:sp>
      <p:pic>
        <p:nvPicPr>
          <p:cNvPr id="5" name="Picture 4" descr="An illustration depicts six methods used for requirements prioritization. Long description in notes, press F6.">
            <a:extLst>
              <a:ext uri="{FF2B5EF4-FFF2-40B4-BE49-F238E27FC236}">
                <a16:creationId xmlns:a16="http://schemas.microsoft.com/office/drawing/2014/main" id="{8760A9DC-AEB1-4593-871A-6919C3D23C08}"/>
              </a:ext>
            </a:extLst>
          </p:cNvPr>
          <p:cNvPicPr>
            <a:picLocks noChangeAspect="1"/>
          </p:cNvPicPr>
          <p:nvPr/>
        </p:nvPicPr>
        <p:blipFill rotWithShape="1">
          <a:blip r:embed="rId3"/>
          <a:srcRect t="-1" b="2410"/>
          <a:stretch/>
        </p:blipFill>
        <p:spPr>
          <a:xfrm>
            <a:off x="2771541" y="1657769"/>
            <a:ext cx="3600918" cy="4363203"/>
          </a:xfrm>
          <a:prstGeom prst="rect">
            <a:avLst/>
          </a:prstGeom>
        </p:spPr>
      </p:pic>
    </p:spTree>
    <p:extLst>
      <p:ext uri="{BB962C8B-B14F-4D97-AF65-F5344CB8AC3E}">
        <p14:creationId xmlns:p14="http://schemas.microsoft.com/office/powerpoint/2010/main" val="56037284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27F88-785F-4096-9163-3CE5ADEDB528}"/>
              </a:ext>
            </a:extLst>
          </p:cNvPr>
          <p:cNvSpPr>
            <a:spLocks noGrp="1"/>
          </p:cNvSpPr>
          <p:nvPr>
            <p:ph type="title"/>
          </p:nvPr>
        </p:nvSpPr>
        <p:spPr/>
        <p:txBody>
          <a:bodyPr/>
          <a:lstStyle/>
          <a:p>
            <a:r>
              <a:rPr lang="en-US" altLang="en-US" dirty="0">
                <a:sym typeface="Arial"/>
              </a:rPr>
              <a:t>Simple Ranking</a:t>
            </a:r>
            <a:endParaRPr lang="en-US" dirty="0"/>
          </a:p>
        </p:txBody>
      </p:sp>
      <p:sp>
        <p:nvSpPr>
          <p:cNvPr id="3" name="Content Placeholder 2">
            <a:extLst>
              <a:ext uri="{FF2B5EF4-FFF2-40B4-BE49-F238E27FC236}">
                <a16:creationId xmlns:a16="http://schemas.microsoft.com/office/drawing/2014/main" id="{A0755052-28E7-41FF-88CC-AA9622F0BB93}"/>
              </a:ext>
            </a:extLst>
          </p:cNvPr>
          <p:cNvSpPr>
            <a:spLocks noGrp="1"/>
          </p:cNvSpPr>
          <p:nvPr>
            <p:ph sz="quarter" idx="13"/>
          </p:nvPr>
        </p:nvSpPr>
        <p:spPr>
          <a:xfrm>
            <a:off x="457200" y="1556327"/>
            <a:ext cx="8229600" cy="1566701"/>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Interested parties are asked to rank-order a list of requirements </a:t>
            </a:r>
          </a:p>
          <a:p>
            <a:pPr marL="255651" lvl="0" indent="-255651">
              <a:spcAft>
                <a:spcPct val="0"/>
              </a:spcAft>
              <a:buSzPts val="2400"/>
              <a:tabLst/>
            </a:pPr>
            <a:r>
              <a:rPr lang="en-US" altLang="en-US" dirty="0">
                <a:solidFill>
                  <a:srgbClr val="000000"/>
                </a:solidFill>
                <a:cs typeface="Arial" panose="020B0604020202020204" pitchFamily="34" charset="0"/>
              </a:rPr>
              <a:t>Works best with a short list of 10 or less</a:t>
            </a:r>
          </a:p>
        </p:txBody>
      </p:sp>
    </p:spTree>
    <p:extLst>
      <p:ext uri="{BB962C8B-B14F-4D97-AF65-F5344CB8AC3E}">
        <p14:creationId xmlns:p14="http://schemas.microsoft.com/office/powerpoint/2010/main" val="17797355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B4761-D267-4A02-B8ED-3AA8AA0C4EC0}"/>
              </a:ext>
            </a:extLst>
          </p:cNvPr>
          <p:cNvSpPr>
            <a:spLocks noGrp="1"/>
          </p:cNvSpPr>
          <p:nvPr>
            <p:ph type="title"/>
          </p:nvPr>
        </p:nvSpPr>
        <p:spPr/>
        <p:txBody>
          <a:bodyPr/>
          <a:lstStyle/>
          <a:p>
            <a:r>
              <a:rPr lang="en-US" altLang="en-US" dirty="0">
                <a:sym typeface="Arial"/>
              </a:rPr>
              <a:t>100-Token Method</a:t>
            </a:r>
            <a:endParaRPr lang="en-US" dirty="0"/>
          </a:p>
        </p:txBody>
      </p:sp>
      <p:sp>
        <p:nvSpPr>
          <p:cNvPr id="3" name="Content Placeholder 2">
            <a:extLst>
              <a:ext uri="{FF2B5EF4-FFF2-40B4-BE49-F238E27FC236}">
                <a16:creationId xmlns:a16="http://schemas.microsoft.com/office/drawing/2014/main" id="{796AE9F3-96A8-46C0-A3CB-768ADD8A59FC}"/>
              </a:ext>
            </a:extLst>
          </p:cNvPr>
          <p:cNvSpPr>
            <a:spLocks noGrp="1"/>
          </p:cNvSpPr>
          <p:nvPr>
            <p:ph sz="quarter" idx="13"/>
          </p:nvPr>
        </p:nvSpPr>
        <p:spPr>
          <a:xfrm>
            <a:off x="457200" y="1556327"/>
            <a:ext cx="8229600" cy="2284153"/>
          </a:xfrm>
        </p:spPr>
        <p:txBody>
          <a:bodyPr/>
          <a:lstStyle/>
          <a:p>
            <a:pPr marL="255651" lvl="0" indent="-255651">
              <a:spcAft>
                <a:spcPct val="0"/>
              </a:spcAft>
              <a:buSzPts val="2400"/>
              <a:tabLst/>
            </a:pPr>
            <a:r>
              <a:rPr lang="en-US" dirty="0"/>
              <a:t>Each participant within a group is given 100 tokens which they can distribute as votes across the available items.  </a:t>
            </a:r>
          </a:p>
          <a:p>
            <a:pPr marL="255651" lvl="0" indent="-255651">
              <a:spcAft>
                <a:spcPct val="0"/>
              </a:spcAft>
              <a:buSzPts val="2400"/>
              <a:tabLst/>
            </a:pPr>
            <a:r>
              <a:rPr lang="en-US" dirty="0"/>
              <a:t>The votes do not need to be distributed equally; rather a weighted distribution can be used to reflect the higher priority that some items warrant.</a:t>
            </a:r>
            <a:endParaRPr lang="en-US" altLang="en-US" dirty="0">
              <a:solidFill>
                <a:srgbClr val="000000"/>
              </a:solidFill>
              <a:cs typeface="Arial" panose="020B0604020202020204" pitchFamily="34" charset="0"/>
            </a:endParaRPr>
          </a:p>
        </p:txBody>
      </p:sp>
    </p:spTree>
    <p:extLst>
      <p:ext uri="{BB962C8B-B14F-4D97-AF65-F5344CB8AC3E}">
        <p14:creationId xmlns:p14="http://schemas.microsoft.com/office/powerpoint/2010/main" val="331829604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2EDD6-5B30-40B8-B966-AFD7344B07F5}"/>
              </a:ext>
            </a:extLst>
          </p:cNvPr>
          <p:cNvSpPr>
            <a:spLocks noGrp="1"/>
          </p:cNvSpPr>
          <p:nvPr>
            <p:ph type="title"/>
          </p:nvPr>
        </p:nvSpPr>
        <p:spPr/>
        <p:txBody>
          <a:bodyPr/>
          <a:lstStyle/>
          <a:p>
            <a:r>
              <a:rPr lang="en-US" altLang="en-US" dirty="0" smtClean="0">
                <a:sym typeface="Arial"/>
              </a:rPr>
              <a:t>M</a:t>
            </a:r>
            <a:r>
              <a:rPr lang="en-US" altLang="en-US" sz="100" dirty="0" smtClean="0">
                <a:sym typeface="Arial"/>
              </a:rPr>
              <a:t> </a:t>
            </a:r>
            <a:r>
              <a:rPr lang="en-US" altLang="en-US" dirty="0" smtClean="0">
                <a:sym typeface="Arial"/>
              </a:rPr>
              <a:t>o</a:t>
            </a:r>
            <a:r>
              <a:rPr lang="en-US" altLang="en-US" sz="100" dirty="0" smtClean="0">
                <a:sym typeface="Arial"/>
              </a:rPr>
              <a:t> </a:t>
            </a:r>
            <a:r>
              <a:rPr lang="en-US" altLang="en-US" dirty="0" smtClean="0">
                <a:sym typeface="Arial"/>
              </a:rPr>
              <a:t>S</a:t>
            </a:r>
            <a:r>
              <a:rPr lang="en-US" altLang="en-US" sz="100" dirty="0" smtClean="0">
                <a:sym typeface="Arial"/>
              </a:rPr>
              <a:t> </a:t>
            </a:r>
            <a:r>
              <a:rPr lang="en-US" altLang="en-US" dirty="0" smtClean="0">
                <a:sym typeface="Arial"/>
              </a:rPr>
              <a:t>C</a:t>
            </a:r>
            <a:r>
              <a:rPr lang="en-US" altLang="en-US" sz="100" dirty="0" smtClean="0">
                <a:sym typeface="Arial"/>
              </a:rPr>
              <a:t> </a:t>
            </a:r>
            <a:r>
              <a:rPr lang="en-US" altLang="en-US" dirty="0" smtClean="0">
                <a:sym typeface="Arial"/>
              </a:rPr>
              <a:t>o</a:t>
            </a:r>
            <a:r>
              <a:rPr lang="en-US" altLang="en-US" sz="100" dirty="0" smtClean="0">
                <a:sym typeface="Arial"/>
              </a:rPr>
              <a:t> </a:t>
            </a:r>
            <a:r>
              <a:rPr lang="en-US" altLang="en-US" dirty="0" smtClean="0">
                <a:sym typeface="Arial"/>
              </a:rPr>
              <a:t>w </a:t>
            </a:r>
            <a:r>
              <a:rPr lang="en-US" altLang="en-US" dirty="0">
                <a:sym typeface="Arial"/>
              </a:rPr>
              <a:t>Method</a:t>
            </a:r>
            <a:endParaRPr lang="en-US" dirty="0"/>
          </a:p>
        </p:txBody>
      </p:sp>
      <p:sp>
        <p:nvSpPr>
          <p:cNvPr id="3" name="Content Placeholder 2">
            <a:extLst>
              <a:ext uri="{FF2B5EF4-FFF2-40B4-BE49-F238E27FC236}">
                <a16:creationId xmlns:a16="http://schemas.microsoft.com/office/drawing/2014/main" id="{669FDAA9-8CC5-4702-B8E8-F4C888C51220}"/>
              </a:ext>
            </a:extLst>
          </p:cNvPr>
          <p:cNvSpPr>
            <a:spLocks noGrp="1"/>
          </p:cNvSpPr>
          <p:nvPr>
            <p:ph sz="quarter" idx="13"/>
          </p:nvPr>
        </p:nvSpPr>
        <p:spPr>
          <a:xfrm>
            <a:off x="457200" y="1556327"/>
            <a:ext cx="8229600" cy="2748387"/>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Participants are asked to put the requirement into one of the four categories</a:t>
            </a:r>
          </a:p>
          <a:p>
            <a:pPr marL="742569" lvl="1" indent="-255651">
              <a:spcAft>
                <a:spcPct val="0"/>
              </a:spcAft>
              <a:buSzPts val="2400"/>
            </a:pPr>
            <a:r>
              <a:rPr lang="en-US" altLang="en-US" dirty="0">
                <a:solidFill>
                  <a:srgbClr val="000000"/>
                </a:solidFill>
                <a:cs typeface="Arial" panose="020B0604020202020204" pitchFamily="34" charset="0"/>
              </a:rPr>
              <a:t>Must</a:t>
            </a:r>
          </a:p>
          <a:p>
            <a:pPr marL="742569" lvl="1" indent="-255651">
              <a:spcAft>
                <a:spcPct val="0"/>
              </a:spcAft>
              <a:buSzPts val="2400"/>
            </a:pPr>
            <a:r>
              <a:rPr lang="en-US" altLang="en-US" dirty="0">
                <a:solidFill>
                  <a:srgbClr val="000000"/>
                </a:solidFill>
                <a:cs typeface="Arial" panose="020B0604020202020204" pitchFamily="34" charset="0"/>
              </a:rPr>
              <a:t>Should</a:t>
            </a:r>
          </a:p>
          <a:p>
            <a:pPr marL="742569" lvl="1" indent="-255651">
              <a:spcAft>
                <a:spcPct val="0"/>
              </a:spcAft>
              <a:buSzPts val="2400"/>
            </a:pPr>
            <a:r>
              <a:rPr lang="en-US" altLang="en-US" dirty="0">
                <a:solidFill>
                  <a:srgbClr val="000000"/>
                </a:solidFill>
                <a:cs typeface="Arial" panose="020B0604020202020204" pitchFamily="34" charset="0"/>
              </a:rPr>
              <a:t>Could </a:t>
            </a:r>
          </a:p>
          <a:p>
            <a:pPr marL="742569" lvl="1" indent="-255651">
              <a:spcAft>
                <a:spcPct val="0"/>
              </a:spcAft>
              <a:buSzPts val="2400"/>
            </a:pPr>
            <a:r>
              <a:rPr lang="en-US" altLang="en-US" dirty="0">
                <a:solidFill>
                  <a:srgbClr val="000000"/>
                </a:solidFill>
                <a:cs typeface="Arial" panose="020B0604020202020204" pitchFamily="34" charset="0"/>
              </a:rPr>
              <a:t>Won’t</a:t>
            </a:r>
          </a:p>
        </p:txBody>
      </p:sp>
    </p:spTree>
    <p:extLst>
      <p:ext uri="{BB962C8B-B14F-4D97-AF65-F5344CB8AC3E}">
        <p14:creationId xmlns:p14="http://schemas.microsoft.com/office/powerpoint/2010/main" val="30367829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24A7E-83C5-4BF0-AD10-19B24ED61891}"/>
              </a:ext>
            </a:extLst>
          </p:cNvPr>
          <p:cNvSpPr>
            <a:spLocks noGrp="1"/>
          </p:cNvSpPr>
          <p:nvPr>
            <p:ph type="title"/>
          </p:nvPr>
        </p:nvSpPr>
        <p:spPr/>
        <p:txBody>
          <a:bodyPr/>
          <a:lstStyle/>
          <a:p>
            <a:r>
              <a:rPr lang="en-US" altLang="en-US" dirty="0">
                <a:sym typeface="Arial"/>
              </a:rPr>
              <a:t>Urgent/Important Matrix</a:t>
            </a:r>
            <a:endParaRPr lang="en-US" dirty="0"/>
          </a:p>
        </p:txBody>
      </p:sp>
      <p:sp>
        <p:nvSpPr>
          <p:cNvPr id="3" name="Content Placeholder 2">
            <a:extLst>
              <a:ext uri="{FF2B5EF4-FFF2-40B4-BE49-F238E27FC236}">
                <a16:creationId xmlns:a16="http://schemas.microsoft.com/office/drawing/2014/main" id="{C5BBED78-210D-4F3C-995F-C73CE2961455}"/>
              </a:ext>
            </a:extLst>
          </p:cNvPr>
          <p:cNvSpPr>
            <a:spLocks noGrp="1"/>
          </p:cNvSpPr>
          <p:nvPr>
            <p:ph sz="quarter" idx="13"/>
          </p:nvPr>
        </p:nvSpPr>
        <p:spPr>
          <a:xfrm>
            <a:off x="457200" y="1556327"/>
            <a:ext cx="8229600" cy="1872673"/>
          </a:xfrm>
        </p:spPr>
        <p:txBody>
          <a:bodyPr/>
          <a:lstStyle/>
          <a:p>
            <a:pPr marL="255651" lvl="0" indent="-255651">
              <a:spcAft>
                <a:spcPct val="0"/>
              </a:spcAft>
              <a:buSzPts val="2400"/>
              <a:tabLst/>
            </a:pPr>
            <a:r>
              <a:rPr lang="en-US" dirty="0"/>
              <a:t>Prioritizing requirements bases on the level of urgency and importance of each task</a:t>
            </a:r>
          </a:p>
          <a:p>
            <a:pPr marL="255651" lvl="0" indent="-255651">
              <a:spcAft>
                <a:spcPct val="0"/>
              </a:spcAft>
              <a:buSzPts val="2400"/>
              <a:tabLst/>
            </a:pPr>
            <a:r>
              <a:rPr lang="en-US" altLang="en-US" dirty="0">
                <a:solidFill>
                  <a:srgbClr val="000000"/>
                </a:solidFill>
                <a:cs typeface="Arial" panose="020B0604020202020204" pitchFamily="34" charset="0"/>
              </a:rPr>
              <a:t>Matrix is drawn in which the x-axis shows urgency and the vertical y-axis represents importance</a:t>
            </a:r>
          </a:p>
        </p:txBody>
      </p:sp>
    </p:spTree>
    <p:extLst>
      <p:ext uri="{BB962C8B-B14F-4D97-AF65-F5344CB8AC3E}">
        <p14:creationId xmlns:p14="http://schemas.microsoft.com/office/powerpoint/2010/main" val="282702420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01ACE-82FF-44A4-9E69-50E3AB95FDC9}"/>
              </a:ext>
            </a:extLst>
          </p:cNvPr>
          <p:cNvSpPr>
            <a:spLocks noGrp="1"/>
          </p:cNvSpPr>
          <p:nvPr>
            <p:ph type="title"/>
          </p:nvPr>
        </p:nvSpPr>
        <p:spPr/>
        <p:txBody>
          <a:bodyPr/>
          <a:lstStyle/>
          <a:p>
            <a:r>
              <a:rPr lang="en-US" altLang="en-US" dirty="0">
                <a:sym typeface="Arial"/>
              </a:rPr>
              <a:t>Analytic Hierarchy Processing (A</a:t>
            </a:r>
            <a:r>
              <a:rPr lang="en-US" altLang="en-US" sz="100" dirty="0">
                <a:sym typeface="Arial"/>
              </a:rPr>
              <a:t> </a:t>
            </a:r>
            <a:r>
              <a:rPr lang="en-US" altLang="en-US" dirty="0">
                <a:sym typeface="Arial"/>
              </a:rPr>
              <a:t>H</a:t>
            </a:r>
            <a:r>
              <a:rPr lang="en-US" altLang="en-US" sz="100" dirty="0">
                <a:sym typeface="Arial"/>
              </a:rPr>
              <a:t> </a:t>
            </a:r>
            <a:r>
              <a:rPr lang="en-US" altLang="en-US" dirty="0">
                <a:sym typeface="Arial"/>
              </a:rPr>
              <a:t>P)</a:t>
            </a:r>
            <a:endParaRPr lang="en-US" dirty="0"/>
          </a:p>
        </p:txBody>
      </p:sp>
      <p:sp>
        <p:nvSpPr>
          <p:cNvPr id="3" name="Content Placeholder 2">
            <a:extLst>
              <a:ext uri="{FF2B5EF4-FFF2-40B4-BE49-F238E27FC236}">
                <a16:creationId xmlns:a16="http://schemas.microsoft.com/office/drawing/2014/main" id="{DEAD8A9C-C11C-4114-B452-C6090850289B}"/>
              </a:ext>
            </a:extLst>
          </p:cNvPr>
          <p:cNvSpPr>
            <a:spLocks noGrp="1"/>
          </p:cNvSpPr>
          <p:nvPr>
            <p:ph sz="quarter" idx="13"/>
          </p:nvPr>
        </p:nvSpPr>
        <p:spPr>
          <a:xfrm>
            <a:off x="457200" y="1556327"/>
            <a:ext cx="8229600" cy="1872673"/>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More complex and time-consuming method</a:t>
            </a:r>
          </a:p>
          <a:p>
            <a:pPr marL="255651" lvl="0" indent="-255651">
              <a:spcAft>
                <a:spcPct val="0"/>
              </a:spcAft>
              <a:buSzPts val="2400"/>
              <a:tabLst/>
            </a:pPr>
            <a:r>
              <a:rPr lang="en-US" altLang="en-US" dirty="0">
                <a:solidFill>
                  <a:srgbClr val="000000"/>
                </a:solidFill>
                <a:cs typeface="Arial" panose="020B0604020202020204" pitchFamily="34" charset="0"/>
              </a:rPr>
              <a:t>Pairs of alternatives are presented to participants and each participant decides which of the two are more important.</a:t>
            </a:r>
          </a:p>
        </p:txBody>
      </p:sp>
    </p:spTree>
    <p:extLst>
      <p:ext uri="{BB962C8B-B14F-4D97-AF65-F5344CB8AC3E}">
        <p14:creationId xmlns:p14="http://schemas.microsoft.com/office/powerpoint/2010/main" val="411622036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7AA99-C3FD-438A-AA98-1C165FA34BAD}"/>
              </a:ext>
            </a:extLst>
          </p:cNvPr>
          <p:cNvSpPr>
            <a:spLocks noGrp="1"/>
          </p:cNvSpPr>
          <p:nvPr>
            <p:ph type="title"/>
          </p:nvPr>
        </p:nvSpPr>
        <p:spPr/>
        <p:txBody>
          <a:bodyPr/>
          <a:lstStyle/>
          <a:p>
            <a:r>
              <a:rPr lang="en-US" altLang="en-US" dirty="0">
                <a:sym typeface="Arial"/>
              </a:rPr>
              <a:t>Q-Sorts</a:t>
            </a:r>
            <a:endParaRPr lang="en-US" dirty="0"/>
          </a:p>
        </p:txBody>
      </p:sp>
      <p:sp>
        <p:nvSpPr>
          <p:cNvPr id="3" name="Content Placeholder 2">
            <a:extLst>
              <a:ext uri="{FF2B5EF4-FFF2-40B4-BE49-F238E27FC236}">
                <a16:creationId xmlns:a16="http://schemas.microsoft.com/office/drawing/2014/main" id="{89C4D01C-8620-45ED-9BC2-0861E2592A86}"/>
              </a:ext>
            </a:extLst>
          </p:cNvPr>
          <p:cNvSpPr>
            <a:spLocks noGrp="1"/>
          </p:cNvSpPr>
          <p:nvPr>
            <p:ph sz="quarter" idx="13"/>
          </p:nvPr>
        </p:nvSpPr>
        <p:spPr>
          <a:xfrm>
            <a:off x="457200" y="1556327"/>
            <a:ext cx="8229600" cy="2030935"/>
          </a:xfrm>
        </p:spPr>
        <p:txBody>
          <a:bodyPr/>
          <a:lstStyle/>
          <a:p>
            <a:r>
              <a:rPr lang="en-US" dirty="0"/>
              <a:t>Participants are assigned the task of sorting a number of requirements by placing a specific number of requirements in a predetermined distribution pattern (e.g., a normal distribution) along a spectrum </a:t>
            </a:r>
            <a:r>
              <a:rPr lang="en-US" altLang="en-US" dirty="0">
                <a:solidFill>
                  <a:srgbClr val="000000"/>
                </a:solidFill>
                <a:cs typeface="Arial" panose="020B0604020202020204" pitchFamily="34" charset="0"/>
              </a:rPr>
              <a:t>of ranking categories from most important to least important.</a:t>
            </a:r>
          </a:p>
        </p:txBody>
      </p:sp>
    </p:spTree>
    <p:extLst>
      <p:ext uri="{BB962C8B-B14F-4D97-AF65-F5344CB8AC3E}">
        <p14:creationId xmlns:p14="http://schemas.microsoft.com/office/powerpoint/2010/main" val="85145674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9FB88-30CD-4BC9-B1DF-C6CE3287E0B1}"/>
              </a:ext>
            </a:extLst>
          </p:cNvPr>
          <p:cNvSpPr>
            <a:spLocks noGrp="1"/>
          </p:cNvSpPr>
          <p:nvPr>
            <p:ph type="title"/>
          </p:nvPr>
        </p:nvSpPr>
        <p:spPr/>
        <p:txBody>
          <a:bodyPr/>
          <a:lstStyle/>
          <a:p>
            <a:r>
              <a:rPr lang="en-US" altLang="en-US" dirty="0">
                <a:sym typeface="Arial"/>
              </a:rPr>
              <a:t>Summary </a:t>
            </a:r>
            <a:r>
              <a:rPr lang="en-US" altLang="en-US" sz="2000" b="0" dirty="0">
                <a:sym typeface="Arial"/>
              </a:rPr>
              <a:t>(1 of 2)</a:t>
            </a:r>
            <a:endParaRPr lang="en-US" sz="2000" b="0" dirty="0"/>
          </a:p>
        </p:txBody>
      </p:sp>
      <p:sp>
        <p:nvSpPr>
          <p:cNvPr id="3" name="Content Placeholder 2">
            <a:extLst>
              <a:ext uri="{FF2B5EF4-FFF2-40B4-BE49-F238E27FC236}">
                <a16:creationId xmlns:a16="http://schemas.microsoft.com/office/drawing/2014/main" id="{EDF0E9CE-E3E7-48A4-A8EA-E9E7889CF5C0}"/>
              </a:ext>
            </a:extLst>
          </p:cNvPr>
          <p:cNvSpPr>
            <a:spLocks noGrp="1"/>
          </p:cNvSpPr>
          <p:nvPr>
            <p:ph sz="quarter" idx="13"/>
          </p:nvPr>
        </p:nvSpPr>
        <p:spPr>
          <a:xfrm>
            <a:off x="457200" y="1556327"/>
            <a:ext cx="8229600" cy="3420486"/>
          </a:xfrm>
        </p:spPr>
        <p:txBody>
          <a:bodyPr/>
          <a:lstStyle/>
          <a:p>
            <a:pPr lvl="0">
              <a:spcAft>
                <a:spcPct val="0"/>
              </a:spcAft>
              <a:buSzPts val="2400"/>
              <a:tabLst/>
            </a:pPr>
            <a:r>
              <a:rPr lang="en-US" altLang="en-US" dirty="0">
                <a:solidFill>
                  <a:srgbClr val="000000"/>
                </a:solidFill>
                <a:cs typeface="Arial" panose="020B0604020202020204" pitchFamily="34" charset="0"/>
              </a:rPr>
              <a:t>Interviewing</a:t>
            </a:r>
          </a:p>
          <a:p>
            <a:pPr marL="741600" lvl="1">
              <a:spcAft>
                <a:spcPct val="0"/>
              </a:spcAft>
              <a:buSzPts val="2400"/>
              <a:buFontTx/>
              <a:buChar char="–"/>
            </a:pPr>
            <a:r>
              <a:rPr lang="en-US" altLang="en-US" dirty="0">
                <a:solidFill>
                  <a:srgbClr val="000000"/>
                </a:solidFill>
                <a:cs typeface="Arial" panose="020B0604020202020204" pitchFamily="34" charset="0"/>
              </a:rPr>
              <a:t>Interview preparation</a:t>
            </a:r>
          </a:p>
          <a:p>
            <a:pPr marL="741600" lvl="1">
              <a:spcAft>
                <a:spcPct val="0"/>
              </a:spcAft>
              <a:buSzPts val="2400"/>
              <a:buFontTx/>
              <a:buChar char="–"/>
            </a:pPr>
            <a:r>
              <a:rPr lang="en-US" altLang="en-US" dirty="0">
                <a:solidFill>
                  <a:srgbClr val="000000"/>
                </a:solidFill>
                <a:cs typeface="Arial" panose="020B0604020202020204" pitchFamily="34" charset="0"/>
              </a:rPr>
              <a:t>Question types</a:t>
            </a:r>
          </a:p>
          <a:p>
            <a:pPr marL="741600" lvl="1">
              <a:spcAft>
                <a:spcPct val="0"/>
              </a:spcAft>
              <a:buSzPts val="2400"/>
              <a:buFontTx/>
              <a:buChar char="–"/>
            </a:pPr>
            <a:r>
              <a:rPr lang="en-US" altLang="en-US" dirty="0">
                <a:solidFill>
                  <a:srgbClr val="000000"/>
                </a:solidFill>
                <a:cs typeface="Arial" panose="020B0604020202020204" pitchFamily="34" charset="0"/>
              </a:rPr>
              <a:t>Arranging questions</a:t>
            </a:r>
          </a:p>
          <a:p>
            <a:pPr marL="741600" lvl="1">
              <a:spcAft>
                <a:spcPct val="0"/>
              </a:spcAft>
              <a:buSzPts val="2400"/>
              <a:buFontTx/>
              <a:buChar char="–"/>
            </a:pPr>
            <a:r>
              <a:rPr lang="en-US" altLang="en-US" dirty="0">
                <a:solidFill>
                  <a:srgbClr val="000000"/>
                </a:solidFill>
                <a:cs typeface="Arial" panose="020B0604020202020204" pitchFamily="34" charset="0"/>
              </a:rPr>
              <a:t>The interview report</a:t>
            </a:r>
          </a:p>
          <a:p>
            <a:pPr marL="255651" lvl="0" indent="-255651">
              <a:spcAft>
                <a:spcPct val="0"/>
              </a:spcAft>
              <a:buSzPts val="2400"/>
              <a:tabLst/>
            </a:pPr>
            <a:r>
              <a:rPr lang="en-US" altLang="en-US" dirty="0">
                <a:solidFill>
                  <a:srgbClr val="000000"/>
                </a:solidFill>
                <a:cs typeface="Arial" panose="020B0604020202020204" pitchFamily="34" charset="0"/>
              </a:rPr>
              <a:t>Joint Application Design (J</a:t>
            </a:r>
            <a:r>
              <a:rPr lang="en-US" altLang="en-US" sz="100" dirty="0">
                <a:solidFill>
                  <a:srgbClr val="000000"/>
                </a:solidFill>
                <a:cs typeface="Arial" panose="020B0604020202020204" pitchFamily="34" charset="0"/>
              </a:rPr>
              <a:t> </a:t>
            </a:r>
            <a:r>
              <a:rPr lang="en-US" altLang="en-US" dirty="0">
                <a:solidFill>
                  <a:srgbClr val="000000"/>
                </a:solidFill>
                <a:cs typeface="Arial" panose="020B0604020202020204" pitchFamily="34" charset="0"/>
              </a:rPr>
              <a:t>A</a:t>
            </a:r>
            <a:r>
              <a:rPr lang="en-US" altLang="en-US" sz="100" dirty="0">
                <a:solidFill>
                  <a:srgbClr val="000000"/>
                </a:solidFill>
                <a:cs typeface="Arial" panose="020B0604020202020204" pitchFamily="34" charset="0"/>
              </a:rPr>
              <a:t> </a:t>
            </a:r>
            <a:r>
              <a:rPr lang="en-US" altLang="en-US" dirty="0">
                <a:solidFill>
                  <a:srgbClr val="000000"/>
                </a:solidFill>
                <a:cs typeface="Arial" panose="020B0604020202020204" pitchFamily="34" charset="0"/>
              </a:rPr>
              <a:t>D)</a:t>
            </a:r>
          </a:p>
          <a:p>
            <a:pPr marL="741553" lvl="1" indent="-284353">
              <a:spcAft>
                <a:spcPct val="0"/>
              </a:spcAft>
              <a:buSzPts val="2400"/>
            </a:pPr>
            <a:r>
              <a:rPr lang="en-US" altLang="en-US" dirty="0">
                <a:solidFill>
                  <a:srgbClr val="000000"/>
                </a:solidFill>
                <a:cs typeface="Arial" panose="020B0604020202020204" pitchFamily="34" charset="0"/>
              </a:rPr>
              <a:t>Involvement and location</a:t>
            </a:r>
          </a:p>
        </p:txBody>
      </p:sp>
    </p:spTree>
    <p:extLst>
      <p:ext uri="{BB962C8B-B14F-4D97-AF65-F5344CB8AC3E}">
        <p14:creationId xmlns:p14="http://schemas.microsoft.com/office/powerpoint/2010/main" val="99051942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13277-55B7-4D14-B373-03AED4F64AC1}"/>
              </a:ext>
            </a:extLst>
          </p:cNvPr>
          <p:cNvSpPr>
            <a:spLocks noGrp="1"/>
          </p:cNvSpPr>
          <p:nvPr>
            <p:ph type="title"/>
          </p:nvPr>
        </p:nvSpPr>
        <p:spPr/>
        <p:txBody>
          <a:bodyPr/>
          <a:lstStyle/>
          <a:p>
            <a:r>
              <a:rPr lang="en-US" altLang="en-US" dirty="0">
                <a:sym typeface="Arial"/>
              </a:rPr>
              <a:t>Summary </a:t>
            </a:r>
            <a:r>
              <a:rPr lang="en-US" altLang="en-US" sz="2000" b="0" dirty="0">
                <a:sym typeface="Arial"/>
              </a:rPr>
              <a:t>(2 of 2)</a:t>
            </a:r>
            <a:endParaRPr lang="en-US" sz="2000" b="0" dirty="0"/>
          </a:p>
        </p:txBody>
      </p:sp>
      <p:sp>
        <p:nvSpPr>
          <p:cNvPr id="3" name="Content Placeholder 2">
            <a:extLst>
              <a:ext uri="{FF2B5EF4-FFF2-40B4-BE49-F238E27FC236}">
                <a16:creationId xmlns:a16="http://schemas.microsoft.com/office/drawing/2014/main" id="{EBBBC57D-882A-4CED-A71A-8AF15EA381D7}"/>
              </a:ext>
            </a:extLst>
          </p:cNvPr>
          <p:cNvSpPr>
            <a:spLocks noGrp="1"/>
          </p:cNvSpPr>
          <p:nvPr>
            <p:ph sz="quarter" idx="13"/>
          </p:nvPr>
        </p:nvSpPr>
        <p:spPr>
          <a:xfrm>
            <a:off x="457200" y="1556327"/>
            <a:ext cx="8229600" cy="4338036"/>
          </a:xfrm>
        </p:spPr>
        <p:txBody>
          <a:bodyPr/>
          <a:lstStyle/>
          <a:p>
            <a:pPr marL="255651" lvl="0" indent="-255651">
              <a:spcAft>
                <a:spcPct val="0"/>
              </a:spcAft>
              <a:buSzPts val="2400"/>
              <a:tabLst/>
            </a:pPr>
            <a:r>
              <a:rPr lang="en-US" altLang="en-US" dirty="0">
                <a:solidFill>
                  <a:srgbClr val="000000"/>
                </a:solidFill>
                <a:cs typeface="Arial" panose="020B0604020202020204" pitchFamily="34" charset="0"/>
              </a:rPr>
              <a:t>Questionnaires</a:t>
            </a:r>
          </a:p>
          <a:p>
            <a:pPr marL="741553" lvl="1" indent="-284353">
              <a:spcAft>
                <a:spcPct val="0"/>
              </a:spcAft>
              <a:buSzPts val="2400"/>
            </a:pPr>
            <a:r>
              <a:rPr lang="en-US" altLang="en-US" dirty="0">
                <a:solidFill>
                  <a:srgbClr val="000000"/>
                </a:solidFill>
                <a:cs typeface="Arial" panose="020B0604020202020204" pitchFamily="34" charset="0"/>
              </a:rPr>
              <a:t>Writing questions</a:t>
            </a:r>
          </a:p>
          <a:p>
            <a:pPr marL="741553" lvl="1" indent="-284353">
              <a:spcAft>
                <a:spcPct val="0"/>
              </a:spcAft>
              <a:buSzPts val="2400"/>
            </a:pPr>
            <a:r>
              <a:rPr lang="en-US" altLang="en-US" dirty="0">
                <a:solidFill>
                  <a:srgbClr val="000000"/>
                </a:solidFill>
                <a:cs typeface="Arial" panose="020B0604020202020204" pitchFamily="34" charset="0"/>
              </a:rPr>
              <a:t>Using scales and overcoming problems</a:t>
            </a:r>
          </a:p>
          <a:p>
            <a:pPr marL="741553" lvl="1" indent="-284353">
              <a:spcAft>
                <a:spcPct val="0"/>
              </a:spcAft>
              <a:buSzPts val="2400"/>
            </a:pPr>
            <a:r>
              <a:rPr lang="en-US" altLang="en-US" dirty="0">
                <a:solidFill>
                  <a:srgbClr val="000000"/>
                </a:solidFill>
                <a:cs typeface="Arial" panose="020B0604020202020204" pitchFamily="34" charset="0"/>
              </a:rPr>
              <a:t>Design and order</a:t>
            </a:r>
          </a:p>
          <a:p>
            <a:pPr marL="741553" lvl="1" indent="-284353">
              <a:spcAft>
                <a:spcPct val="0"/>
              </a:spcAft>
              <a:buSzPts val="2400"/>
            </a:pPr>
            <a:r>
              <a:rPr lang="en-US" altLang="en-US" dirty="0">
                <a:solidFill>
                  <a:srgbClr val="000000"/>
                </a:solidFill>
                <a:cs typeface="Arial" panose="020B0604020202020204" pitchFamily="34" charset="0"/>
              </a:rPr>
              <a:t>Administering and submitting </a:t>
            </a:r>
          </a:p>
          <a:p>
            <a:pPr marL="255600" lvl="1" indent="-255600">
              <a:spcBef>
                <a:spcPts val="1500"/>
              </a:spcBef>
              <a:spcAft>
                <a:spcPct val="0"/>
              </a:spcAft>
              <a:buSzPts val="2400"/>
              <a:buFont typeface="Arial" panose="020B0604020202020204" pitchFamily="34" charset="0"/>
              <a:buChar char="•"/>
            </a:pPr>
            <a:r>
              <a:rPr lang="en-US" altLang="en-US" dirty="0">
                <a:solidFill>
                  <a:srgbClr val="000000"/>
                </a:solidFill>
                <a:cs typeface="Arial" panose="020B0604020202020204" pitchFamily="34" charset="0"/>
              </a:rPr>
              <a:t>Stories</a:t>
            </a:r>
          </a:p>
          <a:p>
            <a:pPr marL="741553" lvl="1" indent="-284353">
              <a:spcAft>
                <a:spcPct val="0"/>
              </a:spcAft>
              <a:buSzPts val="2400"/>
            </a:pPr>
            <a:r>
              <a:rPr lang="en-US" altLang="en-US" dirty="0">
                <a:solidFill>
                  <a:srgbClr val="000000"/>
                </a:solidFill>
                <a:cs typeface="Arial" panose="020B0604020202020204" pitchFamily="34" charset="0"/>
              </a:rPr>
              <a:t>Story elements</a:t>
            </a:r>
          </a:p>
          <a:p>
            <a:pPr marL="254635" indent="-284353">
              <a:spcAft>
                <a:spcPct val="0"/>
              </a:spcAft>
              <a:buSzPts val="2400"/>
            </a:pPr>
            <a:r>
              <a:rPr lang="en-US" altLang="en-US" dirty="0">
                <a:solidFill>
                  <a:srgbClr val="000000"/>
                </a:solidFill>
                <a:cs typeface="Arial" panose="020B0604020202020204" pitchFamily="34" charset="0"/>
              </a:rPr>
              <a:t>Requirement prioritization</a:t>
            </a:r>
          </a:p>
          <a:p>
            <a:pPr marL="741553" lvl="1" indent="-284353">
              <a:spcAft>
                <a:spcPct val="0"/>
              </a:spcAft>
              <a:buSzPts val="2400"/>
            </a:pPr>
            <a:r>
              <a:rPr lang="en-US" altLang="en-US" dirty="0" smtClean="0">
                <a:solidFill>
                  <a:srgbClr val="000000"/>
                </a:solidFill>
                <a:cs typeface="Arial" panose="020B0604020202020204" pitchFamily="34" charset="0"/>
              </a:rPr>
              <a:t>Six methods to help users prioritize </a:t>
            </a:r>
            <a:endParaRPr lang="en-US" altLang="en-US" dirty="0">
              <a:solidFill>
                <a:srgbClr val="000000"/>
              </a:solidFill>
              <a:cs typeface="Arial" panose="020B0604020202020204" pitchFamily="34" charset="0"/>
            </a:endParaRPr>
          </a:p>
        </p:txBody>
      </p:sp>
    </p:spTree>
    <p:extLst>
      <p:ext uri="{BB962C8B-B14F-4D97-AF65-F5344CB8AC3E}">
        <p14:creationId xmlns:p14="http://schemas.microsoft.com/office/powerpoint/2010/main" val="3374591304"/>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150256</TotalTime>
  <Words>4595</Words>
  <Application>Microsoft Office PowerPoint</Application>
  <PresentationFormat>On-screen Show (4:3)</PresentationFormat>
  <Paragraphs>617</Paragraphs>
  <Slides>71</Slides>
  <Notes>70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71</vt:i4>
      </vt:variant>
    </vt:vector>
  </HeadingPairs>
  <TitlesOfParts>
    <vt:vector size="81" baseType="lpstr">
      <vt:lpstr>Times New Roman</vt:lpstr>
      <vt:lpstr>TimesLTPro-Italic</vt:lpstr>
      <vt:lpstr>Arial</vt:lpstr>
      <vt:lpstr>Arial (Body)</vt:lpstr>
      <vt:lpstr>Calibri</vt:lpstr>
      <vt:lpstr>TimesLTPro-Roman</vt:lpstr>
      <vt:lpstr>Noto Sans Symbols</vt:lpstr>
      <vt:lpstr>Verdana</vt:lpstr>
      <vt:lpstr>USHE</vt:lpstr>
      <vt:lpstr>USHE_slide options</vt:lpstr>
      <vt:lpstr>Systems Analysis &amp; Design</vt:lpstr>
      <vt:lpstr>Learning Objectives</vt:lpstr>
      <vt:lpstr>Interactive Methods to Elicit Human Information Requirements</vt:lpstr>
      <vt:lpstr>Major Topics (1 of 2)</vt:lpstr>
      <vt:lpstr>Major Topics (2 of 2)</vt:lpstr>
      <vt:lpstr>Interviewing</vt:lpstr>
      <vt:lpstr>Five Steps in Interview Preparation</vt:lpstr>
      <vt:lpstr>Question Types</vt:lpstr>
      <vt:lpstr>Open-Ended Questions</vt:lpstr>
      <vt:lpstr>Figure 4.2 Open-Ended Interview Questions</vt:lpstr>
      <vt:lpstr>Advantages of Open-Ended Questions (1 of 2)</vt:lpstr>
      <vt:lpstr>Advantages of Open-Ended Questions (2 of 2)</vt:lpstr>
      <vt:lpstr>Disadvantages of Open-Ended Questions</vt:lpstr>
      <vt:lpstr>Closed Interview Questions</vt:lpstr>
      <vt:lpstr>Figure 4.3 Closed Interview Questions</vt:lpstr>
      <vt:lpstr>Benefits of Closed Interview Questions</vt:lpstr>
      <vt:lpstr>Disadvantages of Closed Interview Questions</vt:lpstr>
      <vt:lpstr>Figure 4.5 Attributes of Open-Ended and Closed Questions</vt:lpstr>
      <vt:lpstr>Dichotomous Questions</vt:lpstr>
      <vt:lpstr>Probes</vt:lpstr>
      <vt:lpstr>Arranging Questions</vt:lpstr>
      <vt:lpstr>Pyramid Structure</vt:lpstr>
      <vt:lpstr>Figure 4.7 Pyramid Structure for Interviewing Goes from Specific to General Questions</vt:lpstr>
      <vt:lpstr>Funnel Structure</vt:lpstr>
      <vt:lpstr>Figure 4.8 Funnel Structure for Interviewing Begins with Broad Questions Then Funnels to Specific Questions</vt:lpstr>
      <vt:lpstr>Diamond Structure</vt:lpstr>
      <vt:lpstr>Figure 4.9 Diamond-Shaped Structure for Interviewing Combines the Pyramid and Funnel Structures</vt:lpstr>
      <vt:lpstr>Closing the Interview</vt:lpstr>
      <vt:lpstr>Interview Report</vt:lpstr>
      <vt:lpstr>Stories</vt:lpstr>
      <vt:lpstr>Listening to Stories</vt:lpstr>
      <vt:lpstr>Stories are Made up of Elements</vt:lpstr>
      <vt:lpstr>Reasons for Telling Stories</vt:lpstr>
      <vt:lpstr>Business Stories</vt:lpstr>
      <vt:lpstr>Stories and the Organization</vt:lpstr>
      <vt:lpstr>Purposes for Telling a Story</vt:lpstr>
      <vt:lpstr>Joint Application Design (J A D)</vt:lpstr>
      <vt:lpstr>Conditions That Support the Use of J A D</vt:lpstr>
      <vt:lpstr>Who is Involved</vt:lpstr>
      <vt:lpstr>Where to Hold J A D Meetings</vt:lpstr>
      <vt:lpstr>Benefits of J A D</vt:lpstr>
      <vt:lpstr>Drawbacks of Using J A D</vt:lpstr>
      <vt:lpstr>Questionnaires</vt:lpstr>
      <vt:lpstr>Planning for the Use of Questionnaires</vt:lpstr>
      <vt:lpstr>Writing Questions</vt:lpstr>
      <vt:lpstr>Figure 4.13 Trade-Offs between the Use of Open-Ended and Closed Questions on Questionnaires</vt:lpstr>
      <vt:lpstr>Questionnaire Language</vt:lpstr>
      <vt:lpstr>Measurement Scales</vt:lpstr>
      <vt:lpstr>Nominal Scales</vt:lpstr>
      <vt:lpstr>Interval Scales</vt:lpstr>
      <vt:lpstr>Validity and Reliability</vt:lpstr>
      <vt:lpstr>Problems with Scales</vt:lpstr>
      <vt:lpstr>Leniency</vt:lpstr>
      <vt:lpstr>Central Tendency</vt:lpstr>
      <vt:lpstr>Halo Effect</vt:lpstr>
      <vt:lpstr>Designing the Questionnaire</vt:lpstr>
      <vt:lpstr>Order of Questions</vt:lpstr>
      <vt:lpstr>Administering Questionnaires</vt:lpstr>
      <vt:lpstr>Figure 4.14 Ways to Capture Responses When Designing a Web Survey</vt:lpstr>
      <vt:lpstr>Electronically Submitting Questionnaires</vt:lpstr>
      <vt:lpstr>Requirements Prioritization</vt:lpstr>
      <vt:lpstr>Figure 4.15 Six Methods Used for Requirements Prioritization</vt:lpstr>
      <vt:lpstr>Simple Ranking</vt:lpstr>
      <vt:lpstr>100-Token Method</vt:lpstr>
      <vt:lpstr>M o S C o w Method</vt:lpstr>
      <vt:lpstr>Urgent/Important Matrix</vt:lpstr>
      <vt:lpstr>Analytic Hierarchy Processing (A H P)</vt:lpstr>
      <vt:lpstr>Q-Sorts</vt:lpstr>
      <vt:lpstr>Summary (1 of 2)</vt:lpstr>
      <vt:lpstr>Summary (2 of 2)</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 &amp; Design, Eleventh Edition, Chapter 4, Information Gathering: Interactive Methods</dc:title>
  <dc:subject>IT/MIS</dc:subject>
  <dc:creator>Kendall/Kendall</dc:creator>
  <cp:keywords>Systems Analysis &amp; Design</cp:keywords>
  <dc:description>Long description alt-text is inserted in the notes pane; Additional learning content may be available in the Notes Pane; Alt text for images/math equations within table cells have been placed behind the object intentionally to provide a better screen reader user experience.</dc:description>
  <cp:lastModifiedBy>e402683</cp:lastModifiedBy>
  <cp:revision>2142</cp:revision>
  <dcterms:modified xsi:type="dcterms:W3CDTF">2023-06-27T09:53:34Z</dcterms:modified>
</cp:coreProperties>
</file>